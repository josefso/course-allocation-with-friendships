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52"/>
    <p:restoredTop sz="94618"/>
  </p:normalViewPr>
  <p:slideViewPr>
    <p:cSldViewPr snapToGrid="0">
      <p:cViewPr>
        <p:scale>
          <a:sx n="165" d="100"/>
          <a:sy n="165" d="100"/>
        </p:scale>
        <p:origin x="376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0109B25-C991-4554-8B78-9B6662A6BD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CC723D-E32A-49DA-8884-8922461A6285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77E3FB-1E37-46AF-80DE-F52FB12F2F5F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FRIENDSHIP-AWARE COURSE ALLOCATION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7331A90-4645-4F44-85F9-45C50FD964A1}"/>
              </a:ext>
            </a:extLst>
          </p:cNvPr>
          <p:cNvSpPr>
            <a:spLocks noGrp="1"/>
          </p:cNvSpPr>
          <p:nvPr/>
        </p:nvSpPr>
        <p:spPr>
          <a:xfrm>
            <a:off x="552450" y="1066800"/>
            <a:ext cx="723900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15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 dirty="0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Course allocation becomes a social mechanism when friends enter the utility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D52785-F773-4FE8-8DD5-762B2349DAA4}"/>
              </a:ext>
            </a:extLst>
          </p:cNvPr>
          <p:cNvSpPr>
            <a:spLocks noGrp="1"/>
          </p:cNvSpPr>
          <p:nvPr/>
        </p:nvSpPr>
        <p:spPr>
          <a:xfrm>
            <a:off x="590550" y="2724150"/>
            <a:ext cx="6191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A deterministic HBS-style draft is extended with directed friendship preferences and a post-allocation improvement stage.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3F33A-FD99-429C-93CA-4923180109FC}"/>
              </a:ext>
            </a:extLst>
          </p:cNvPr>
          <p:cNvSpPr>
            <a:spLocks noGrp="1"/>
          </p:cNvSpPr>
          <p:nvPr/>
        </p:nvSpPr>
        <p:spPr>
          <a:xfrm>
            <a:off x="7810500" y="990600"/>
            <a:ext cx="3143250" cy="34290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BAC373-48D1-45FA-91E0-BD5264164538}"/>
              </a:ext>
            </a:extLst>
          </p:cNvPr>
          <p:cNvSpPr>
            <a:spLocks noGrp="1"/>
          </p:cNvSpPr>
          <p:nvPr/>
        </p:nvSpPr>
        <p:spPr>
          <a:xfrm>
            <a:off x="8115300" y="131445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C7D7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7D7EA"/>
                </a:solidFill>
                <a:latin typeface="Aptos"/>
                <a:ea typeface="Aptos"/>
                <a:cs typeface="Aptos"/>
              </a:rPr>
              <a:t>Main empirical result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B89715-A369-474F-912E-12D3989B17F5}"/>
              </a:ext>
            </a:extLst>
          </p:cNvPr>
          <p:cNvSpPr>
            <a:spLocks noGrp="1"/>
          </p:cNvSpPr>
          <p:nvPr/>
        </p:nvSpPr>
        <p:spPr>
          <a:xfrm>
            <a:off x="8115300" y="1695450"/>
            <a:ext cx="23050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hybrid-global wins on average utility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49E601-725A-47E0-89BE-87FF780E7AE4}"/>
              </a:ext>
            </a:extLst>
          </p:cNvPr>
          <p:cNvSpPr>
            <a:spLocks noGrp="1"/>
          </p:cNvSpPr>
          <p:nvPr/>
        </p:nvSpPr>
        <p:spPr>
          <a:xfrm>
            <a:off x="8115300" y="2971800"/>
            <a:ext cx="2190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13" b="0">
                <a:solidFill>
                  <a:srgbClr val="D9E2EF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D9E2EF"/>
                </a:solidFill>
                <a:latin typeface="Aptos"/>
                <a:ea typeface="Aptos"/>
                <a:cs typeface="Aptos"/>
              </a:rPr>
              <a:t>Avg U = 365.025017 across 30 runs per mode.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DE6B4-CA8E-4A23-8B77-3ED81CEDDCB6}"/>
              </a:ext>
            </a:extLst>
          </p:cNvPr>
          <p:cNvSpPr>
            <a:spLocks noGrp="1"/>
          </p:cNvSpPr>
          <p:nvPr/>
        </p:nvSpPr>
        <p:spPr>
          <a:xfrm>
            <a:off x="8115300" y="3657600"/>
            <a:ext cx="2209800" cy="438150"/>
          </a:xfrm>
          <a:prstGeom prst="rect">
            <a:avLst/>
          </a:prstGeom>
          <a:solidFill>
            <a:srgbClr val="223044"/>
          </a:solidFill>
          <a:ln w="9525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907652-885A-480B-A287-C6C8907C44F4}"/>
              </a:ext>
            </a:extLst>
          </p:cNvPr>
          <p:cNvSpPr>
            <a:spLocks noGrp="1"/>
          </p:cNvSpPr>
          <p:nvPr/>
        </p:nvSpPr>
        <p:spPr>
          <a:xfrm>
            <a:off x="8286750" y="3790950"/>
            <a:ext cx="1866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1D49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1D49D"/>
                </a:solidFill>
                <a:latin typeface="Aptos"/>
                <a:ea typeface="Aptos"/>
                <a:cs typeface="Aptos"/>
              </a:rPr>
              <a:t>Shortest version: model -&gt; method -&gt; evidence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AC1099-1680-4A6C-92EE-E1BF892DE1C5}"/>
              </a:ext>
            </a:extLst>
          </p:cNvPr>
          <p:cNvSpPr>
            <a:spLocks noGrp="1"/>
          </p:cNvSpPr>
          <p:nvPr/>
        </p:nvSpPr>
        <p:spPr>
          <a:xfrm>
            <a:off x="762000" y="4171950"/>
            <a:ext cx="28575" cy="51435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0DB8AD-60E3-413A-B5A4-CD4BF9BACC8C}"/>
              </a:ext>
            </a:extLst>
          </p:cNvPr>
          <p:cNvSpPr>
            <a:spLocks noGrp="1"/>
          </p:cNvSpPr>
          <p:nvPr/>
        </p:nvSpPr>
        <p:spPr>
          <a:xfrm>
            <a:off x="914400" y="4133850"/>
            <a:ext cx="142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180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9D733C-770C-48C2-8D90-EFBB13D45E16}"/>
              </a:ext>
            </a:extLst>
          </p:cNvPr>
          <p:cNvSpPr>
            <a:spLocks noGrp="1"/>
          </p:cNvSpPr>
          <p:nvPr/>
        </p:nvSpPr>
        <p:spPr>
          <a:xfrm>
            <a:off x="914400" y="44767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completed runs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E9492C-69AD-44B5-935E-C8E8148FD0BE}"/>
              </a:ext>
            </a:extLst>
          </p:cNvPr>
          <p:cNvSpPr>
            <a:spLocks noGrp="1"/>
          </p:cNvSpPr>
          <p:nvPr/>
        </p:nvSpPr>
        <p:spPr>
          <a:xfrm>
            <a:off x="2990850" y="4171950"/>
            <a:ext cx="28575" cy="5143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7978A-F04E-4172-8788-030F9C2984C1}"/>
              </a:ext>
            </a:extLst>
          </p:cNvPr>
          <p:cNvSpPr>
            <a:spLocks noGrp="1"/>
          </p:cNvSpPr>
          <p:nvPr/>
        </p:nvSpPr>
        <p:spPr>
          <a:xfrm>
            <a:off x="3143250" y="4133850"/>
            <a:ext cx="142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D23E70-FE4B-45F0-90C8-6450747062A2}"/>
              </a:ext>
            </a:extLst>
          </p:cNvPr>
          <p:cNvSpPr>
            <a:spLocks noGrp="1"/>
          </p:cNvSpPr>
          <p:nvPr/>
        </p:nvSpPr>
        <p:spPr>
          <a:xfrm>
            <a:off x="3143250" y="44767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allocation modes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1CA9A2-0818-41BC-87DB-5782EF7A0540}"/>
              </a:ext>
            </a:extLst>
          </p:cNvPr>
          <p:cNvSpPr>
            <a:spLocks noGrp="1"/>
          </p:cNvSpPr>
          <p:nvPr/>
        </p:nvSpPr>
        <p:spPr>
          <a:xfrm>
            <a:off x="5219700" y="4171950"/>
            <a:ext cx="28575" cy="514350"/>
          </a:xfrm>
          <a:prstGeom prst="rect">
            <a:avLst/>
          </a:prstGeom>
          <a:solidFill>
            <a:srgbClr val="B7791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B7950D8-62E3-4263-AD09-166FF809B74B}"/>
              </a:ext>
            </a:extLst>
          </p:cNvPr>
          <p:cNvSpPr>
            <a:spLocks noGrp="1"/>
          </p:cNvSpPr>
          <p:nvPr/>
        </p:nvSpPr>
        <p:spPr>
          <a:xfrm>
            <a:off x="5372100" y="4133850"/>
            <a:ext cx="1619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20-49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41C4661-4322-49ED-8746-CDFFEF917C90}"/>
              </a:ext>
            </a:extLst>
          </p:cNvPr>
          <p:cNvSpPr>
            <a:spLocks noGrp="1"/>
          </p:cNvSpPr>
          <p:nvPr/>
        </p:nvSpPr>
        <p:spPr>
          <a:xfrm>
            <a:off x="5372100" y="4476750"/>
            <a:ext cx="1619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seed range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7213BDF-DDF1-4720-A9F3-FEA6234CB4CE}"/>
              </a:ext>
            </a:extLst>
          </p:cNvPr>
          <p:cNvSpPr>
            <a:spLocks noGrp="1"/>
          </p:cNvSpPr>
          <p:nvPr/>
        </p:nvSpPr>
        <p:spPr>
          <a:xfrm>
            <a:off x="1047750" y="5314950"/>
            <a:ext cx="8858250" cy="5143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83DD3FC-B691-4898-849D-0028CDBB72C3}"/>
              </a:ext>
            </a:extLst>
          </p:cNvPr>
          <p:cNvSpPr>
            <a:spLocks noGrp="1"/>
          </p:cNvSpPr>
          <p:nvPr/>
        </p:nvSpPr>
        <p:spPr>
          <a:xfrm>
            <a:off x="1257300" y="5467350"/>
            <a:ext cx="6858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Thesis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76B334-4ABB-47EC-83FA-2A91CB9A1E8E}"/>
              </a:ext>
            </a:extLst>
          </p:cNvPr>
          <p:cNvSpPr>
            <a:spLocks noGrp="1"/>
          </p:cNvSpPr>
          <p:nvPr/>
        </p:nvSpPr>
        <p:spPr>
          <a:xfrm>
            <a:off x="2133600" y="5438775"/>
            <a:ext cx="7334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Friendship is not just contextual information; it changes the objective landscape of course allocation.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6EE2CC-CF8D-4D16-8C34-1D8F3C74B020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6180E8-3ECA-4B3C-B5DA-930B68916669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Sources: README.md; user result screenshots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2D1CF3-40C9-4B7E-AE90-EA537CA4BD8B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1/9</a:t>
            </a:r>
          </a:p>
        </p:txBody>
      </p:sp>
    </p:spTree>
    <p:extLst>
      <p:ext uri="{BB962C8B-B14F-4D97-AF65-F5344CB8AC3E}">
        <p14:creationId xmlns:p14="http://schemas.microsoft.com/office/powerpoint/2010/main" val="124513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7CC50E3-1596-42C9-B8BD-FBA28F5E0E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364259-E480-49A6-A05F-DFA7522A6E1F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18B2DB-605D-4191-9423-92A09AAE734D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RESEARCH GAP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C25D8B-030C-439A-9DEA-48C4B708719D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89535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Classical course allocation usually treats students as independent agents.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022022-3593-43D6-B388-77EFD1653494}"/>
              </a:ext>
            </a:extLst>
          </p:cNvPr>
          <p:cNvSpPr>
            <a:spLocks noGrp="1"/>
          </p:cNvSpPr>
          <p:nvPr/>
        </p:nvSpPr>
        <p:spPr>
          <a:xfrm>
            <a:off x="838200" y="2266950"/>
            <a:ext cx="3028950" cy="1714500"/>
          </a:xfrm>
          <a:prstGeom prst="rect">
            <a:avLst/>
          </a:prstGeom>
          <a:solidFill>
            <a:srgbClr val="FFFCF4"/>
          </a:solidFill>
          <a:ln w="9525">
            <a:solidFill>
              <a:srgbClr val="35507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B6E051-5BE7-4C4E-8303-D9B4CD9F2BE7}"/>
              </a:ext>
            </a:extLst>
          </p:cNvPr>
          <p:cNvSpPr>
            <a:spLocks noGrp="1"/>
          </p:cNvSpPr>
          <p:nvPr/>
        </p:nvSpPr>
        <p:spPr>
          <a:xfrm>
            <a:off x="1009650" y="2419350"/>
            <a:ext cx="26860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355070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355070"/>
                </a:solidFill>
                <a:latin typeface="Aptos"/>
                <a:ea typeface="Aptos"/>
                <a:cs typeface="Aptos"/>
              </a:rPr>
              <a:t>CLASSICAL PROBLEM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CCE9F3-EB77-4178-AA96-5818ADC29BCB}"/>
              </a:ext>
            </a:extLst>
          </p:cNvPr>
          <p:cNvSpPr>
            <a:spLocks noGrp="1"/>
          </p:cNvSpPr>
          <p:nvPr/>
        </p:nvSpPr>
        <p:spPr>
          <a:xfrm>
            <a:off x="1009650" y="2686050"/>
            <a:ext cx="26860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Assign feasible bundles of indivisible course seats under capacity constraints.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ED9A81-DA07-4C56-B0CB-A5F056BCBBB8}"/>
              </a:ext>
            </a:extLst>
          </p:cNvPr>
          <p:cNvSpPr>
            <a:spLocks noGrp="1"/>
          </p:cNvSpPr>
          <p:nvPr/>
        </p:nvSpPr>
        <p:spPr>
          <a:xfrm>
            <a:off x="4591050" y="2266950"/>
            <a:ext cx="3028950" cy="1714500"/>
          </a:xfrm>
          <a:prstGeom prst="rect">
            <a:avLst/>
          </a:prstGeom>
          <a:solidFill>
            <a:srgbClr val="FFFCF4"/>
          </a:solidFill>
          <a:ln w="9525">
            <a:solidFill>
              <a:srgbClr val="9F1239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88384B-526F-4002-9848-A653328C8000}"/>
              </a:ext>
            </a:extLst>
          </p:cNvPr>
          <p:cNvSpPr>
            <a:spLocks noGrp="1"/>
          </p:cNvSpPr>
          <p:nvPr/>
        </p:nvSpPr>
        <p:spPr>
          <a:xfrm>
            <a:off x="4762500" y="2419350"/>
            <a:ext cx="26860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MISSING EXTERNALITY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A60CD2-0521-4C92-989D-C1F32307DAD3}"/>
              </a:ext>
            </a:extLst>
          </p:cNvPr>
          <p:cNvSpPr>
            <a:spLocks noGrp="1"/>
          </p:cNvSpPr>
          <p:nvPr/>
        </p:nvSpPr>
        <p:spPr>
          <a:xfrm>
            <a:off x="4762500" y="2686050"/>
            <a:ext cx="26860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Students may care not only about courses, but also about attending them with friends.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91DBCA-454E-4FD5-B9CC-CBDBA50AF0D5}"/>
              </a:ext>
            </a:extLst>
          </p:cNvPr>
          <p:cNvSpPr>
            <a:spLocks noGrp="1"/>
          </p:cNvSpPr>
          <p:nvPr/>
        </p:nvSpPr>
        <p:spPr>
          <a:xfrm>
            <a:off x="8343900" y="2266950"/>
            <a:ext cx="3028950" cy="1714500"/>
          </a:xfrm>
          <a:prstGeom prst="rect">
            <a:avLst/>
          </a:prstGeom>
          <a:solidFill>
            <a:srgbClr val="FFFCF4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E632C4-2E9C-41E1-BEF0-DA1211C7C2D6}"/>
              </a:ext>
            </a:extLst>
          </p:cNvPr>
          <p:cNvSpPr>
            <a:spLocks noGrp="1"/>
          </p:cNvSpPr>
          <p:nvPr/>
        </p:nvSpPr>
        <p:spPr>
          <a:xfrm>
            <a:off x="8515350" y="2419350"/>
            <a:ext cx="26860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PROJECT MOVE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1D793F-3A9D-4FFC-8D6F-66583D60DB33}"/>
              </a:ext>
            </a:extLst>
          </p:cNvPr>
          <p:cNvSpPr>
            <a:spLocks noGrp="1"/>
          </p:cNvSpPr>
          <p:nvPr/>
        </p:nvSpPr>
        <p:spPr>
          <a:xfrm>
            <a:off x="8515350" y="2686050"/>
            <a:ext cx="2686050" cy="1181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Add a directed friendship term to utility, then evaluate welfare and fairness trade-offs.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247B8A-764F-4556-8BA7-F9135393A881}"/>
              </a:ext>
            </a:extLst>
          </p:cNvPr>
          <p:cNvSpPr>
            <a:spLocks noGrp="1"/>
          </p:cNvSpPr>
          <p:nvPr/>
        </p:nvSpPr>
        <p:spPr>
          <a:xfrm>
            <a:off x="1657350" y="4914900"/>
            <a:ext cx="8877300" cy="4572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6EC8A7-2660-4F55-B1B2-548740508A39}"/>
              </a:ext>
            </a:extLst>
          </p:cNvPr>
          <p:cNvSpPr>
            <a:spLocks noGrp="1"/>
          </p:cNvSpPr>
          <p:nvPr/>
        </p:nvSpPr>
        <p:spPr>
          <a:xfrm>
            <a:off x="1981200" y="5048250"/>
            <a:ext cx="8229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Academic framing: this is a one-sided combinatorial assignment problem with social preferences.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5592EF-087F-4604-92AA-9E1DBA719157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1FF765-AA25-4433-9063-3B2B860173F4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course_allocation_abstract_review.txt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68AEEB-2410-43F3-B0CB-1E81C7E4BE13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808076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E0BF5F26-C292-4101-BB38-220F23F779E0}"/>
              </a:ext>
            </a:extLst>
          </p:cNvPr>
          <p:cNvSpPr>
            <a:spLocks noGrp="1"/>
          </p:cNvSpPr>
          <p:nvPr/>
        </p:nvSpPr>
        <p:spPr>
          <a:xfrm>
            <a:off x="0" y="77491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83ECB6-77A0-4657-A041-9B86641A6EA3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16650C-0242-41CA-A678-20EE52E88F74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FORMAL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EA3AC6-3E7D-4098-AD14-37CA979A9D52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9525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 dirty="0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Utility combines course rankings, directed friendship preferences, and a social weight.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9B105F-D07A-420C-A888-428397C1B756}"/>
              </a:ext>
            </a:extLst>
          </p:cNvPr>
          <p:cNvSpPr>
            <a:spLocks noGrp="1"/>
          </p:cNvSpPr>
          <p:nvPr/>
        </p:nvSpPr>
        <p:spPr>
          <a:xfrm>
            <a:off x="781050" y="2228850"/>
            <a:ext cx="1657350" cy="1200150"/>
          </a:xfrm>
          <a:prstGeom prst="rect">
            <a:avLst/>
          </a:prstGeom>
          <a:solidFill>
            <a:srgbClr val="FFFCF4"/>
          </a:solidFill>
          <a:ln w="9525">
            <a:solidFill>
              <a:srgbClr val="35507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B21A04-343F-409A-854C-F060BA64A044}"/>
              </a:ext>
            </a:extLst>
          </p:cNvPr>
          <p:cNvSpPr>
            <a:spLocks noGrp="1"/>
          </p:cNvSpPr>
          <p:nvPr/>
        </p:nvSpPr>
        <p:spPr>
          <a:xfrm>
            <a:off x="971550" y="2438400"/>
            <a:ext cx="419100" cy="26670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85A716-7E0A-49B9-8E91-B5828106141A}"/>
              </a:ext>
            </a:extLst>
          </p:cNvPr>
          <p:cNvSpPr>
            <a:spLocks noGrp="1"/>
          </p:cNvSpPr>
          <p:nvPr/>
        </p:nvSpPr>
        <p:spPr>
          <a:xfrm>
            <a:off x="1504950" y="24765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12E"/>
                </a:solidFill>
                <a:latin typeface="Aptos"/>
                <a:ea typeface="Aptos"/>
                <a:cs typeface="Aptos"/>
              </a:rPr>
              <a:t>Table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798EC1-7B7D-4E93-8A33-230D63DD2ECB}"/>
              </a:ext>
            </a:extLst>
          </p:cNvPr>
          <p:cNvSpPr>
            <a:spLocks noGrp="1"/>
          </p:cNvSpPr>
          <p:nvPr/>
        </p:nvSpPr>
        <p:spPr>
          <a:xfrm>
            <a:off x="1009650" y="2952750"/>
            <a:ext cx="1200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individual course</a:t>
            </a:r>
          </a:p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ranking and score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51A97B-4D7A-4199-AB59-7795EF67F7A3}"/>
              </a:ext>
            </a:extLst>
          </p:cNvPr>
          <p:cNvSpPr>
            <a:spLocks noGrp="1"/>
          </p:cNvSpPr>
          <p:nvPr/>
        </p:nvSpPr>
        <p:spPr>
          <a:xfrm>
            <a:off x="3209925" y="286702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marL="0" indent="0" algn="ctr" defTabSz="914400" rtl="0">
              <a:defRPr sz="8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endParaRPr sz="825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4A35BF-78C6-4239-955B-40817B1CE8DC}"/>
              </a:ext>
            </a:extLst>
          </p:cNvPr>
          <p:cNvSpPr>
            <a:spLocks noGrp="1"/>
          </p:cNvSpPr>
          <p:nvPr/>
        </p:nvSpPr>
        <p:spPr>
          <a:xfrm>
            <a:off x="3543300" y="2228850"/>
            <a:ext cx="1657350" cy="1200150"/>
          </a:xfrm>
          <a:prstGeom prst="rect">
            <a:avLst/>
          </a:prstGeom>
          <a:solidFill>
            <a:srgbClr val="FFFCF4"/>
          </a:solidFill>
          <a:ln w="9525">
            <a:solidFill>
              <a:srgbClr val="9F1239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1046F8-D5CD-4F03-969A-7CF637E882E1}"/>
              </a:ext>
            </a:extLst>
          </p:cNvPr>
          <p:cNvSpPr>
            <a:spLocks noGrp="1"/>
          </p:cNvSpPr>
          <p:nvPr/>
        </p:nvSpPr>
        <p:spPr>
          <a:xfrm>
            <a:off x="3733800" y="2438400"/>
            <a:ext cx="419100" cy="26670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F1F595-C3A7-4D87-BC77-BEB3E0CDE46B}"/>
              </a:ext>
            </a:extLst>
          </p:cNvPr>
          <p:cNvSpPr>
            <a:spLocks noGrp="1"/>
          </p:cNvSpPr>
          <p:nvPr/>
        </p:nvSpPr>
        <p:spPr>
          <a:xfrm>
            <a:off x="4267200" y="24765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12E"/>
                </a:solidFill>
                <a:latin typeface="Aptos"/>
                <a:ea typeface="Aptos"/>
                <a:cs typeface="Aptos"/>
              </a:rPr>
              <a:t>Table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011C72-040B-481C-ABA8-BDB586D986E1}"/>
              </a:ext>
            </a:extLst>
          </p:cNvPr>
          <p:cNvSpPr>
            <a:spLocks noGrp="1"/>
          </p:cNvSpPr>
          <p:nvPr/>
        </p:nvSpPr>
        <p:spPr>
          <a:xfrm>
            <a:off x="3771900" y="2952750"/>
            <a:ext cx="1200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A wants friend B</a:t>
            </a:r>
          </a:p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in course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EBD4B1-5B4B-427F-83E9-2F97B87FD8DC}"/>
              </a:ext>
            </a:extLst>
          </p:cNvPr>
          <p:cNvSpPr>
            <a:spLocks noGrp="1"/>
          </p:cNvSpPr>
          <p:nvPr/>
        </p:nvSpPr>
        <p:spPr>
          <a:xfrm>
            <a:off x="5886450" y="28194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marL="0" indent="0" algn="ctr" defTabSz="914400" rtl="0">
              <a:defRPr sz="8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endParaRPr sz="825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3F6032-861B-4FE2-8AD5-50E483CC64F1}"/>
              </a:ext>
            </a:extLst>
          </p:cNvPr>
          <p:cNvSpPr>
            <a:spLocks noGrp="1"/>
          </p:cNvSpPr>
          <p:nvPr/>
        </p:nvSpPr>
        <p:spPr>
          <a:xfrm>
            <a:off x="6305550" y="2228850"/>
            <a:ext cx="1657350" cy="1200150"/>
          </a:xfrm>
          <a:prstGeom prst="rect">
            <a:avLst/>
          </a:prstGeom>
          <a:solidFill>
            <a:srgbClr val="FFFCF4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FF09F5-8232-4FB0-9181-D1990D1CBC4A}"/>
              </a:ext>
            </a:extLst>
          </p:cNvPr>
          <p:cNvSpPr>
            <a:spLocks noGrp="1"/>
          </p:cNvSpPr>
          <p:nvPr/>
        </p:nvSpPr>
        <p:spPr>
          <a:xfrm>
            <a:off x="6496050" y="2438400"/>
            <a:ext cx="419100" cy="2667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201F7B-7FCE-4D78-A17E-6BC201D78242}"/>
              </a:ext>
            </a:extLst>
          </p:cNvPr>
          <p:cNvSpPr>
            <a:spLocks noGrp="1"/>
          </p:cNvSpPr>
          <p:nvPr/>
        </p:nvSpPr>
        <p:spPr>
          <a:xfrm>
            <a:off x="7029450" y="2476500"/>
            <a:ext cx="723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212E"/>
                </a:solidFill>
                <a:latin typeface="Aptos"/>
                <a:ea typeface="Aptos"/>
                <a:cs typeface="Aptos"/>
              </a:rPr>
              <a:t>Table 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004724-8F95-404B-AD4A-9CE533F7CDB0}"/>
              </a:ext>
            </a:extLst>
          </p:cNvPr>
          <p:cNvSpPr>
            <a:spLocks noGrp="1"/>
          </p:cNvSpPr>
          <p:nvPr/>
        </p:nvSpPr>
        <p:spPr>
          <a:xfrm>
            <a:off x="6534150" y="2952750"/>
            <a:ext cx="12001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student-specific</a:t>
            </a:r>
          </a:p>
          <a:p>
            <a:pPr algn="ctr">
              <a:defRPr sz="82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lambda in [0,1]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9D7590-83B0-4CDD-BC75-2F5269EEA735}"/>
              </a:ext>
            </a:extLst>
          </p:cNvPr>
          <p:cNvSpPr>
            <a:spLocks noGrp="1"/>
          </p:cNvSpPr>
          <p:nvPr/>
        </p:nvSpPr>
        <p:spPr>
          <a:xfrm>
            <a:off x="8477250" y="2038350"/>
            <a:ext cx="2590800" cy="2381250"/>
          </a:xfrm>
          <a:prstGeom prst="rect">
            <a:avLst/>
          </a:prstGeom>
          <a:solidFill>
            <a:srgbClr val="17212E"/>
          </a:solidFill>
          <a:ln w="9525">
            <a:solidFill>
              <a:srgbClr val="17212E"/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E7F3B5E-3532-46BD-9116-9A88D96418F5}"/>
              </a:ext>
            </a:extLst>
          </p:cNvPr>
          <p:cNvSpPr>
            <a:spLocks noGrp="1"/>
          </p:cNvSpPr>
          <p:nvPr/>
        </p:nvSpPr>
        <p:spPr>
          <a:xfrm>
            <a:off x="8763000" y="2324100"/>
            <a:ext cx="1428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C7D7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7D7EA"/>
                </a:solidFill>
                <a:latin typeface="Aptos"/>
                <a:ea typeface="Aptos"/>
                <a:cs typeface="Aptos"/>
              </a:rPr>
              <a:t>Total utility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C778F0E-9A4B-4994-B8E9-EFBDE2E5C7F6}"/>
              </a:ext>
            </a:extLst>
          </p:cNvPr>
          <p:cNvSpPr>
            <a:spLocks noGrp="1"/>
          </p:cNvSpPr>
          <p:nvPr/>
        </p:nvSpPr>
        <p:spPr>
          <a:xfrm>
            <a:off x="8763000" y="2781300"/>
            <a:ext cx="20002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U(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s,c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) = (1 - 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lambda_s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) Base(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s,c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) + 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lambda_s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FriendBonusNorm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(</a:t>
            </a:r>
            <a:r>
              <a:rPr sz="1275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s,c</a:t>
            </a:r>
            <a:r>
              <a:rPr sz="1275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AD56A6-0B44-40BF-9228-711AE062BE3E}"/>
              </a:ext>
            </a:extLst>
          </p:cNvPr>
          <p:cNvSpPr>
            <a:spLocks noGrp="1"/>
          </p:cNvSpPr>
          <p:nvPr/>
        </p:nvSpPr>
        <p:spPr>
          <a:xfrm>
            <a:off x="8763000" y="3810000"/>
            <a:ext cx="1943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D9E2E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9E2EF"/>
                </a:solidFill>
                <a:latin typeface="Aptos"/>
                <a:ea typeface="Aptos"/>
                <a:cs typeface="Aptos"/>
              </a:rPr>
              <a:t>lambda_s controls the individual-social trade-off.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9B0F886-669F-4F81-8AE7-9753F382639B}"/>
              </a:ext>
            </a:extLst>
          </p:cNvPr>
          <p:cNvSpPr>
            <a:spLocks noGrp="1"/>
          </p:cNvSpPr>
          <p:nvPr/>
        </p:nvSpPr>
        <p:spPr>
          <a:xfrm>
            <a:off x="1428750" y="4857750"/>
            <a:ext cx="8382000" cy="5524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23DE4C7-DA0E-4B51-A5EE-772E428EC75A}"/>
              </a:ext>
            </a:extLst>
          </p:cNvPr>
          <p:cNvSpPr>
            <a:spLocks noGrp="1"/>
          </p:cNvSpPr>
          <p:nvPr/>
        </p:nvSpPr>
        <p:spPr>
          <a:xfrm>
            <a:off x="1704975" y="5085220"/>
            <a:ext cx="15049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Key modeling choice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041478-77DC-4351-8910-16AF46A31444}"/>
              </a:ext>
            </a:extLst>
          </p:cNvPr>
          <p:cNvSpPr>
            <a:spLocks noGrp="1"/>
          </p:cNvSpPr>
          <p:nvPr/>
        </p:nvSpPr>
        <p:spPr>
          <a:xfrm>
            <a:off x="3072218" y="5058421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088" b="1" dirty="0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The friendship relation is directed and course-specific: A -&gt; B for course c need not imply B -&gt; A.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6A1C1F-5BD6-4AD9-BAC4-99609CD473BA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898599-65A2-4898-A585-2086D691ED9D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README.md mathematical model and input format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CAC3A7B-D245-4AB7-B7F9-5D4B9F972FD7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3/9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9DE4435-922C-884E-32BA-C24F5D7BED4D}"/>
              </a:ext>
            </a:extLst>
          </p:cNvPr>
          <p:cNvCxnSpPr/>
          <p:nvPr/>
        </p:nvCxnSpPr>
        <p:spPr>
          <a:xfrm>
            <a:off x="2701636" y="2819400"/>
            <a:ext cx="5844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3523DFB-1952-707B-BC8D-03E5C15D41C8}"/>
              </a:ext>
            </a:extLst>
          </p:cNvPr>
          <p:cNvCxnSpPr/>
          <p:nvPr/>
        </p:nvCxnSpPr>
        <p:spPr>
          <a:xfrm>
            <a:off x="5381874" y="2828925"/>
            <a:ext cx="5844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2397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0897D83-3A26-4485-A1C2-DB1B90643B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F92460-D976-4CBB-84CC-5B5B6B5850CF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1774E3-60AF-4F8E-A71B-A967FE5D89AF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MECHANISM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1C4AD0-4E63-4195-88A6-174FE0CE5959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9525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The mechanism has an initial reactive draft and a post-allocation improvement stage.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F68233-7257-4F8C-9F83-AB40F1ABA3CA}"/>
              </a:ext>
            </a:extLst>
          </p:cNvPr>
          <p:cNvSpPr>
            <a:spLocks noGrp="1"/>
          </p:cNvSpPr>
          <p:nvPr/>
        </p:nvSpPr>
        <p:spPr>
          <a:xfrm>
            <a:off x="876300" y="2286000"/>
            <a:ext cx="2095500" cy="1600200"/>
          </a:xfrm>
          <a:prstGeom prst="rect">
            <a:avLst/>
          </a:prstGeom>
          <a:solidFill>
            <a:srgbClr val="FFFCF4"/>
          </a:solidFill>
          <a:ln w="9525">
            <a:solidFill>
              <a:srgbClr val="35507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92149E-4F44-44AC-B65B-B3949F726CA8}"/>
              </a:ext>
            </a:extLst>
          </p:cNvPr>
          <p:cNvSpPr>
            <a:spLocks noGrp="1"/>
          </p:cNvSpPr>
          <p:nvPr/>
        </p:nvSpPr>
        <p:spPr>
          <a:xfrm>
            <a:off x="1085850" y="2495550"/>
            <a:ext cx="342900" cy="28575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2CCF6E-13B2-4853-99C4-02D63863D5F0}"/>
              </a:ext>
            </a:extLst>
          </p:cNvPr>
          <p:cNvSpPr>
            <a:spLocks noGrp="1"/>
          </p:cNvSpPr>
          <p:nvPr/>
        </p:nvSpPr>
        <p:spPr>
          <a:xfrm>
            <a:off x="1085850" y="2562225"/>
            <a:ext cx="342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A2B739-427E-445A-ACC2-D3D1E6236671}"/>
              </a:ext>
            </a:extLst>
          </p:cNvPr>
          <p:cNvSpPr>
            <a:spLocks noGrp="1"/>
          </p:cNvSpPr>
          <p:nvPr/>
        </p:nvSpPr>
        <p:spPr>
          <a:xfrm>
            <a:off x="1562100" y="2514600"/>
            <a:ext cx="1143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Seeded snake draft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EF5EDC-A5DC-42D1-B96C-F765087AFD4F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15240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Students pick in a fixed order; even rounds reverse the order.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A3B999-F328-4E9E-B00F-AB8516645291}"/>
              </a:ext>
            </a:extLst>
          </p:cNvPr>
          <p:cNvSpPr>
            <a:spLocks noGrp="1"/>
          </p:cNvSpPr>
          <p:nvPr/>
        </p:nvSpPr>
        <p:spPr>
          <a:xfrm>
            <a:off x="3200400" y="2981325"/>
            <a:ext cx="4953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B20A7E-047C-452A-A510-CA11AA1928A9}"/>
              </a:ext>
            </a:extLst>
          </p:cNvPr>
          <p:cNvSpPr>
            <a:spLocks noGrp="1"/>
          </p:cNvSpPr>
          <p:nvPr/>
        </p:nvSpPr>
        <p:spPr>
          <a:xfrm>
            <a:off x="3695700" y="28956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0985C2-9BAC-446B-9515-03587DA71220}"/>
              </a:ext>
            </a:extLst>
          </p:cNvPr>
          <p:cNvSpPr>
            <a:spLocks noGrp="1"/>
          </p:cNvSpPr>
          <p:nvPr/>
        </p:nvSpPr>
        <p:spPr>
          <a:xfrm>
            <a:off x="4095750" y="2286000"/>
            <a:ext cx="2095500" cy="1600200"/>
          </a:xfrm>
          <a:prstGeom prst="rect">
            <a:avLst/>
          </a:prstGeom>
          <a:solidFill>
            <a:srgbClr val="FFFCF4"/>
          </a:solidFill>
          <a:ln w="9525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1F7C3F-C0C2-45EC-B9FD-D3AE7FA9C84D}"/>
              </a:ext>
            </a:extLst>
          </p:cNvPr>
          <p:cNvSpPr>
            <a:spLocks noGrp="1"/>
          </p:cNvSpPr>
          <p:nvPr/>
        </p:nvSpPr>
        <p:spPr>
          <a:xfrm>
            <a:off x="4305300" y="2495550"/>
            <a:ext cx="342900" cy="285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3CABB-03E2-4704-9670-75B322CB88ED}"/>
              </a:ext>
            </a:extLst>
          </p:cNvPr>
          <p:cNvSpPr>
            <a:spLocks noGrp="1"/>
          </p:cNvSpPr>
          <p:nvPr/>
        </p:nvSpPr>
        <p:spPr>
          <a:xfrm>
            <a:off x="4305300" y="2562225"/>
            <a:ext cx="342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41B9BC-0181-47AB-BF54-6EF44C910057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1143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Reactive friend bonus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79C3A2-3C5F-4F08-BB79-F4749B4B05FA}"/>
              </a:ext>
            </a:extLst>
          </p:cNvPr>
          <p:cNvSpPr>
            <a:spLocks noGrp="1"/>
          </p:cNvSpPr>
          <p:nvPr/>
        </p:nvSpPr>
        <p:spPr>
          <a:xfrm>
            <a:off x="4381500" y="3086100"/>
            <a:ext cx="15240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Only friends already assigned to the candidate course contribute.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92146B-39B1-49D1-A6F4-51CD322AAED9}"/>
              </a:ext>
            </a:extLst>
          </p:cNvPr>
          <p:cNvSpPr>
            <a:spLocks noGrp="1"/>
          </p:cNvSpPr>
          <p:nvPr/>
        </p:nvSpPr>
        <p:spPr>
          <a:xfrm>
            <a:off x="6419850" y="2981325"/>
            <a:ext cx="495300" cy="190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F28D9E-DF1D-4BBB-AB7C-C0F47C2498C4}"/>
              </a:ext>
            </a:extLst>
          </p:cNvPr>
          <p:cNvSpPr>
            <a:spLocks noGrp="1"/>
          </p:cNvSpPr>
          <p:nvPr/>
        </p:nvSpPr>
        <p:spPr>
          <a:xfrm>
            <a:off x="6915150" y="2895600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B8C776-6AF4-4E6D-BF66-ECE8DD84B8D9}"/>
              </a:ext>
            </a:extLst>
          </p:cNvPr>
          <p:cNvSpPr>
            <a:spLocks noGrp="1"/>
          </p:cNvSpPr>
          <p:nvPr/>
        </p:nvSpPr>
        <p:spPr>
          <a:xfrm>
            <a:off x="7315200" y="2286000"/>
            <a:ext cx="2095500" cy="1600200"/>
          </a:xfrm>
          <a:prstGeom prst="rect">
            <a:avLst/>
          </a:prstGeom>
          <a:solidFill>
            <a:srgbClr val="FFFCF4"/>
          </a:solidFill>
          <a:ln w="9525">
            <a:solidFill>
              <a:srgbClr val="9F1239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BBFDBE-48A6-41BE-8431-06DEC506291B}"/>
              </a:ext>
            </a:extLst>
          </p:cNvPr>
          <p:cNvSpPr>
            <a:spLocks noGrp="1"/>
          </p:cNvSpPr>
          <p:nvPr/>
        </p:nvSpPr>
        <p:spPr>
          <a:xfrm>
            <a:off x="7524750" y="2495550"/>
            <a:ext cx="342900" cy="2857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FAD5F0-DA07-426F-A163-3DC0FC9A3A81}"/>
              </a:ext>
            </a:extLst>
          </p:cNvPr>
          <p:cNvSpPr>
            <a:spLocks noGrp="1"/>
          </p:cNvSpPr>
          <p:nvPr/>
        </p:nvSpPr>
        <p:spPr>
          <a:xfrm>
            <a:off x="7524750" y="2562225"/>
            <a:ext cx="342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21A590-CFC7-4A06-9135-84D794236EA1}"/>
              </a:ext>
            </a:extLst>
          </p:cNvPr>
          <p:cNvSpPr>
            <a:spLocks noGrp="1"/>
          </p:cNvSpPr>
          <p:nvPr/>
        </p:nvSpPr>
        <p:spPr>
          <a:xfrm>
            <a:off x="8001000" y="2514600"/>
            <a:ext cx="1143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Local search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9D1A77-CFEC-42A3-97A2-E16739DE9A8A}"/>
              </a:ext>
            </a:extLst>
          </p:cNvPr>
          <p:cNvSpPr>
            <a:spLocks noGrp="1"/>
          </p:cNvSpPr>
          <p:nvPr/>
        </p:nvSpPr>
        <p:spPr>
          <a:xfrm>
            <a:off x="7600950" y="3086100"/>
            <a:ext cx="15240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63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Swap, drop-add, or hybrid moves are accepted only if the objective improves.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47576D-2B14-4C73-84E1-34B7A13BD649}"/>
              </a:ext>
            </a:extLst>
          </p:cNvPr>
          <p:cNvSpPr>
            <a:spLocks noGrp="1"/>
          </p:cNvSpPr>
          <p:nvPr/>
        </p:nvSpPr>
        <p:spPr>
          <a:xfrm>
            <a:off x="1485900" y="4819650"/>
            <a:ext cx="9220200" cy="5905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A123E9-BFCB-492C-8413-70718B6ECAB2}"/>
              </a:ext>
            </a:extLst>
          </p:cNvPr>
          <p:cNvSpPr>
            <a:spLocks noGrp="1"/>
          </p:cNvSpPr>
          <p:nvPr/>
        </p:nvSpPr>
        <p:spPr>
          <a:xfrm>
            <a:off x="1752600" y="4991100"/>
            <a:ext cx="1104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Why reactive?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B750D09-9735-4AD0-AC93-6C0F03B2BE58}"/>
              </a:ext>
            </a:extLst>
          </p:cNvPr>
          <p:cNvSpPr>
            <a:spLocks noGrp="1"/>
          </p:cNvSpPr>
          <p:nvPr/>
        </p:nvSpPr>
        <p:spPr>
          <a:xfrm>
            <a:off x="3028950" y="4953000"/>
            <a:ext cx="7124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1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It avoids circular dependence: every utility evaluation is based on the current allocation state.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7B962F-566B-4611-B7EF-F97B5582DF67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4100C6-67D1-4FA2-850F-4C0F3AB94C4E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README.md reactive bonus, snake draft, and post-draft improvement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C440F9-0EEB-4F86-B54A-E2FDC8C37CFD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1255419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5B183AFF-EE90-4262-86D9-7961670C6E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BD27CC-32DC-4BDB-A04B-D850F57A311A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38A7C3-E5F3-4453-9FEA-397269023475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EXPERIMENT DESIGN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EF4D9B-CF45-4E2D-9091-9817FEDABA42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91440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7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The batch compares six improvement modes across 180 deterministic runs.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00AD8A-4E06-4449-AB38-F893FA3FA3B0}"/>
              </a:ext>
            </a:extLst>
          </p:cNvPr>
          <p:cNvSpPr>
            <a:spLocks noGrp="1"/>
          </p:cNvSpPr>
          <p:nvPr/>
        </p:nvSpPr>
        <p:spPr>
          <a:xfrm>
            <a:off x="814387" y="2057400"/>
            <a:ext cx="6555057" cy="9334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1819E5-DAB6-44FB-9608-5AA1922B8140}"/>
              </a:ext>
            </a:extLst>
          </p:cNvPr>
          <p:cNvSpPr>
            <a:spLocks noGrp="1"/>
          </p:cNvSpPr>
          <p:nvPr/>
        </p:nvSpPr>
        <p:spPr>
          <a:xfrm>
            <a:off x="1257300" y="2305050"/>
            <a:ext cx="28575" cy="51435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11DE3B-1C2C-4CF2-96DB-BD46EC297B37}"/>
              </a:ext>
            </a:extLst>
          </p:cNvPr>
          <p:cNvSpPr>
            <a:spLocks noGrp="1"/>
          </p:cNvSpPr>
          <p:nvPr/>
        </p:nvSpPr>
        <p:spPr>
          <a:xfrm>
            <a:off x="1409700" y="2266950"/>
            <a:ext cx="142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30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4C32FF-8F31-4845-95CA-A7F0A20A2662}"/>
              </a:ext>
            </a:extLst>
          </p:cNvPr>
          <p:cNvSpPr>
            <a:spLocks noGrp="1"/>
          </p:cNvSpPr>
          <p:nvPr/>
        </p:nvSpPr>
        <p:spPr>
          <a:xfrm>
            <a:off x="1409700" y="26098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runs per mode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A1CB20-CB22-449F-AE66-5662EBDB3ECA}"/>
              </a:ext>
            </a:extLst>
          </p:cNvPr>
          <p:cNvSpPr>
            <a:spLocks noGrp="1"/>
          </p:cNvSpPr>
          <p:nvPr/>
        </p:nvSpPr>
        <p:spPr>
          <a:xfrm>
            <a:off x="3390900" y="2305050"/>
            <a:ext cx="28575" cy="5143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CC2490-5C64-4349-8567-299EAC9B8F27}"/>
              </a:ext>
            </a:extLst>
          </p:cNvPr>
          <p:cNvSpPr>
            <a:spLocks noGrp="1"/>
          </p:cNvSpPr>
          <p:nvPr/>
        </p:nvSpPr>
        <p:spPr>
          <a:xfrm>
            <a:off x="3543300" y="2266950"/>
            <a:ext cx="142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20-49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2B5185-D46B-4B83-8638-F3BE86CD99E8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seeds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E9A719-CB6F-46BE-8D99-2A1E39CBD54D}"/>
              </a:ext>
            </a:extLst>
          </p:cNvPr>
          <p:cNvSpPr>
            <a:spLocks noGrp="1"/>
          </p:cNvSpPr>
          <p:nvPr/>
        </p:nvSpPr>
        <p:spPr>
          <a:xfrm>
            <a:off x="5642592" y="2318127"/>
            <a:ext cx="28575" cy="514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marL="0" indent="0" algn="l" defTabSz="914400" rtl="0"/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1D69AE-E6DD-4689-8227-B195E56A7620}"/>
              </a:ext>
            </a:extLst>
          </p:cNvPr>
          <p:cNvSpPr>
            <a:spLocks noGrp="1"/>
          </p:cNvSpPr>
          <p:nvPr/>
        </p:nvSpPr>
        <p:spPr>
          <a:xfrm>
            <a:off x="5773360" y="2299884"/>
            <a:ext cx="142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 dirty="0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180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5ABD61-F109-44A0-B9B2-491EA94098F6}"/>
              </a:ext>
            </a:extLst>
          </p:cNvPr>
          <p:cNvSpPr>
            <a:spLocks noGrp="1"/>
          </p:cNvSpPr>
          <p:nvPr/>
        </p:nvSpPr>
        <p:spPr>
          <a:xfrm>
            <a:off x="5805930" y="2604684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 dirty="0">
                <a:solidFill>
                  <a:srgbClr val="56616F"/>
                </a:solidFill>
                <a:latin typeface="Aptos"/>
                <a:ea typeface="Aptos"/>
                <a:cs typeface="Aptos"/>
              </a:rPr>
              <a:t>completed runs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87DFE2-3ED8-44DC-833B-EA4FE237FF2D}"/>
              </a:ext>
            </a:extLst>
          </p:cNvPr>
          <p:cNvSpPr>
            <a:spLocks noGrp="1"/>
          </p:cNvSpPr>
          <p:nvPr/>
        </p:nvSpPr>
        <p:spPr>
          <a:xfrm>
            <a:off x="1428750" y="3543300"/>
            <a:ext cx="2381250" cy="3429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98AE8E-FA5F-4A2C-B89C-FEB44846E3FF}"/>
              </a:ext>
            </a:extLst>
          </p:cNvPr>
          <p:cNvSpPr>
            <a:spLocks noGrp="1"/>
          </p:cNvSpPr>
          <p:nvPr/>
        </p:nvSpPr>
        <p:spPr>
          <a:xfrm>
            <a:off x="1504950" y="36480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D2ACF8-C563-4F0F-ADE3-CB5EB56456A4}"/>
              </a:ext>
            </a:extLst>
          </p:cNvPr>
          <p:cNvSpPr>
            <a:spLocks noGrp="1"/>
          </p:cNvSpPr>
          <p:nvPr/>
        </p:nvSpPr>
        <p:spPr>
          <a:xfrm>
            <a:off x="3810000" y="3543300"/>
            <a:ext cx="1428750" cy="3429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E3BD28-B0B0-466D-9471-96C23C0668E7}"/>
              </a:ext>
            </a:extLst>
          </p:cNvPr>
          <p:cNvSpPr>
            <a:spLocks noGrp="1"/>
          </p:cNvSpPr>
          <p:nvPr/>
        </p:nvSpPr>
        <p:spPr>
          <a:xfrm>
            <a:off x="3886200" y="36480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U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ED4CC2-DA48-48EA-8D41-FB0CB08DEE28}"/>
              </a:ext>
            </a:extLst>
          </p:cNvPr>
          <p:cNvSpPr>
            <a:spLocks noGrp="1"/>
          </p:cNvSpPr>
          <p:nvPr/>
        </p:nvSpPr>
        <p:spPr>
          <a:xfrm>
            <a:off x="5238750" y="3543300"/>
            <a:ext cx="1619250" cy="3429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DE3888-3A9E-4FDF-989D-9BB78629AF1A}"/>
              </a:ext>
            </a:extLst>
          </p:cNvPr>
          <p:cNvSpPr>
            <a:spLocks noGrp="1"/>
          </p:cNvSpPr>
          <p:nvPr/>
        </p:nvSpPr>
        <p:spPr>
          <a:xfrm>
            <a:off x="5314950" y="36480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G_total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74DB65-BBC0-471B-B5E1-BC92A399788F}"/>
              </a:ext>
            </a:extLst>
          </p:cNvPr>
          <p:cNvSpPr>
            <a:spLocks noGrp="1"/>
          </p:cNvSpPr>
          <p:nvPr/>
        </p:nvSpPr>
        <p:spPr>
          <a:xfrm>
            <a:off x="6858000" y="3543300"/>
            <a:ext cx="1619250" cy="3429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98CBEFF-E9C1-4550-A558-2FB850250ABD}"/>
              </a:ext>
            </a:extLst>
          </p:cNvPr>
          <p:cNvSpPr>
            <a:spLocks noGrp="1"/>
          </p:cNvSpPr>
          <p:nvPr/>
        </p:nvSpPr>
        <p:spPr>
          <a:xfrm>
            <a:off x="6934200" y="36480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G_base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977D408-E859-49BE-B5ED-7DE6878AC339}"/>
              </a:ext>
            </a:extLst>
          </p:cNvPr>
          <p:cNvSpPr>
            <a:spLocks noGrp="1"/>
          </p:cNvSpPr>
          <p:nvPr/>
        </p:nvSpPr>
        <p:spPr>
          <a:xfrm>
            <a:off x="1428750" y="3886200"/>
            <a:ext cx="2381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BB3534-DF7A-47E4-BF29-66EA9E8B9EDC}"/>
              </a:ext>
            </a:extLst>
          </p:cNvPr>
          <p:cNvSpPr>
            <a:spLocks noGrp="1"/>
          </p:cNvSpPr>
          <p:nvPr/>
        </p:nvSpPr>
        <p:spPr>
          <a:xfrm>
            <a:off x="1504950" y="39909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swap-global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ED3D6D6-BBC7-48E9-8157-2549F9998E4F}"/>
              </a:ext>
            </a:extLst>
          </p:cNvPr>
          <p:cNvSpPr>
            <a:spLocks noGrp="1"/>
          </p:cNvSpPr>
          <p:nvPr/>
        </p:nvSpPr>
        <p:spPr>
          <a:xfrm>
            <a:off x="3810000" y="3886200"/>
            <a:ext cx="14287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C328E6-E5B9-4384-B240-97481CC6BF37}"/>
              </a:ext>
            </a:extLst>
          </p:cNvPr>
          <p:cNvSpPr>
            <a:spLocks noGrp="1"/>
          </p:cNvSpPr>
          <p:nvPr/>
        </p:nvSpPr>
        <p:spPr>
          <a:xfrm>
            <a:off x="3886200" y="39909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352.612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B23AE09-447F-44AB-ADBF-E381B09C8C8A}"/>
              </a:ext>
            </a:extLst>
          </p:cNvPr>
          <p:cNvSpPr>
            <a:spLocks noGrp="1"/>
          </p:cNvSpPr>
          <p:nvPr/>
        </p:nvSpPr>
        <p:spPr>
          <a:xfrm>
            <a:off x="5238750" y="38862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6C94BB7-4827-4095-987C-96680AC8546E}"/>
              </a:ext>
            </a:extLst>
          </p:cNvPr>
          <p:cNvSpPr>
            <a:spLocks noGrp="1"/>
          </p:cNvSpPr>
          <p:nvPr/>
        </p:nvSpPr>
        <p:spPr>
          <a:xfrm>
            <a:off x="5314950" y="39909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0.070808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93D096-C16B-40C7-B02E-3E6CC8D375F7}"/>
              </a:ext>
            </a:extLst>
          </p:cNvPr>
          <p:cNvSpPr>
            <a:spLocks noGrp="1"/>
          </p:cNvSpPr>
          <p:nvPr/>
        </p:nvSpPr>
        <p:spPr>
          <a:xfrm>
            <a:off x="6858000" y="38862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6FBE397-0955-41ED-AC0F-B7877344C528}"/>
              </a:ext>
            </a:extLst>
          </p:cNvPr>
          <p:cNvSpPr>
            <a:spLocks noGrp="1"/>
          </p:cNvSpPr>
          <p:nvPr/>
        </p:nvSpPr>
        <p:spPr>
          <a:xfrm>
            <a:off x="6934200" y="39909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0.047782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F2EDC7C-9A90-48AA-ADE5-EC45FC6AE79D}"/>
              </a:ext>
            </a:extLst>
          </p:cNvPr>
          <p:cNvSpPr>
            <a:spLocks noGrp="1"/>
          </p:cNvSpPr>
          <p:nvPr/>
        </p:nvSpPr>
        <p:spPr>
          <a:xfrm>
            <a:off x="1428750" y="4229100"/>
            <a:ext cx="2381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0A9D7FA-0FE8-44CA-BC1D-29C9A818AB57}"/>
              </a:ext>
            </a:extLst>
          </p:cNvPr>
          <p:cNvSpPr>
            <a:spLocks noGrp="1"/>
          </p:cNvSpPr>
          <p:nvPr/>
        </p:nvSpPr>
        <p:spPr>
          <a:xfrm>
            <a:off x="1504950" y="43338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swap-personal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E2B965B-DD72-4A67-A99A-42F32CD86F8C}"/>
              </a:ext>
            </a:extLst>
          </p:cNvPr>
          <p:cNvSpPr>
            <a:spLocks noGrp="1"/>
          </p:cNvSpPr>
          <p:nvPr/>
        </p:nvSpPr>
        <p:spPr>
          <a:xfrm>
            <a:off x="3810000" y="4229100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DAE38A0-2374-4A0F-8E45-C8BF2CA02E09}"/>
              </a:ext>
            </a:extLst>
          </p:cNvPr>
          <p:cNvSpPr>
            <a:spLocks noGrp="1"/>
          </p:cNvSpPr>
          <p:nvPr/>
        </p:nvSpPr>
        <p:spPr>
          <a:xfrm>
            <a:off x="3886200" y="43338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340.181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0F428C-D103-49AD-9FA8-0C0E5FD49C3F}"/>
              </a:ext>
            </a:extLst>
          </p:cNvPr>
          <p:cNvSpPr>
            <a:spLocks noGrp="1"/>
          </p:cNvSpPr>
          <p:nvPr/>
        </p:nvSpPr>
        <p:spPr>
          <a:xfrm>
            <a:off x="5238750" y="42291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3ED0FF-E18E-44DB-9B20-9A72712A5628}"/>
              </a:ext>
            </a:extLst>
          </p:cNvPr>
          <p:cNvSpPr>
            <a:spLocks noGrp="1"/>
          </p:cNvSpPr>
          <p:nvPr/>
        </p:nvSpPr>
        <p:spPr>
          <a:xfrm>
            <a:off x="5314950" y="43338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0.070852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8EE1F8-6415-4E0E-A447-7B339AC6450C}"/>
              </a:ext>
            </a:extLst>
          </p:cNvPr>
          <p:cNvSpPr>
            <a:spLocks noGrp="1"/>
          </p:cNvSpPr>
          <p:nvPr/>
        </p:nvSpPr>
        <p:spPr>
          <a:xfrm>
            <a:off x="6858000" y="42291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5B8D51-F62D-4098-9396-3A751B69B858}"/>
              </a:ext>
            </a:extLst>
          </p:cNvPr>
          <p:cNvSpPr>
            <a:spLocks noGrp="1"/>
          </p:cNvSpPr>
          <p:nvPr/>
        </p:nvSpPr>
        <p:spPr>
          <a:xfrm>
            <a:off x="6934200" y="43338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0.040680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AABC26-2C5B-4865-A0B9-B91614BB1F9F}"/>
              </a:ext>
            </a:extLst>
          </p:cNvPr>
          <p:cNvSpPr>
            <a:spLocks noGrp="1"/>
          </p:cNvSpPr>
          <p:nvPr/>
        </p:nvSpPr>
        <p:spPr>
          <a:xfrm>
            <a:off x="1428750" y="4572000"/>
            <a:ext cx="2381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51DE65-B5FA-4084-8386-5CC64BB24011}"/>
              </a:ext>
            </a:extLst>
          </p:cNvPr>
          <p:cNvSpPr>
            <a:spLocks noGrp="1"/>
          </p:cNvSpPr>
          <p:nvPr/>
        </p:nvSpPr>
        <p:spPr>
          <a:xfrm>
            <a:off x="1504950" y="46767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drop-add-global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4083132-C690-49FF-9369-2D368D69BA7D}"/>
              </a:ext>
            </a:extLst>
          </p:cNvPr>
          <p:cNvSpPr>
            <a:spLocks noGrp="1"/>
          </p:cNvSpPr>
          <p:nvPr/>
        </p:nvSpPr>
        <p:spPr>
          <a:xfrm>
            <a:off x="3810000" y="4572000"/>
            <a:ext cx="14287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2CD746-58E4-4635-8013-B7A66C82DE27}"/>
              </a:ext>
            </a:extLst>
          </p:cNvPr>
          <p:cNvSpPr>
            <a:spLocks noGrp="1"/>
          </p:cNvSpPr>
          <p:nvPr/>
        </p:nvSpPr>
        <p:spPr>
          <a:xfrm>
            <a:off x="3886200" y="46767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346.169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22D6D8C-DE73-41D0-B406-1B5BB87C16E0}"/>
              </a:ext>
            </a:extLst>
          </p:cNvPr>
          <p:cNvSpPr>
            <a:spLocks noGrp="1"/>
          </p:cNvSpPr>
          <p:nvPr/>
        </p:nvSpPr>
        <p:spPr>
          <a:xfrm>
            <a:off x="5238750" y="45720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7471A8B-F641-4181-A0B0-26104CC8FA66}"/>
              </a:ext>
            </a:extLst>
          </p:cNvPr>
          <p:cNvSpPr>
            <a:spLocks noGrp="1"/>
          </p:cNvSpPr>
          <p:nvPr/>
        </p:nvSpPr>
        <p:spPr>
          <a:xfrm>
            <a:off x="5314950" y="46767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0.070193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0593EA4-B12A-4FEE-A43B-B185C536DB0B}"/>
              </a:ext>
            </a:extLst>
          </p:cNvPr>
          <p:cNvSpPr>
            <a:spLocks noGrp="1"/>
          </p:cNvSpPr>
          <p:nvPr/>
        </p:nvSpPr>
        <p:spPr>
          <a:xfrm>
            <a:off x="6858000" y="45720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0B6B9C9-0FB9-47F2-9D49-3EA8D5A06173}"/>
              </a:ext>
            </a:extLst>
          </p:cNvPr>
          <p:cNvSpPr>
            <a:spLocks noGrp="1"/>
          </p:cNvSpPr>
          <p:nvPr/>
        </p:nvSpPr>
        <p:spPr>
          <a:xfrm>
            <a:off x="6934200" y="46767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0.042996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9B8F3C5-524F-4BF2-8FD6-DD1A64CB4788}"/>
              </a:ext>
            </a:extLst>
          </p:cNvPr>
          <p:cNvSpPr>
            <a:spLocks noGrp="1"/>
          </p:cNvSpPr>
          <p:nvPr/>
        </p:nvSpPr>
        <p:spPr>
          <a:xfrm>
            <a:off x="1428750" y="4914900"/>
            <a:ext cx="2381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A589064-E609-4C14-8F15-E2B44BE4EC62}"/>
              </a:ext>
            </a:extLst>
          </p:cNvPr>
          <p:cNvSpPr>
            <a:spLocks noGrp="1"/>
          </p:cNvSpPr>
          <p:nvPr/>
        </p:nvSpPr>
        <p:spPr>
          <a:xfrm>
            <a:off x="1504950" y="50196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drop-add-personal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370D3A5-5157-461B-8509-7F6D0E8904A8}"/>
              </a:ext>
            </a:extLst>
          </p:cNvPr>
          <p:cNvSpPr>
            <a:spLocks noGrp="1"/>
          </p:cNvSpPr>
          <p:nvPr/>
        </p:nvSpPr>
        <p:spPr>
          <a:xfrm>
            <a:off x="3810000" y="4914900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DE2FFCA-579F-434A-85DD-061D7A13A7F4}"/>
              </a:ext>
            </a:extLst>
          </p:cNvPr>
          <p:cNvSpPr>
            <a:spLocks noGrp="1"/>
          </p:cNvSpPr>
          <p:nvPr/>
        </p:nvSpPr>
        <p:spPr>
          <a:xfrm>
            <a:off x="3886200" y="50196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342.547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852CEE0-A9F9-4F0B-BD74-02036CFACF4E}"/>
              </a:ext>
            </a:extLst>
          </p:cNvPr>
          <p:cNvSpPr>
            <a:spLocks noGrp="1"/>
          </p:cNvSpPr>
          <p:nvPr/>
        </p:nvSpPr>
        <p:spPr>
          <a:xfrm>
            <a:off x="5238750" y="49149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60056F-9D23-4924-B97E-43D4D60530F8}"/>
              </a:ext>
            </a:extLst>
          </p:cNvPr>
          <p:cNvSpPr>
            <a:spLocks noGrp="1"/>
          </p:cNvSpPr>
          <p:nvPr/>
        </p:nvSpPr>
        <p:spPr>
          <a:xfrm>
            <a:off x="5314950" y="50196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0.070927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F8524B7-D52F-48A2-B7EF-98B29A51BCB1}"/>
              </a:ext>
            </a:extLst>
          </p:cNvPr>
          <p:cNvSpPr>
            <a:spLocks noGrp="1"/>
          </p:cNvSpPr>
          <p:nvPr/>
        </p:nvSpPr>
        <p:spPr>
          <a:xfrm>
            <a:off x="6858000" y="49149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93846F-FDCE-4437-BD99-70406CDA99D0}"/>
              </a:ext>
            </a:extLst>
          </p:cNvPr>
          <p:cNvSpPr>
            <a:spLocks noGrp="1"/>
          </p:cNvSpPr>
          <p:nvPr/>
        </p:nvSpPr>
        <p:spPr>
          <a:xfrm>
            <a:off x="6934200" y="50196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0.046126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5DCC343-95FE-43DC-BC92-1F2B5755F06C}"/>
              </a:ext>
            </a:extLst>
          </p:cNvPr>
          <p:cNvSpPr>
            <a:spLocks noGrp="1"/>
          </p:cNvSpPr>
          <p:nvPr/>
        </p:nvSpPr>
        <p:spPr>
          <a:xfrm>
            <a:off x="1428750" y="5257800"/>
            <a:ext cx="2381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7616746-C5B2-4E20-81AA-27EA32A62719}"/>
              </a:ext>
            </a:extLst>
          </p:cNvPr>
          <p:cNvSpPr>
            <a:spLocks noGrp="1"/>
          </p:cNvSpPr>
          <p:nvPr/>
        </p:nvSpPr>
        <p:spPr>
          <a:xfrm>
            <a:off x="1504950" y="53625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hybrid-global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BC0A5CB-0241-42A6-A5BF-DC32E377B99F}"/>
              </a:ext>
            </a:extLst>
          </p:cNvPr>
          <p:cNvSpPr>
            <a:spLocks noGrp="1"/>
          </p:cNvSpPr>
          <p:nvPr/>
        </p:nvSpPr>
        <p:spPr>
          <a:xfrm>
            <a:off x="3810000" y="5257800"/>
            <a:ext cx="14287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D5CD99F-5378-4AB4-A64C-443C749BAAFF}"/>
              </a:ext>
            </a:extLst>
          </p:cNvPr>
          <p:cNvSpPr>
            <a:spLocks noGrp="1"/>
          </p:cNvSpPr>
          <p:nvPr/>
        </p:nvSpPr>
        <p:spPr>
          <a:xfrm>
            <a:off x="3886200" y="53625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365.025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2AAA258-FF97-4C76-A577-497CAE5E5EF3}"/>
              </a:ext>
            </a:extLst>
          </p:cNvPr>
          <p:cNvSpPr>
            <a:spLocks noGrp="1"/>
          </p:cNvSpPr>
          <p:nvPr/>
        </p:nvSpPr>
        <p:spPr>
          <a:xfrm>
            <a:off x="5238750" y="52578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AD1D46D-248C-482C-AC36-BE664127882F}"/>
              </a:ext>
            </a:extLst>
          </p:cNvPr>
          <p:cNvSpPr>
            <a:spLocks noGrp="1"/>
          </p:cNvSpPr>
          <p:nvPr/>
        </p:nvSpPr>
        <p:spPr>
          <a:xfrm>
            <a:off x="5314950" y="53625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0.072126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9EDD664-C1E7-4858-A954-BFF37482C6F9}"/>
              </a:ext>
            </a:extLst>
          </p:cNvPr>
          <p:cNvSpPr>
            <a:spLocks noGrp="1"/>
          </p:cNvSpPr>
          <p:nvPr/>
        </p:nvSpPr>
        <p:spPr>
          <a:xfrm>
            <a:off x="6858000" y="5257800"/>
            <a:ext cx="1619250" cy="3429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9C074B53-7B5E-4843-A7D3-3FA407B9BFB9}"/>
              </a:ext>
            </a:extLst>
          </p:cNvPr>
          <p:cNvSpPr>
            <a:spLocks noGrp="1"/>
          </p:cNvSpPr>
          <p:nvPr/>
        </p:nvSpPr>
        <p:spPr>
          <a:xfrm>
            <a:off x="6934200" y="53625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0.072559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7298634-7C17-4463-9BDF-A5107D313869}"/>
              </a:ext>
            </a:extLst>
          </p:cNvPr>
          <p:cNvSpPr>
            <a:spLocks noGrp="1"/>
          </p:cNvSpPr>
          <p:nvPr/>
        </p:nvSpPr>
        <p:spPr>
          <a:xfrm>
            <a:off x="1428750" y="5600700"/>
            <a:ext cx="2381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39B51F7-8EB6-4088-9677-14B14F1771D0}"/>
              </a:ext>
            </a:extLst>
          </p:cNvPr>
          <p:cNvSpPr>
            <a:spLocks noGrp="1"/>
          </p:cNvSpPr>
          <p:nvPr/>
        </p:nvSpPr>
        <p:spPr>
          <a:xfrm>
            <a:off x="1504950" y="5705475"/>
            <a:ext cx="2228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hybrid-personal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A8DA9B7-D11A-4156-9E5D-8A59DD18E95A}"/>
              </a:ext>
            </a:extLst>
          </p:cNvPr>
          <p:cNvSpPr>
            <a:spLocks noGrp="1"/>
          </p:cNvSpPr>
          <p:nvPr/>
        </p:nvSpPr>
        <p:spPr>
          <a:xfrm>
            <a:off x="3810000" y="5600700"/>
            <a:ext cx="14287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1E5CED1-4D68-4AD5-B48B-214A9E0B7A3F}"/>
              </a:ext>
            </a:extLst>
          </p:cNvPr>
          <p:cNvSpPr>
            <a:spLocks noGrp="1"/>
          </p:cNvSpPr>
          <p:nvPr/>
        </p:nvSpPr>
        <p:spPr>
          <a:xfrm>
            <a:off x="3886200" y="5705475"/>
            <a:ext cx="12763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337.392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EC569C3-D098-41C5-9A5F-67F16A1A470F}"/>
              </a:ext>
            </a:extLst>
          </p:cNvPr>
          <p:cNvSpPr>
            <a:spLocks noGrp="1"/>
          </p:cNvSpPr>
          <p:nvPr/>
        </p:nvSpPr>
        <p:spPr>
          <a:xfrm>
            <a:off x="5238750" y="56007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04280A9-B29D-459E-9FF3-272261DFC987}"/>
              </a:ext>
            </a:extLst>
          </p:cNvPr>
          <p:cNvSpPr>
            <a:spLocks noGrp="1"/>
          </p:cNvSpPr>
          <p:nvPr/>
        </p:nvSpPr>
        <p:spPr>
          <a:xfrm>
            <a:off x="5314950" y="57054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0.075803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FD6703-FA5E-45BE-8DAE-4F1F953A5048}"/>
              </a:ext>
            </a:extLst>
          </p:cNvPr>
          <p:cNvSpPr>
            <a:spLocks noGrp="1"/>
          </p:cNvSpPr>
          <p:nvPr/>
        </p:nvSpPr>
        <p:spPr>
          <a:xfrm>
            <a:off x="6858000" y="5600700"/>
            <a:ext cx="161925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B6EF929-C8A3-49C1-95EA-78BD528B7385}"/>
              </a:ext>
            </a:extLst>
          </p:cNvPr>
          <p:cNvSpPr>
            <a:spLocks noGrp="1"/>
          </p:cNvSpPr>
          <p:nvPr/>
        </p:nvSpPr>
        <p:spPr>
          <a:xfrm>
            <a:off x="6934200" y="57054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0.057403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36AB270-C61E-474A-8252-74E91E772416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CACE4F1-1D4E-43AA-A4A5-93ACF3DCB856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user screenshots, seeds 20-49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B8C2881-49B7-4EDB-8E11-1CDDCD1408D4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700704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7F0C00B6-5D30-4C91-841C-3B1A35F312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998DB7-EA27-447D-992D-776F33CC719C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075139-9ED4-4447-9E47-84031DBEAF72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RESULT 1: UTILITY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D2852E-AE59-47B8-A880-88C4F254F9B6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85725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Hybrid-global is the clear winner on average utility.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219FC8-73DF-44B8-A572-DDF88ED9CAE1}"/>
              </a:ext>
            </a:extLst>
          </p:cNvPr>
          <p:cNvSpPr>
            <a:spLocks noGrp="1"/>
          </p:cNvSpPr>
          <p:nvPr/>
        </p:nvSpPr>
        <p:spPr>
          <a:xfrm>
            <a:off x="895350" y="19621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Average utility by mode, 30 runs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519B0F-3461-41EA-9216-1B370C04CF89}"/>
              </a:ext>
            </a:extLst>
          </p:cNvPr>
          <p:cNvSpPr>
            <a:spLocks noGrp="1"/>
          </p:cNvSpPr>
          <p:nvPr/>
        </p:nvSpPr>
        <p:spPr>
          <a:xfrm>
            <a:off x="1028700" y="23717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swap-global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DD21CA-97B2-4B6B-BE1B-7372F34265F5}"/>
              </a:ext>
            </a:extLst>
          </p:cNvPr>
          <p:cNvSpPr>
            <a:spLocks noGrp="1"/>
          </p:cNvSpPr>
          <p:nvPr/>
        </p:nvSpPr>
        <p:spPr>
          <a:xfrm>
            <a:off x="2838450" y="24384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525AB5-B33A-4852-951F-29B8E22B86B5}"/>
              </a:ext>
            </a:extLst>
          </p:cNvPr>
          <p:cNvSpPr>
            <a:spLocks noGrp="1"/>
          </p:cNvSpPr>
          <p:nvPr/>
        </p:nvSpPr>
        <p:spPr>
          <a:xfrm>
            <a:off x="2838450" y="2438400"/>
            <a:ext cx="1887268" cy="13335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E1AB1B-FCB1-409F-A471-A4F661EB1384}"/>
              </a:ext>
            </a:extLst>
          </p:cNvPr>
          <p:cNvSpPr>
            <a:spLocks noGrp="1"/>
          </p:cNvSpPr>
          <p:nvPr/>
        </p:nvSpPr>
        <p:spPr>
          <a:xfrm>
            <a:off x="6419850" y="23526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3550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5070"/>
                </a:solidFill>
                <a:latin typeface="Aptos"/>
                <a:ea typeface="Aptos"/>
                <a:cs typeface="Aptos"/>
              </a:rPr>
              <a:t>352.612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ACE097-03F9-4D8F-961E-9FAAD5DA9DBE}"/>
              </a:ext>
            </a:extLst>
          </p:cNvPr>
          <p:cNvSpPr>
            <a:spLocks noGrp="1"/>
          </p:cNvSpPr>
          <p:nvPr/>
        </p:nvSpPr>
        <p:spPr>
          <a:xfrm>
            <a:off x="1028700" y="28670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swap-personal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507DA6-A5E0-404C-97A7-A090A8B0479B}"/>
              </a:ext>
            </a:extLst>
          </p:cNvPr>
          <p:cNvSpPr>
            <a:spLocks noGrp="1"/>
          </p:cNvSpPr>
          <p:nvPr/>
        </p:nvSpPr>
        <p:spPr>
          <a:xfrm>
            <a:off x="2838450" y="29337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986FD2-C6CF-4EF3-9A6E-A7B846B36446}"/>
              </a:ext>
            </a:extLst>
          </p:cNvPr>
          <p:cNvSpPr>
            <a:spLocks noGrp="1"/>
          </p:cNvSpPr>
          <p:nvPr/>
        </p:nvSpPr>
        <p:spPr>
          <a:xfrm>
            <a:off x="2838450" y="2933700"/>
            <a:ext cx="555189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EEB781-77B8-470E-A0A3-28586EBF5E92}"/>
              </a:ext>
            </a:extLst>
          </p:cNvPr>
          <p:cNvSpPr>
            <a:spLocks noGrp="1"/>
          </p:cNvSpPr>
          <p:nvPr/>
        </p:nvSpPr>
        <p:spPr>
          <a:xfrm>
            <a:off x="6419850" y="28479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340.181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368328-3116-45BE-A2D5-8B3019A7D6EF}"/>
              </a:ext>
            </a:extLst>
          </p:cNvPr>
          <p:cNvSpPr>
            <a:spLocks noGrp="1"/>
          </p:cNvSpPr>
          <p:nvPr/>
        </p:nvSpPr>
        <p:spPr>
          <a:xfrm>
            <a:off x="1028700" y="33623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drop-add-global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8A3D96-C9FA-4B86-B09C-7B185D8B3F41}"/>
              </a:ext>
            </a:extLst>
          </p:cNvPr>
          <p:cNvSpPr>
            <a:spLocks noGrp="1"/>
          </p:cNvSpPr>
          <p:nvPr/>
        </p:nvSpPr>
        <p:spPr>
          <a:xfrm>
            <a:off x="2838450" y="34290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8F86D1-9820-4144-8641-DF3FA49720FC}"/>
              </a:ext>
            </a:extLst>
          </p:cNvPr>
          <p:cNvSpPr>
            <a:spLocks noGrp="1"/>
          </p:cNvSpPr>
          <p:nvPr/>
        </p:nvSpPr>
        <p:spPr>
          <a:xfrm>
            <a:off x="2838450" y="3429000"/>
            <a:ext cx="1196802" cy="133350"/>
          </a:xfrm>
          <a:prstGeom prst="rect">
            <a:avLst/>
          </a:prstGeom>
          <a:solidFill>
            <a:srgbClr val="35507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EF47AE-E3EA-4C0C-93F7-15E3D60CA512}"/>
              </a:ext>
            </a:extLst>
          </p:cNvPr>
          <p:cNvSpPr>
            <a:spLocks noGrp="1"/>
          </p:cNvSpPr>
          <p:nvPr/>
        </p:nvSpPr>
        <p:spPr>
          <a:xfrm>
            <a:off x="6419850" y="33432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35507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5070"/>
                </a:solidFill>
                <a:latin typeface="Aptos"/>
                <a:ea typeface="Aptos"/>
                <a:cs typeface="Aptos"/>
              </a:rPr>
              <a:t>346.169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AF075B-8C7F-48E3-997B-341F18EBFD71}"/>
              </a:ext>
            </a:extLst>
          </p:cNvPr>
          <p:cNvSpPr>
            <a:spLocks noGrp="1"/>
          </p:cNvSpPr>
          <p:nvPr/>
        </p:nvSpPr>
        <p:spPr>
          <a:xfrm>
            <a:off x="1028700" y="38576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drop-add-personal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66ABDE-961E-47DD-B4A8-E960EF30E897}"/>
              </a:ext>
            </a:extLst>
          </p:cNvPr>
          <p:cNvSpPr>
            <a:spLocks noGrp="1"/>
          </p:cNvSpPr>
          <p:nvPr/>
        </p:nvSpPr>
        <p:spPr>
          <a:xfrm>
            <a:off x="2838450" y="39243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E62964-779B-4E0D-8B92-6FA2CCA27FA2}"/>
              </a:ext>
            </a:extLst>
          </p:cNvPr>
          <p:cNvSpPr>
            <a:spLocks noGrp="1"/>
          </p:cNvSpPr>
          <p:nvPr/>
        </p:nvSpPr>
        <p:spPr>
          <a:xfrm>
            <a:off x="2838450" y="3924300"/>
            <a:ext cx="808706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24360-045A-4ED9-929D-FBC6407BF0D0}"/>
              </a:ext>
            </a:extLst>
          </p:cNvPr>
          <p:cNvSpPr>
            <a:spLocks noGrp="1"/>
          </p:cNvSpPr>
          <p:nvPr/>
        </p:nvSpPr>
        <p:spPr>
          <a:xfrm>
            <a:off x="6419850" y="38385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342.547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4A6869A-65A0-42E5-A27E-FF19828C3E25}"/>
              </a:ext>
            </a:extLst>
          </p:cNvPr>
          <p:cNvSpPr>
            <a:spLocks noGrp="1"/>
          </p:cNvSpPr>
          <p:nvPr/>
        </p:nvSpPr>
        <p:spPr>
          <a:xfrm>
            <a:off x="1028700" y="43529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1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hybrid-global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C309FE-0113-4006-A5F3-3A470373A4D5}"/>
              </a:ext>
            </a:extLst>
          </p:cNvPr>
          <p:cNvSpPr>
            <a:spLocks noGrp="1"/>
          </p:cNvSpPr>
          <p:nvPr/>
        </p:nvSpPr>
        <p:spPr>
          <a:xfrm>
            <a:off x="2838450" y="44196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56AE53-8D88-443E-A00B-78AC79F57FB4}"/>
              </a:ext>
            </a:extLst>
          </p:cNvPr>
          <p:cNvSpPr>
            <a:spLocks noGrp="1"/>
          </p:cNvSpPr>
          <p:nvPr/>
        </p:nvSpPr>
        <p:spPr>
          <a:xfrm>
            <a:off x="2838450" y="4419600"/>
            <a:ext cx="3217368" cy="1333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36AC7BE-26C0-4F17-9423-71F174433EDC}"/>
              </a:ext>
            </a:extLst>
          </p:cNvPr>
          <p:cNvSpPr>
            <a:spLocks noGrp="1"/>
          </p:cNvSpPr>
          <p:nvPr/>
        </p:nvSpPr>
        <p:spPr>
          <a:xfrm>
            <a:off x="6419850" y="43338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365.025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1BB8A74-3BE6-4EE4-93B1-A107ECD80B96}"/>
              </a:ext>
            </a:extLst>
          </p:cNvPr>
          <p:cNvSpPr>
            <a:spLocks noGrp="1"/>
          </p:cNvSpPr>
          <p:nvPr/>
        </p:nvSpPr>
        <p:spPr>
          <a:xfrm>
            <a:off x="1028700" y="4848225"/>
            <a:ext cx="1809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hybrid-personal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AD8341-403C-4113-9E10-24C03F7473AE}"/>
              </a:ext>
            </a:extLst>
          </p:cNvPr>
          <p:cNvSpPr>
            <a:spLocks noGrp="1"/>
          </p:cNvSpPr>
          <p:nvPr/>
        </p:nvSpPr>
        <p:spPr>
          <a:xfrm>
            <a:off x="2838450" y="4914900"/>
            <a:ext cx="342900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836D5D1-7063-46BE-BF09-618394584CFC}"/>
              </a:ext>
            </a:extLst>
          </p:cNvPr>
          <p:cNvSpPr>
            <a:spLocks noGrp="1"/>
          </p:cNvSpPr>
          <p:nvPr/>
        </p:nvSpPr>
        <p:spPr>
          <a:xfrm>
            <a:off x="2838450" y="4914900"/>
            <a:ext cx="256302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1FDF2D-1F8A-48C2-A1DB-B6A1EC654399}"/>
              </a:ext>
            </a:extLst>
          </p:cNvPr>
          <p:cNvSpPr>
            <a:spLocks noGrp="1"/>
          </p:cNvSpPr>
          <p:nvPr/>
        </p:nvSpPr>
        <p:spPr>
          <a:xfrm>
            <a:off x="6419850" y="48291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337.392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3BC0E7-1EB2-4B2D-99ED-B5E4B8D94938}"/>
              </a:ext>
            </a:extLst>
          </p:cNvPr>
          <p:cNvSpPr>
            <a:spLocks noGrp="1"/>
          </p:cNvSpPr>
          <p:nvPr/>
        </p:nvSpPr>
        <p:spPr>
          <a:xfrm>
            <a:off x="7505700" y="2286000"/>
            <a:ext cx="3028950" cy="228600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271820-1FDB-4F5F-B045-098223EC0F69}"/>
              </a:ext>
            </a:extLst>
          </p:cNvPr>
          <p:cNvSpPr>
            <a:spLocks noGrp="1"/>
          </p:cNvSpPr>
          <p:nvPr/>
        </p:nvSpPr>
        <p:spPr>
          <a:xfrm>
            <a:off x="7791450" y="2552700"/>
            <a:ext cx="1714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Best average utility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19C2D7E-BA54-4A22-AB40-9B674478278A}"/>
              </a:ext>
            </a:extLst>
          </p:cNvPr>
          <p:cNvSpPr>
            <a:spLocks noGrp="1"/>
          </p:cNvSpPr>
          <p:nvPr/>
        </p:nvSpPr>
        <p:spPr>
          <a:xfrm>
            <a:off x="7791450" y="3028950"/>
            <a:ext cx="1809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365.025017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E6F48-F374-4702-B740-6B38D90C9624}"/>
              </a:ext>
            </a:extLst>
          </p:cNvPr>
          <p:cNvSpPr>
            <a:spLocks noGrp="1"/>
          </p:cNvSpPr>
          <p:nvPr/>
        </p:nvSpPr>
        <p:spPr>
          <a:xfrm>
            <a:off x="7810500" y="3448050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hybrid-global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7BDD8CD-B3C3-4C46-94C5-81FBE4D8256E}"/>
              </a:ext>
            </a:extLst>
          </p:cNvPr>
          <p:cNvSpPr>
            <a:spLocks noGrp="1"/>
          </p:cNvSpPr>
          <p:nvPr/>
        </p:nvSpPr>
        <p:spPr>
          <a:xfrm>
            <a:off x="7810500" y="3848100"/>
            <a:ext cx="22479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1A9A92-6631-4DD1-90BB-5821CA7A75C6}"/>
              </a:ext>
            </a:extLst>
          </p:cNvPr>
          <p:cNvSpPr>
            <a:spLocks noGrp="1"/>
          </p:cNvSpPr>
          <p:nvPr/>
        </p:nvSpPr>
        <p:spPr>
          <a:xfrm>
            <a:off x="7810500" y="4095750"/>
            <a:ext cx="22098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 can use spare seats and swaps, so its local search neighborhood is richer than pure swap or pure drop-add.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114B60-4C77-40B1-B9BF-3D00A9EEED17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67E1D9-3114-4058-9588-A93E1A41F507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user screenshot table, Avg U column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67FB27D-F86B-4B34-BBA8-A541A5164036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84967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B260446F-DA65-4423-8E85-AA64C25ACF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E7A980-7841-4C20-865F-F1C74C6F8FAA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61F2B0-CD89-42C9-9C79-3D515A5E78C8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RESULT 2: FAIRNESS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FCE275-C14E-4AE8-B568-8CCABF963356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9525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Fairness gives a different winner: drop-add-global has the lowest average total Gini.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A91138-AFF9-48DB-9A62-FB1AFE88F462}"/>
              </a:ext>
            </a:extLst>
          </p:cNvPr>
          <p:cNvSpPr>
            <a:spLocks noGrp="1"/>
          </p:cNvSpPr>
          <p:nvPr/>
        </p:nvSpPr>
        <p:spPr>
          <a:xfrm>
            <a:off x="800100" y="20383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Average G_total by mode (lower is better)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A0DAC8-06EF-4A26-BFD6-1A161BEFEE24}"/>
              </a:ext>
            </a:extLst>
          </p:cNvPr>
          <p:cNvSpPr>
            <a:spLocks noGrp="1"/>
          </p:cNvSpPr>
          <p:nvPr/>
        </p:nvSpPr>
        <p:spPr>
          <a:xfrm>
            <a:off x="876300" y="2428875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swap-global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56A02B-C551-4E9D-A957-A617D0F12F59}"/>
              </a:ext>
            </a:extLst>
          </p:cNvPr>
          <p:cNvSpPr>
            <a:spLocks noGrp="1"/>
          </p:cNvSpPr>
          <p:nvPr/>
        </p:nvSpPr>
        <p:spPr>
          <a:xfrm>
            <a:off x="2667000" y="2495550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9D44AC-FE63-433F-A133-13584DC19168}"/>
              </a:ext>
            </a:extLst>
          </p:cNvPr>
          <p:cNvSpPr>
            <a:spLocks noGrp="1"/>
          </p:cNvSpPr>
          <p:nvPr/>
        </p:nvSpPr>
        <p:spPr>
          <a:xfrm>
            <a:off x="2667000" y="2495550"/>
            <a:ext cx="586517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AAE194-0E33-4388-8734-2693DCD8FC3F}"/>
              </a:ext>
            </a:extLst>
          </p:cNvPr>
          <p:cNvSpPr>
            <a:spLocks noGrp="1"/>
          </p:cNvSpPr>
          <p:nvPr/>
        </p:nvSpPr>
        <p:spPr>
          <a:xfrm>
            <a:off x="5734050" y="240982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0.070808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665C4C-26D0-4F4E-A8AB-480CD4C9D437}"/>
              </a:ext>
            </a:extLst>
          </p:cNvPr>
          <p:cNvSpPr>
            <a:spLocks noGrp="1"/>
          </p:cNvSpPr>
          <p:nvPr/>
        </p:nvSpPr>
        <p:spPr>
          <a:xfrm>
            <a:off x="876300" y="28575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swap-personal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E4C325-6AB7-48FC-84A4-225B8C2787E9}"/>
              </a:ext>
            </a:extLst>
          </p:cNvPr>
          <p:cNvSpPr>
            <a:spLocks noGrp="1"/>
          </p:cNvSpPr>
          <p:nvPr/>
        </p:nvSpPr>
        <p:spPr>
          <a:xfrm>
            <a:off x="2667000" y="2924175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494F15-BB83-4DF9-A727-67F62DEB7BBC}"/>
              </a:ext>
            </a:extLst>
          </p:cNvPr>
          <p:cNvSpPr>
            <a:spLocks noGrp="1"/>
          </p:cNvSpPr>
          <p:nvPr/>
        </p:nvSpPr>
        <p:spPr>
          <a:xfrm>
            <a:off x="2667000" y="2924175"/>
            <a:ext cx="606247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60C7E2-450E-4D05-B4F5-052E4AA796F9}"/>
              </a:ext>
            </a:extLst>
          </p:cNvPr>
          <p:cNvSpPr>
            <a:spLocks noGrp="1"/>
          </p:cNvSpPr>
          <p:nvPr/>
        </p:nvSpPr>
        <p:spPr>
          <a:xfrm>
            <a:off x="5734050" y="283845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0.070852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E9A7C5-2EEF-40E2-80D4-67F32AD418A5}"/>
              </a:ext>
            </a:extLst>
          </p:cNvPr>
          <p:cNvSpPr>
            <a:spLocks noGrp="1"/>
          </p:cNvSpPr>
          <p:nvPr/>
        </p:nvSpPr>
        <p:spPr>
          <a:xfrm>
            <a:off x="876300" y="3286125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1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drop-add-global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15A4C6-2234-4499-B35E-8EC8793AA7AD}"/>
              </a:ext>
            </a:extLst>
          </p:cNvPr>
          <p:cNvSpPr>
            <a:spLocks noGrp="1"/>
          </p:cNvSpPr>
          <p:nvPr/>
        </p:nvSpPr>
        <p:spPr>
          <a:xfrm>
            <a:off x="2667000" y="3352800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72356C-CC26-400B-B89C-516BF8D0D4E4}"/>
              </a:ext>
            </a:extLst>
          </p:cNvPr>
          <p:cNvSpPr>
            <a:spLocks noGrp="1"/>
          </p:cNvSpPr>
          <p:nvPr/>
        </p:nvSpPr>
        <p:spPr>
          <a:xfrm>
            <a:off x="2667000" y="3352800"/>
            <a:ext cx="310747" cy="1333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8793E5-35CF-45FB-81F0-1A011ABBA3B0}"/>
              </a:ext>
            </a:extLst>
          </p:cNvPr>
          <p:cNvSpPr>
            <a:spLocks noGrp="1"/>
          </p:cNvSpPr>
          <p:nvPr/>
        </p:nvSpPr>
        <p:spPr>
          <a:xfrm>
            <a:off x="5734050" y="326707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0.070193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B4759F-820E-4178-A9A6-453ACC02C558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drop-add-personal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2B1549-5B21-4AAE-B82E-F0FAE80D015F}"/>
              </a:ext>
            </a:extLst>
          </p:cNvPr>
          <p:cNvSpPr>
            <a:spLocks noGrp="1"/>
          </p:cNvSpPr>
          <p:nvPr/>
        </p:nvSpPr>
        <p:spPr>
          <a:xfrm>
            <a:off x="2667000" y="3781425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801E6D-BBCA-4F96-834C-2CF235EA5BF6}"/>
              </a:ext>
            </a:extLst>
          </p:cNvPr>
          <p:cNvSpPr>
            <a:spLocks noGrp="1"/>
          </p:cNvSpPr>
          <p:nvPr/>
        </p:nvSpPr>
        <p:spPr>
          <a:xfrm>
            <a:off x="2667000" y="3781425"/>
            <a:ext cx="639878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8FA4A95-077A-43DD-AF94-71C0F3B91A87}"/>
              </a:ext>
            </a:extLst>
          </p:cNvPr>
          <p:cNvSpPr>
            <a:spLocks noGrp="1"/>
          </p:cNvSpPr>
          <p:nvPr/>
        </p:nvSpPr>
        <p:spPr>
          <a:xfrm>
            <a:off x="5734050" y="369570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0.070927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5B25F6-65B1-477F-B931-688A70B87685}"/>
              </a:ext>
            </a:extLst>
          </p:cNvPr>
          <p:cNvSpPr>
            <a:spLocks noGrp="1"/>
          </p:cNvSpPr>
          <p:nvPr/>
        </p:nvSpPr>
        <p:spPr>
          <a:xfrm>
            <a:off x="876300" y="4143375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hybrid-global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AE2651-FDD9-486A-98FD-B5E623BF65C0}"/>
              </a:ext>
            </a:extLst>
          </p:cNvPr>
          <p:cNvSpPr>
            <a:spLocks noGrp="1"/>
          </p:cNvSpPr>
          <p:nvPr/>
        </p:nvSpPr>
        <p:spPr>
          <a:xfrm>
            <a:off x="2667000" y="4210050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5A3CDF-3F3A-4B44-B735-8249E5553249}"/>
              </a:ext>
            </a:extLst>
          </p:cNvPr>
          <p:cNvSpPr>
            <a:spLocks noGrp="1"/>
          </p:cNvSpPr>
          <p:nvPr/>
        </p:nvSpPr>
        <p:spPr>
          <a:xfrm>
            <a:off x="2667000" y="4210050"/>
            <a:ext cx="1177519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4DF083A-54A9-45C4-BC09-F314AA906905}"/>
              </a:ext>
            </a:extLst>
          </p:cNvPr>
          <p:cNvSpPr>
            <a:spLocks noGrp="1"/>
          </p:cNvSpPr>
          <p:nvPr/>
        </p:nvSpPr>
        <p:spPr>
          <a:xfrm>
            <a:off x="5734050" y="4124325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0.072126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7A8C86-835B-4A34-B8F0-AB2C10E369D3}"/>
              </a:ext>
            </a:extLst>
          </p:cNvPr>
          <p:cNvSpPr>
            <a:spLocks noGrp="1"/>
          </p:cNvSpPr>
          <p:nvPr/>
        </p:nvSpPr>
        <p:spPr>
          <a:xfrm>
            <a:off x="876300" y="4572000"/>
            <a:ext cx="17907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hybrid-personal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F735CD-EA74-4925-89FE-EA99F81AF0BA}"/>
              </a:ext>
            </a:extLst>
          </p:cNvPr>
          <p:cNvSpPr>
            <a:spLocks noGrp="1"/>
          </p:cNvSpPr>
          <p:nvPr/>
        </p:nvSpPr>
        <p:spPr>
          <a:xfrm>
            <a:off x="2667000" y="4638675"/>
            <a:ext cx="2914650" cy="133350"/>
          </a:xfrm>
          <a:prstGeom prst="rect">
            <a:avLst/>
          </a:prstGeom>
          <a:solidFill>
            <a:srgbClr val="E9DFC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14D1201-2B2A-4D44-92F4-71BB94D1FDB2}"/>
              </a:ext>
            </a:extLst>
          </p:cNvPr>
          <p:cNvSpPr>
            <a:spLocks noGrp="1"/>
          </p:cNvSpPr>
          <p:nvPr/>
        </p:nvSpPr>
        <p:spPr>
          <a:xfrm>
            <a:off x="2667000" y="4638675"/>
            <a:ext cx="2826314" cy="133350"/>
          </a:xfrm>
          <a:prstGeom prst="rect">
            <a:avLst/>
          </a:prstGeom>
          <a:solidFill>
            <a:srgbClr val="9F123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838060-B0EE-4816-BB29-E1EAFDC4CF5B}"/>
              </a:ext>
            </a:extLst>
          </p:cNvPr>
          <p:cNvSpPr>
            <a:spLocks noGrp="1"/>
          </p:cNvSpPr>
          <p:nvPr/>
        </p:nvSpPr>
        <p:spPr>
          <a:xfrm>
            <a:off x="5734050" y="455295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88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0.075803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73D9FC-6A41-4BCF-9704-AEB93E63085E}"/>
              </a:ext>
            </a:extLst>
          </p:cNvPr>
          <p:cNvSpPr>
            <a:spLocks noGrp="1"/>
          </p:cNvSpPr>
          <p:nvPr/>
        </p:nvSpPr>
        <p:spPr>
          <a:xfrm>
            <a:off x="6877050" y="2133600"/>
            <a:ext cx="3733800" cy="28765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255D29-CF02-4ECA-A252-01E3B775D6EA}"/>
              </a:ext>
            </a:extLst>
          </p:cNvPr>
          <p:cNvSpPr>
            <a:spLocks noGrp="1"/>
          </p:cNvSpPr>
          <p:nvPr/>
        </p:nvSpPr>
        <p:spPr>
          <a:xfrm>
            <a:off x="7162800" y="2381250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9F123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F1239"/>
                </a:solidFill>
                <a:latin typeface="Aptos"/>
                <a:ea typeface="Aptos"/>
                <a:cs typeface="Aptos"/>
              </a:rPr>
              <a:t>Fairness interpretation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C39DA-B1C3-40F1-9BD5-C9E3297F6FF8}"/>
              </a:ext>
            </a:extLst>
          </p:cNvPr>
          <p:cNvSpPr>
            <a:spLocks noGrp="1"/>
          </p:cNvSpPr>
          <p:nvPr/>
        </p:nvSpPr>
        <p:spPr>
          <a:xfrm>
            <a:off x="7181850" y="2857500"/>
            <a:ext cx="152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0.070193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75515D7-5DA2-4402-BCCC-410E0D09400A}"/>
              </a:ext>
            </a:extLst>
          </p:cNvPr>
          <p:cNvSpPr>
            <a:spLocks noGrp="1"/>
          </p:cNvSpPr>
          <p:nvPr/>
        </p:nvSpPr>
        <p:spPr>
          <a:xfrm>
            <a:off x="7200900" y="32766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lowest Avg G_total, drop-add-global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5F3DA7-5F78-4C0A-B8B4-31333D22E6CC}"/>
              </a:ext>
            </a:extLst>
          </p:cNvPr>
          <p:cNvSpPr>
            <a:spLocks noGrp="1"/>
          </p:cNvSpPr>
          <p:nvPr/>
        </p:nvSpPr>
        <p:spPr>
          <a:xfrm>
            <a:off x="7181850" y="3790950"/>
            <a:ext cx="152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9F123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9F1239"/>
                </a:solidFill>
                <a:latin typeface="Aptos Display"/>
                <a:ea typeface="Aptos Display"/>
                <a:cs typeface="Aptos Display"/>
              </a:rPr>
              <a:t>0.075803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FA8876-51CB-4710-9AC6-99BF9DA5BC93}"/>
              </a:ext>
            </a:extLst>
          </p:cNvPr>
          <p:cNvSpPr>
            <a:spLocks noGrp="1"/>
          </p:cNvSpPr>
          <p:nvPr/>
        </p:nvSpPr>
        <p:spPr>
          <a:xfrm>
            <a:off x="7200900" y="417195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highest Avg G_total, hybrid-personal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9A25B3C-A2AE-4D38-9B06-200D4F1B4B87}"/>
              </a:ext>
            </a:extLst>
          </p:cNvPr>
          <p:cNvSpPr>
            <a:spLocks noGrp="1"/>
          </p:cNvSpPr>
          <p:nvPr/>
        </p:nvSpPr>
        <p:spPr>
          <a:xfrm>
            <a:off x="7181850" y="4591050"/>
            <a:ext cx="2800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6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The best utility method is not the most equal method. The evaluation therefore needs both welfare and inequality metrics.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E22F4F3-A893-4A0B-9DD6-F2EF733E2ACB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E2A8A-34E9-473F-AB03-D7A4D5D6D4D0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Source: user screenshot table, Avg G_total column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82E2769-6B4C-4811-B8F0-F504FF7A920C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108905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F3A8A932-75D3-456D-B77C-965B9E7D8A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A3E494-8A38-4851-B2FC-00675D032DF0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360445-C197-4210-A510-479082B9759D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56616F"/>
                </a:solidFill>
                <a:latin typeface="Aptos"/>
                <a:ea typeface="Aptos"/>
                <a:cs typeface="Aptos"/>
              </a:rPr>
              <a:t>TRADE-OFF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A39584-A9D5-4B9A-A82D-94CC15C6665E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8953500" cy="838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The central empirical message is a utility-fairness trade-off.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6EDF50-4374-49E0-A958-A10E35043C1C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476500" cy="36195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5C02B-84E1-436B-959E-F3D9EF171E98}"/>
              </a:ext>
            </a:extLst>
          </p:cNvPr>
          <p:cNvSpPr>
            <a:spLocks noGrp="1"/>
          </p:cNvSpPr>
          <p:nvPr/>
        </p:nvSpPr>
        <p:spPr>
          <a:xfrm>
            <a:off x="1066800" y="229552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A34EE-89C7-4155-ACF2-3413714E93D2}"/>
              </a:ext>
            </a:extLst>
          </p:cNvPr>
          <p:cNvSpPr>
            <a:spLocks noGrp="1"/>
          </p:cNvSpPr>
          <p:nvPr/>
        </p:nvSpPr>
        <p:spPr>
          <a:xfrm>
            <a:off x="3467100" y="2190750"/>
            <a:ext cx="1333500" cy="36195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3927B8-235C-452C-BA1B-9F3EA02DD477}"/>
              </a:ext>
            </a:extLst>
          </p:cNvPr>
          <p:cNvSpPr>
            <a:spLocks noGrp="1"/>
          </p:cNvSpPr>
          <p:nvPr/>
        </p:nvSpPr>
        <p:spPr>
          <a:xfrm>
            <a:off x="3543300" y="229552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U rank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A3861E-75A8-492E-BEC5-DBD94D7B76FC}"/>
              </a:ext>
            </a:extLst>
          </p:cNvPr>
          <p:cNvSpPr>
            <a:spLocks noGrp="1"/>
          </p:cNvSpPr>
          <p:nvPr/>
        </p:nvSpPr>
        <p:spPr>
          <a:xfrm>
            <a:off x="4800600" y="2190750"/>
            <a:ext cx="1619250" cy="36195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D0CCB5-2D56-4D23-B03A-DE911CF926E3}"/>
              </a:ext>
            </a:extLst>
          </p:cNvPr>
          <p:cNvSpPr>
            <a:spLocks noGrp="1"/>
          </p:cNvSpPr>
          <p:nvPr/>
        </p:nvSpPr>
        <p:spPr>
          <a:xfrm>
            <a:off x="4876800" y="22955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G_total rank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C33BF5-58E4-4ECD-8A4B-B0E10F16D16A}"/>
              </a:ext>
            </a:extLst>
          </p:cNvPr>
          <p:cNvSpPr>
            <a:spLocks noGrp="1"/>
          </p:cNvSpPr>
          <p:nvPr/>
        </p:nvSpPr>
        <p:spPr>
          <a:xfrm>
            <a:off x="6419850" y="2190750"/>
            <a:ext cx="1619250" cy="36195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4AD6CF-C2E1-44BB-AFE3-746BA83235CF}"/>
              </a:ext>
            </a:extLst>
          </p:cNvPr>
          <p:cNvSpPr>
            <a:spLocks noGrp="1"/>
          </p:cNvSpPr>
          <p:nvPr/>
        </p:nvSpPr>
        <p:spPr>
          <a:xfrm>
            <a:off x="6496050" y="22955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Avg G_base rank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B0604F-51FF-4333-8611-6B0315E84B8F}"/>
              </a:ext>
            </a:extLst>
          </p:cNvPr>
          <p:cNvSpPr>
            <a:spLocks noGrp="1"/>
          </p:cNvSpPr>
          <p:nvPr/>
        </p:nvSpPr>
        <p:spPr>
          <a:xfrm>
            <a:off x="990600" y="2552700"/>
            <a:ext cx="2476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C3CEF-F472-403D-BA50-F44C38AD37AE}"/>
              </a:ext>
            </a:extLst>
          </p:cNvPr>
          <p:cNvSpPr>
            <a:spLocks noGrp="1"/>
          </p:cNvSpPr>
          <p:nvPr/>
        </p:nvSpPr>
        <p:spPr>
          <a:xfrm>
            <a:off x="1066800" y="265747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hybrid-global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228F11-4271-47F1-B7F8-AA2C3F391BAD}"/>
              </a:ext>
            </a:extLst>
          </p:cNvPr>
          <p:cNvSpPr>
            <a:spLocks noGrp="1"/>
          </p:cNvSpPr>
          <p:nvPr/>
        </p:nvSpPr>
        <p:spPr>
          <a:xfrm>
            <a:off x="3467100" y="2552700"/>
            <a:ext cx="1333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48BF2D-9ABC-43DE-A02C-56A653D8DCE1}"/>
              </a:ext>
            </a:extLst>
          </p:cNvPr>
          <p:cNvSpPr>
            <a:spLocks noGrp="1"/>
          </p:cNvSpPr>
          <p:nvPr/>
        </p:nvSpPr>
        <p:spPr>
          <a:xfrm>
            <a:off x="3543300" y="265747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6CF59E-CC5F-4ABE-81F8-5C7A88489E24}"/>
              </a:ext>
            </a:extLst>
          </p:cNvPr>
          <p:cNvSpPr>
            <a:spLocks noGrp="1"/>
          </p:cNvSpPr>
          <p:nvPr/>
        </p:nvSpPr>
        <p:spPr>
          <a:xfrm>
            <a:off x="4800600" y="25527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892EA3-E791-4BD3-AC46-BF1E7C9D25A0}"/>
              </a:ext>
            </a:extLst>
          </p:cNvPr>
          <p:cNvSpPr>
            <a:spLocks noGrp="1"/>
          </p:cNvSpPr>
          <p:nvPr/>
        </p:nvSpPr>
        <p:spPr>
          <a:xfrm>
            <a:off x="4876800" y="26574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D8B00A-7F2E-4C20-AD2F-E2FC0B12A621}"/>
              </a:ext>
            </a:extLst>
          </p:cNvPr>
          <p:cNvSpPr>
            <a:spLocks noGrp="1"/>
          </p:cNvSpPr>
          <p:nvPr/>
        </p:nvSpPr>
        <p:spPr>
          <a:xfrm>
            <a:off x="6419850" y="25527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0917B4-AD32-49D8-82B9-9FDF301651D7}"/>
              </a:ext>
            </a:extLst>
          </p:cNvPr>
          <p:cNvSpPr>
            <a:spLocks noGrp="1"/>
          </p:cNvSpPr>
          <p:nvPr/>
        </p:nvSpPr>
        <p:spPr>
          <a:xfrm>
            <a:off x="6496050" y="26574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B494F4-853B-4CF0-8B09-3D4068F3E917}"/>
              </a:ext>
            </a:extLst>
          </p:cNvPr>
          <p:cNvSpPr>
            <a:spLocks noGrp="1"/>
          </p:cNvSpPr>
          <p:nvPr/>
        </p:nvSpPr>
        <p:spPr>
          <a:xfrm>
            <a:off x="990600" y="2914650"/>
            <a:ext cx="2476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396B5-9E48-41FF-AA3B-DCF2666A6A68}"/>
              </a:ext>
            </a:extLst>
          </p:cNvPr>
          <p:cNvSpPr>
            <a:spLocks noGrp="1"/>
          </p:cNvSpPr>
          <p:nvPr/>
        </p:nvSpPr>
        <p:spPr>
          <a:xfrm>
            <a:off x="1066800" y="301942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swap-global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D8600D-A26B-4709-8270-4BE41A684809}"/>
              </a:ext>
            </a:extLst>
          </p:cNvPr>
          <p:cNvSpPr>
            <a:spLocks noGrp="1"/>
          </p:cNvSpPr>
          <p:nvPr/>
        </p:nvSpPr>
        <p:spPr>
          <a:xfrm>
            <a:off x="3467100" y="2914650"/>
            <a:ext cx="1333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1ED860-F30D-428F-81D1-769F33FCB1C9}"/>
              </a:ext>
            </a:extLst>
          </p:cNvPr>
          <p:cNvSpPr>
            <a:spLocks noGrp="1"/>
          </p:cNvSpPr>
          <p:nvPr/>
        </p:nvSpPr>
        <p:spPr>
          <a:xfrm>
            <a:off x="3543300" y="301942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7FD7F4-338E-4DB4-B26C-E57C36AD0A4E}"/>
              </a:ext>
            </a:extLst>
          </p:cNvPr>
          <p:cNvSpPr>
            <a:spLocks noGrp="1"/>
          </p:cNvSpPr>
          <p:nvPr/>
        </p:nvSpPr>
        <p:spPr>
          <a:xfrm>
            <a:off x="4800600" y="29146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F3A72D-E0D6-4BDA-B69B-B47461851A10}"/>
              </a:ext>
            </a:extLst>
          </p:cNvPr>
          <p:cNvSpPr>
            <a:spLocks noGrp="1"/>
          </p:cNvSpPr>
          <p:nvPr/>
        </p:nvSpPr>
        <p:spPr>
          <a:xfrm>
            <a:off x="4876800" y="30194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E52BC-581E-43D2-89EA-BB02ADFF0E6E}"/>
              </a:ext>
            </a:extLst>
          </p:cNvPr>
          <p:cNvSpPr>
            <a:spLocks noGrp="1"/>
          </p:cNvSpPr>
          <p:nvPr/>
        </p:nvSpPr>
        <p:spPr>
          <a:xfrm>
            <a:off x="6419850" y="29146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8F4EF93-49BA-4936-AEDB-310C27983892}"/>
              </a:ext>
            </a:extLst>
          </p:cNvPr>
          <p:cNvSpPr>
            <a:spLocks noGrp="1"/>
          </p:cNvSpPr>
          <p:nvPr/>
        </p:nvSpPr>
        <p:spPr>
          <a:xfrm>
            <a:off x="6496050" y="30194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689CF7-B19D-4B3F-8B92-6FD6FCF4EDC4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2476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F26A8C-38AD-4DEA-A5B4-65124923B25C}"/>
              </a:ext>
            </a:extLst>
          </p:cNvPr>
          <p:cNvSpPr>
            <a:spLocks noGrp="1"/>
          </p:cNvSpPr>
          <p:nvPr/>
        </p:nvSpPr>
        <p:spPr>
          <a:xfrm>
            <a:off x="1066800" y="338137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drop-add-global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A7FACE1-FCE2-4680-B545-9C33584672DB}"/>
              </a:ext>
            </a:extLst>
          </p:cNvPr>
          <p:cNvSpPr>
            <a:spLocks noGrp="1"/>
          </p:cNvSpPr>
          <p:nvPr/>
        </p:nvSpPr>
        <p:spPr>
          <a:xfrm>
            <a:off x="3467100" y="3276600"/>
            <a:ext cx="1333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D84368A-E2D5-4506-A3A1-7B5E5E0E0A86}"/>
              </a:ext>
            </a:extLst>
          </p:cNvPr>
          <p:cNvSpPr>
            <a:spLocks noGrp="1"/>
          </p:cNvSpPr>
          <p:nvPr/>
        </p:nvSpPr>
        <p:spPr>
          <a:xfrm>
            <a:off x="3543300" y="338137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535EDB6-BC7E-4222-AC50-6C37B7EAE687}"/>
              </a:ext>
            </a:extLst>
          </p:cNvPr>
          <p:cNvSpPr>
            <a:spLocks noGrp="1"/>
          </p:cNvSpPr>
          <p:nvPr/>
        </p:nvSpPr>
        <p:spPr>
          <a:xfrm>
            <a:off x="4800600" y="32766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746D03-6BFC-4714-86E7-9578F14A9043}"/>
              </a:ext>
            </a:extLst>
          </p:cNvPr>
          <p:cNvSpPr>
            <a:spLocks noGrp="1"/>
          </p:cNvSpPr>
          <p:nvPr/>
        </p:nvSpPr>
        <p:spPr>
          <a:xfrm>
            <a:off x="4876800" y="33813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3C39216-BBB6-4F54-B200-33DF820CA6DB}"/>
              </a:ext>
            </a:extLst>
          </p:cNvPr>
          <p:cNvSpPr>
            <a:spLocks noGrp="1"/>
          </p:cNvSpPr>
          <p:nvPr/>
        </p:nvSpPr>
        <p:spPr>
          <a:xfrm>
            <a:off x="6419850" y="32766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B3A89D-E4A3-4DD5-9499-30E21A202D9E}"/>
              </a:ext>
            </a:extLst>
          </p:cNvPr>
          <p:cNvSpPr>
            <a:spLocks noGrp="1"/>
          </p:cNvSpPr>
          <p:nvPr/>
        </p:nvSpPr>
        <p:spPr>
          <a:xfrm>
            <a:off x="6496050" y="33813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0D84F6-07CB-467F-A15B-0126EB1F2124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476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E5FFF67-4C66-4ED2-B69F-46DE5B8BD459}"/>
              </a:ext>
            </a:extLst>
          </p:cNvPr>
          <p:cNvSpPr>
            <a:spLocks noGrp="1"/>
          </p:cNvSpPr>
          <p:nvPr/>
        </p:nvSpPr>
        <p:spPr>
          <a:xfrm>
            <a:off x="1066800" y="374332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drop-add-personal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7867AFF-72B2-4E6A-8556-88074BB236B7}"/>
              </a:ext>
            </a:extLst>
          </p:cNvPr>
          <p:cNvSpPr>
            <a:spLocks noGrp="1"/>
          </p:cNvSpPr>
          <p:nvPr/>
        </p:nvSpPr>
        <p:spPr>
          <a:xfrm>
            <a:off x="3467100" y="3638550"/>
            <a:ext cx="1333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CC245-D80D-4067-925A-FD9130194C42}"/>
              </a:ext>
            </a:extLst>
          </p:cNvPr>
          <p:cNvSpPr>
            <a:spLocks noGrp="1"/>
          </p:cNvSpPr>
          <p:nvPr/>
        </p:nvSpPr>
        <p:spPr>
          <a:xfrm>
            <a:off x="3543300" y="374332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3D3377-3A8F-4CAA-B8B5-6C5BCD74AD28}"/>
              </a:ext>
            </a:extLst>
          </p:cNvPr>
          <p:cNvSpPr>
            <a:spLocks noGrp="1"/>
          </p:cNvSpPr>
          <p:nvPr/>
        </p:nvSpPr>
        <p:spPr>
          <a:xfrm>
            <a:off x="4800600" y="36385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FF7C2F1-4E80-47B2-883A-498BDC3DC143}"/>
              </a:ext>
            </a:extLst>
          </p:cNvPr>
          <p:cNvSpPr>
            <a:spLocks noGrp="1"/>
          </p:cNvSpPr>
          <p:nvPr/>
        </p:nvSpPr>
        <p:spPr>
          <a:xfrm>
            <a:off x="4876800" y="37433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8511907-8E90-4410-80F3-746642181D0D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73F6308-3212-4B84-8006-995CA9145C87}"/>
              </a:ext>
            </a:extLst>
          </p:cNvPr>
          <p:cNvSpPr>
            <a:spLocks noGrp="1"/>
          </p:cNvSpPr>
          <p:nvPr/>
        </p:nvSpPr>
        <p:spPr>
          <a:xfrm>
            <a:off x="6496050" y="37433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24A326B-7A59-4EB8-BA58-1ECCD9C5A364}"/>
              </a:ext>
            </a:extLst>
          </p:cNvPr>
          <p:cNvSpPr>
            <a:spLocks noGrp="1"/>
          </p:cNvSpPr>
          <p:nvPr/>
        </p:nvSpPr>
        <p:spPr>
          <a:xfrm>
            <a:off x="990600" y="4000500"/>
            <a:ext cx="2476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977D6BC-CC3E-4265-B570-DEECB31956EC}"/>
              </a:ext>
            </a:extLst>
          </p:cNvPr>
          <p:cNvSpPr>
            <a:spLocks noGrp="1"/>
          </p:cNvSpPr>
          <p:nvPr/>
        </p:nvSpPr>
        <p:spPr>
          <a:xfrm>
            <a:off x="1066800" y="410527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swap-personal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80C9E98-E787-4A92-B522-881C3A240624}"/>
              </a:ext>
            </a:extLst>
          </p:cNvPr>
          <p:cNvSpPr>
            <a:spLocks noGrp="1"/>
          </p:cNvSpPr>
          <p:nvPr/>
        </p:nvSpPr>
        <p:spPr>
          <a:xfrm>
            <a:off x="3467100" y="4000500"/>
            <a:ext cx="133350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A8D7E8-90A5-424D-9124-C2EBE0EBB629}"/>
              </a:ext>
            </a:extLst>
          </p:cNvPr>
          <p:cNvSpPr>
            <a:spLocks noGrp="1"/>
          </p:cNvSpPr>
          <p:nvPr/>
        </p:nvSpPr>
        <p:spPr>
          <a:xfrm>
            <a:off x="3543300" y="410527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DCE031B-7165-4746-B921-5F30BB9DAA95}"/>
              </a:ext>
            </a:extLst>
          </p:cNvPr>
          <p:cNvSpPr>
            <a:spLocks noGrp="1"/>
          </p:cNvSpPr>
          <p:nvPr/>
        </p:nvSpPr>
        <p:spPr>
          <a:xfrm>
            <a:off x="4800600" y="40005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B8F867-6DC8-4552-B198-6C0F2C3476D0}"/>
              </a:ext>
            </a:extLst>
          </p:cNvPr>
          <p:cNvSpPr>
            <a:spLocks noGrp="1"/>
          </p:cNvSpPr>
          <p:nvPr/>
        </p:nvSpPr>
        <p:spPr>
          <a:xfrm>
            <a:off x="4876800" y="41052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A4C16BD-22C1-4F5A-839D-64DF418A8EB2}"/>
              </a:ext>
            </a:extLst>
          </p:cNvPr>
          <p:cNvSpPr>
            <a:spLocks noGrp="1"/>
          </p:cNvSpPr>
          <p:nvPr/>
        </p:nvSpPr>
        <p:spPr>
          <a:xfrm>
            <a:off x="6419850" y="4000500"/>
            <a:ext cx="1619250" cy="3619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5CE9B9-1E93-47A8-AA6B-EC0503573821}"/>
              </a:ext>
            </a:extLst>
          </p:cNvPr>
          <p:cNvSpPr>
            <a:spLocks noGrp="1"/>
          </p:cNvSpPr>
          <p:nvPr/>
        </p:nvSpPr>
        <p:spPr>
          <a:xfrm>
            <a:off x="6496050" y="410527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9A1533D-4BAB-4932-B37D-7AEC7DAE7B51}"/>
              </a:ext>
            </a:extLst>
          </p:cNvPr>
          <p:cNvSpPr>
            <a:spLocks noGrp="1"/>
          </p:cNvSpPr>
          <p:nvPr/>
        </p:nvSpPr>
        <p:spPr>
          <a:xfrm>
            <a:off x="990600" y="4362450"/>
            <a:ext cx="2476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C01DC8-3C1E-454F-8DFB-3139FAFB4C77}"/>
              </a:ext>
            </a:extLst>
          </p:cNvPr>
          <p:cNvSpPr>
            <a:spLocks noGrp="1"/>
          </p:cNvSpPr>
          <p:nvPr/>
        </p:nvSpPr>
        <p:spPr>
          <a:xfrm>
            <a:off x="1066800" y="4467225"/>
            <a:ext cx="2324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hybrid-personal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9437AD8-C65A-49CA-8CF5-E81EAA5481EF}"/>
              </a:ext>
            </a:extLst>
          </p:cNvPr>
          <p:cNvSpPr>
            <a:spLocks noGrp="1"/>
          </p:cNvSpPr>
          <p:nvPr/>
        </p:nvSpPr>
        <p:spPr>
          <a:xfrm>
            <a:off x="3467100" y="4362450"/>
            <a:ext cx="1333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62C958-B31A-4ABD-9D9E-2736A6ED6865}"/>
              </a:ext>
            </a:extLst>
          </p:cNvPr>
          <p:cNvSpPr>
            <a:spLocks noGrp="1"/>
          </p:cNvSpPr>
          <p:nvPr/>
        </p:nvSpPr>
        <p:spPr>
          <a:xfrm>
            <a:off x="3543300" y="4467225"/>
            <a:ext cx="11811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17AA0BD-71EF-4E06-88FB-1E97DE332A86}"/>
              </a:ext>
            </a:extLst>
          </p:cNvPr>
          <p:cNvSpPr>
            <a:spLocks noGrp="1"/>
          </p:cNvSpPr>
          <p:nvPr/>
        </p:nvSpPr>
        <p:spPr>
          <a:xfrm>
            <a:off x="4800600" y="43624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262C814-8984-474C-A1DE-25E2CFF0B670}"/>
              </a:ext>
            </a:extLst>
          </p:cNvPr>
          <p:cNvSpPr>
            <a:spLocks noGrp="1"/>
          </p:cNvSpPr>
          <p:nvPr/>
        </p:nvSpPr>
        <p:spPr>
          <a:xfrm>
            <a:off x="4876800" y="44672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561DB5F-F855-4FFD-987F-CAD2932E2238}"/>
              </a:ext>
            </a:extLst>
          </p:cNvPr>
          <p:cNvSpPr>
            <a:spLocks noGrp="1"/>
          </p:cNvSpPr>
          <p:nvPr/>
        </p:nvSpPr>
        <p:spPr>
          <a:xfrm>
            <a:off x="6419850" y="4362450"/>
            <a:ext cx="16192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9F23DB-D814-449F-8666-37A69315978E}"/>
              </a:ext>
            </a:extLst>
          </p:cNvPr>
          <p:cNvSpPr>
            <a:spLocks noGrp="1"/>
          </p:cNvSpPr>
          <p:nvPr/>
        </p:nvSpPr>
        <p:spPr>
          <a:xfrm>
            <a:off x="6496050" y="4467225"/>
            <a:ext cx="1466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7212E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17212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3B65132-D5AF-4901-B28F-F12DBF88A84D}"/>
              </a:ext>
            </a:extLst>
          </p:cNvPr>
          <p:cNvSpPr>
            <a:spLocks noGrp="1"/>
          </p:cNvSpPr>
          <p:nvPr/>
        </p:nvSpPr>
        <p:spPr>
          <a:xfrm>
            <a:off x="8343900" y="2324100"/>
            <a:ext cx="2552700" cy="2381250"/>
          </a:xfrm>
          <a:prstGeom prst="rect">
            <a:avLst/>
          </a:prstGeom>
          <a:solidFill>
            <a:srgbClr val="17212E"/>
          </a:solidFill>
          <a:ln w="9525">
            <a:solidFill>
              <a:srgbClr val="1721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6954527-5004-4761-93BB-6F58C5A48F6A}"/>
              </a:ext>
            </a:extLst>
          </p:cNvPr>
          <p:cNvSpPr>
            <a:spLocks noGrp="1"/>
          </p:cNvSpPr>
          <p:nvPr/>
        </p:nvSpPr>
        <p:spPr>
          <a:xfrm>
            <a:off x="8629650" y="259080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C7D7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7D7EA"/>
                </a:solidFill>
                <a:latin typeface="Aptos"/>
                <a:ea typeface="Aptos"/>
                <a:cs typeface="Aptos"/>
              </a:rPr>
              <a:t>Takeaway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179E734-985C-4701-A106-D8D4EA26D9DC}"/>
              </a:ext>
            </a:extLst>
          </p:cNvPr>
          <p:cNvSpPr>
            <a:spLocks noGrp="1"/>
          </p:cNvSpPr>
          <p:nvPr/>
        </p:nvSpPr>
        <p:spPr>
          <a:xfrm>
            <a:off x="8629650" y="2990850"/>
            <a:ext cx="18859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Hybrid-global is best if the priority is utility.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B4C59940-CA64-40C1-8F56-FE6930835720}"/>
              </a:ext>
            </a:extLst>
          </p:cNvPr>
          <p:cNvSpPr>
            <a:spLocks noGrp="1"/>
          </p:cNvSpPr>
          <p:nvPr/>
        </p:nvSpPr>
        <p:spPr>
          <a:xfrm>
            <a:off x="8629650" y="3638550"/>
            <a:ext cx="1943100" cy="9525"/>
          </a:xfrm>
          <a:prstGeom prst="rect">
            <a:avLst/>
          </a:prstGeom>
          <a:solidFill>
            <a:srgbClr val="415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407ED5D-832F-476F-A3BA-4E428372EF41}"/>
              </a:ext>
            </a:extLst>
          </p:cNvPr>
          <p:cNvSpPr>
            <a:spLocks noGrp="1"/>
          </p:cNvSpPr>
          <p:nvPr/>
        </p:nvSpPr>
        <p:spPr>
          <a:xfrm>
            <a:off x="8629650" y="3886200"/>
            <a:ext cx="18859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F1D49D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D49D"/>
                </a:solidFill>
                <a:latin typeface="Aptos Display"/>
                <a:ea typeface="Aptos Display"/>
                <a:cs typeface="Aptos Display"/>
              </a:rPr>
              <a:t>Drop-add-global is best if the priority is average total equality.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D270CA0-7422-4881-A9AC-9AD0568B9700}"/>
              </a:ext>
            </a:extLst>
          </p:cNvPr>
          <p:cNvSpPr>
            <a:spLocks noGrp="1"/>
          </p:cNvSpPr>
          <p:nvPr/>
        </p:nvSpPr>
        <p:spPr>
          <a:xfrm>
            <a:off x="1695450" y="5257800"/>
            <a:ext cx="8782050" cy="400050"/>
          </a:xfrm>
          <a:prstGeom prst="rect">
            <a:avLst/>
          </a:prstGeom>
          <a:solidFill>
            <a:srgbClr val="FFFCF4"/>
          </a:solidFill>
          <a:ln w="9525">
            <a:solidFill>
              <a:srgbClr val="D7CDB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C551C6B-53C2-4FB7-BC8B-14EDE95B5002}"/>
              </a:ext>
            </a:extLst>
          </p:cNvPr>
          <p:cNvSpPr>
            <a:spLocks noGrp="1"/>
          </p:cNvSpPr>
          <p:nvPr/>
        </p:nvSpPr>
        <p:spPr>
          <a:xfrm>
            <a:off x="2038350" y="5381625"/>
            <a:ext cx="8096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defRPr>
            </a:pPr>
            <a:r>
              <a:rPr sz="1013" b="1">
                <a:solidFill>
                  <a:srgbClr val="17212E"/>
                </a:solidFill>
                <a:latin typeface="Aptos Display"/>
                <a:ea typeface="Aptos Display"/>
                <a:cs typeface="Aptos Display"/>
              </a:rPr>
              <a:t>This is exactly why the contribution is experimental: the model exposes choices that cannot be reduced to one metric.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C2C8A89-C4C0-45A2-B4E4-883543E18F8A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D7CDB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D4A0641-74D9-426C-90D6-9460404EF99D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7A6E60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7A6E60"/>
                </a:solidFill>
                <a:latin typeface="Aptos"/>
                <a:ea typeface="Aptos"/>
                <a:cs typeface="Aptos"/>
              </a:rPr>
              <a:t>Ranks computed from screenshot table: higher utility is better, lower Gini is better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880BDFF-480F-4533-9848-4006A278CF33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6616F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6616F"/>
                </a:solidFill>
                <a:latin typeface="Aptos"/>
                <a:ea typeface="Aptos"/>
                <a:cs typeface="Aptos"/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1419696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471B00-E1BF-42DE-9B51-804544379B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21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29F853-8C8B-4F3E-BB42-DC4F9B1BDB50}"/>
              </a:ext>
            </a:extLst>
          </p:cNvPr>
          <p:cNvSpPr>
            <a:spLocks noGrp="1"/>
          </p:cNvSpPr>
          <p:nvPr/>
        </p:nvSpPr>
        <p:spPr>
          <a:xfrm>
            <a:off x="552450" y="476250"/>
            <a:ext cx="57150" cy="209550"/>
          </a:xfrm>
          <a:prstGeom prst="rect">
            <a:avLst/>
          </a:prstGeom>
          <a:solidFill>
            <a:srgbClr val="F1D49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BEE397-1F5C-4A21-BB4C-4A21B4FDBFA1}"/>
              </a:ext>
            </a:extLst>
          </p:cNvPr>
          <p:cNvSpPr>
            <a:spLocks noGrp="1"/>
          </p:cNvSpPr>
          <p:nvPr/>
        </p:nvSpPr>
        <p:spPr>
          <a:xfrm>
            <a:off x="704850" y="466725"/>
            <a:ext cx="571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l">
              <a:defRPr sz="713" b="1">
                <a:solidFill>
                  <a:srgbClr val="C7D7EA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C7D7EA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80F2D3-D18F-4039-8520-C78CDF0E0FF5}"/>
              </a:ext>
            </a:extLst>
          </p:cNvPr>
          <p:cNvSpPr>
            <a:spLocks noGrp="1"/>
          </p:cNvSpPr>
          <p:nvPr/>
        </p:nvSpPr>
        <p:spPr>
          <a:xfrm>
            <a:off x="552450" y="895350"/>
            <a:ext cx="9906000" cy="1028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Friendship-aware allocation turns course choice into a measurable social design problem.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FA9373-BA76-423A-9F2A-7A09A1BB9BB3}"/>
              </a:ext>
            </a:extLst>
          </p:cNvPr>
          <p:cNvSpPr>
            <a:spLocks noGrp="1"/>
          </p:cNvSpPr>
          <p:nvPr/>
        </p:nvSpPr>
        <p:spPr>
          <a:xfrm>
            <a:off x="952500" y="2571750"/>
            <a:ext cx="2667000" cy="1581150"/>
          </a:xfrm>
          <a:prstGeom prst="rect">
            <a:avLst/>
          </a:prstGeom>
          <a:solidFill>
            <a:srgbClr val="223044"/>
          </a:solidFill>
          <a:ln w="9525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52CBA5-C018-4D70-A034-3F9DF43CD865}"/>
              </a:ext>
            </a:extLst>
          </p:cNvPr>
          <p:cNvSpPr>
            <a:spLocks noGrp="1"/>
          </p:cNvSpPr>
          <p:nvPr/>
        </p:nvSpPr>
        <p:spPr>
          <a:xfrm>
            <a:off x="1181100" y="28003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BFE3D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FE3DC"/>
                </a:solidFill>
                <a:latin typeface="Aptos Display"/>
                <a:ea typeface="Aptos Display"/>
                <a:cs typeface="Aptos Display"/>
              </a:rPr>
              <a:t>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7E77CF-FCF1-43FA-9E64-8CE4344C47F1}"/>
              </a:ext>
            </a:extLst>
          </p:cNvPr>
          <p:cNvSpPr>
            <a:spLocks noGrp="1"/>
          </p:cNvSpPr>
          <p:nvPr/>
        </p:nvSpPr>
        <p:spPr>
          <a:xfrm>
            <a:off x="1181100" y="3257550"/>
            <a:ext cx="2095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Directed friendship preferences enter the utility function through lambda-weighted social value.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ADEC90-F25E-4EC5-99D2-7E66E8D08B7E}"/>
              </a:ext>
            </a:extLst>
          </p:cNvPr>
          <p:cNvSpPr>
            <a:spLocks noGrp="1"/>
          </p:cNvSpPr>
          <p:nvPr/>
        </p:nvSpPr>
        <p:spPr>
          <a:xfrm>
            <a:off x="4343400" y="2571750"/>
            <a:ext cx="2667000" cy="1581150"/>
          </a:xfrm>
          <a:prstGeom prst="rect">
            <a:avLst/>
          </a:prstGeom>
          <a:solidFill>
            <a:srgbClr val="223044"/>
          </a:solidFill>
          <a:ln w="9525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E2B64E-B607-458E-932E-D220A5125809}"/>
              </a:ext>
            </a:extLst>
          </p:cNvPr>
          <p:cNvSpPr>
            <a:spLocks noGrp="1"/>
          </p:cNvSpPr>
          <p:nvPr/>
        </p:nvSpPr>
        <p:spPr>
          <a:xfrm>
            <a:off x="4572000" y="28003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F1D49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1D49D"/>
                </a:solidFill>
                <a:latin typeface="Aptos Display"/>
                <a:ea typeface="Aptos Display"/>
                <a:cs typeface="Aptos Display"/>
              </a:rPr>
              <a:t>Mechanism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B9A528-E64B-47B0-AB69-987AD32592D5}"/>
              </a:ext>
            </a:extLst>
          </p:cNvPr>
          <p:cNvSpPr>
            <a:spLocks noGrp="1"/>
          </p:cNvSpPr>
          <p:nvPr/>
        </p:nvSpPr>
        <p:spPr>
          <a:xfrm>
            <a:off x="4572000" y="3257550"/>
            <a:ext cx="2095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Reactive utility keeps each draft pick well-defined, deterministic, and feasible.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B21770-BCB9-4F7E-93DD-353508E08675}"/>
              </a:ext>
            </a:extLst>
          </p:cNvPr>
          <p:cNvSpPr>
            <a:spLocks noGrp="1"/>
          </p:cNvSpPr>
          <p:nvPr/>
        </p:nvSpPr>
        <p:spPr>
          <a:xfrm>
            <a:off x="7734300" y="2571750"/>
            <a:ext cx="2667000" cy="1581150"/>
          </a:xfrm>
          <a:prstGeom prst="rect">
            <a:avLst/>
          </a:prstGeom>
          <a:solidFill>
            <a:srgbClr val="223044"/>
          </a:solidFill>
          <a:ln w="9525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216B94-8AE6-4D9A-868D-4CD7E7F2ED39}"/>
              </a:ext>
            </a:extLst>
          </p:cNvPr>
          <p:cNvSpPr>
            <a:spLocks noGrp="1"/>
          </p:cNvSpPr>
          <p:nvPr/>
        </p:nvSpPr>
        <p:spPr>
          <a:xfrm>
            <a:off x="7962900" y="2800350"/>
            <a:ext cx="133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E9B8C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E9B8C6"/>
                </a:solidFill>
                <a:latin typeface="Aptos Display"/>
                <a:ea typeface="Aptos Display"/>
                <a:cs typeface="Aptos Display"/>
              </a:rPr>
              <a:t>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3A7CC4-7143-4791-80E1-42AD76CC9BAC}"/>
              </a:ext>
            </a:extLst>
          </p:cNvPr>
          <p:cNvSpPr>
            <a:spLocks noGrp="1"/>
          </p:cNvSpPr>
          <p:nvPr/>
        </p:nvSpPr>
        <p:spPr>
          <a:xfrm>
            <a:off x="7962900" y="3257550"/>
            <a:ext cx="20955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Hybrid-global maximizes average utility; drop-add-global gives the lowest average total Gini.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191B5D-BF9F-4DF8-8D6E-9DDBB95F559D}"/>
              </a:ext>
            </a:extLst>
          </p:cNvPr>
          <p:cNvSpPr>
            <a:spLocks noGrp="1"/>
          </p:cNvSpPr>
          <p:nvPr/>
        </p:nvSpPr>
        <p:spPr>
          <a:xfrm>
            <a:off x="1428750" y="4953000"/>
            <a:ext cx="9334500" cy="9525"/>
          </a:xfrm>
          <a:prstGeom prst="rect">
            <a:avLst/>
          </a:prstGeom>
          <a:solidFill>
            <a:srgbClr val="415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BE0779-A24E-4635-94F5-DC130982C58C}"/>
              </a:ext>
            </a:extLst>
          </p:cNvPr>
          <p:cNvSpPr>
            <a:spLocks noGrp="1"/>
          </p:cNvSpPr>
          <p:nvPr/>
        </p:nvSpPr>
        <p:spPr>
          <a:xfrm>
            <a:off x="1581150" y="5219700"/>
            <a:ext cx="133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1D49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1D49D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7DDB9B-DDEE-4919-B5FC-9B1AA3276B32}"/>
              </a:ext>
            </a:extLst>
          </p:cNvPr>
          <p:cNvSpPr>
            <a:spLocks noGrp="1"/>
          </p:cNvSpPr>
          <p:nvPr/>
        </p:nvSpPr>
        <p:spPr>
          <a:xfrm>
            <a:off x="3086100" y="5200650"/>
            <a:ext cx="723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D9E2EF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D9E2EF"/>
                </a:solidFill>
                <a:latin typeface="Aptos Display"/>
                <a:ea typeface="Aptos Display"/>
                <a:cs typeface="Aptos Display"/>
              </a:rPr>
              <a:t>real enrollment data  |  strategic friendship reports  |  welfare-fairness frontier  |  theoretical guarantees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28BE62-839D-4062-956A-31DFDDDD605D}"/>
              </a:ext>
            </a:extLst>
          </p:cNvPr>
          <p:cNvSpPr>
            <a:spLocks noGrp="1"/>
          </p:cNvSpPr>
          <p:nvPr/>
        </p:nvSpPr>
        <p:spPr>
          <a:xfrm>
            <a:off x="552450" y="6362700"/>
            <a:ext cx="11087100" cy="9525"/>
          </a:xfrm>
          <a:prstGeom prst="rect">
            <a:avLst/>
          </a:prstGeom>
          <a:solidFill>
            <a:srgbClr val="41516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B17596-2F11-463A-ADC6-2A3D76B7A6D7}"/>
              </a:ext>
            </a:extLst>
          </p:cNvPr>
          <p:cNvSpPr>
            <a:spLocks noGrp="1"/>
          </p:cNvSpPr>
          <p:nvPr/>
        </p:nvSpPr>
        <p:spPr>
          <a:xfrm>
            <a:off x="552450" y="6496050"/>
            <a:ext cx="8096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38" b="0">
                <a:solidFill>
                  <a:srgbClr val="9FB0C5"/>
                </a:solidFill>
                <a:latin typeface="Aptos"/>
                <a:ea typeface="Aptos"/>
                <a:cs typeface="Aptos"/>
              </a:defRPr>
            </a:pPr>
            <a:r>
              <a:rPr sz="638" b="0">
                <a:solidFill>
                  <a:srgbClr val="9FB0C5"/>
                </a:solidFill>
                <a:latin typeface="Aptos"/>
                <a:ea typeface="Aptos"/>
                <a:cs typeface="Aptos"/>
              </a:rPr>
              <a:t>Synthesis from project sources and latest screenshot batch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D55EB23-5E45-44B0-A9BE-7694DD0D66E0}"/>
              </a:ext>
            </a:extLst>
          </p:cNvPr>
          <p:cNvSpPr>
            <a:spLocks noGrp="1"/>
          </p:cNvSpPr>
          <p:nvPr/>
        </p:nvSpPr>
        <p:spPr>
          <a:xfrm>
            <a:off x="11049000" y="6496050"/>
            <a:ext cx="5905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C7D7EA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C7D7EA"/>
                </a:solidFill>
                <a:latin typeface="Aptos"/>
                <a:ea typeface="Aptos"/>
                <a:cs typeface="Aptos"/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3593579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804</Words>
  <Application>Microsoft Macintosh PowerPoint</Application>
  <DocSecurity>0</DocSecurity>
  <PresentationFormat>Widescreen</PresentationFormat>
  <Paragraphs>193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יוסף סוקולוב</cp:lastModifiedBy>
  <cp:revision>1</cp:revision>
  <dcterms:created xsi:type="dcterms:W3CDTF">2026-05-06T20:59:21Z</dcterms:created>
  <dcterms:modified xsi:type="dcterms:W3CDTF">2026-05-07T07:15:42Z</dcterms:modified>
</cp:coreProperties>
</file>