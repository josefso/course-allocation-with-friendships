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00ceffbd4412c" /><Relationship Type="http://schemas.openxmlformats.org/officeDocument/2006/relationships/extended-properties" Target="/docProps/app.xml" Id="R1df6d568fd28408e" /><Relationship Type="http://schemas.openxmlformats.org/officeDocument/2006/relationships/officeDocument" Target="/ppt/presentation.xml" Id="R1bfa76b8e49f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115fd57234e99"/>
  </p:sldMasterIdLst>
  <p:notesMasterIdLst>
    <p:notesMasterId xmlns:r="http://schemas.openxmlformats.org/officeDocument/2006/relationships" r:id="R6603a404504a4920"/>
  </p:notesMasterIdLst>
  <p:sldIdLst>
    <p:sldId xmlns:r="http://schemas.openxmlformats.org/officeDocument/2006/relationships" id="256" r:id="R91ad4a4702754834"/>
    <p:sldId xmlns:r="http://schemas.openxmlformats.org/officeDocument/2006/relationships" id="257" r:id="R806cd7c5dc6449bb"/>
    <p:sldId xmlns:r="http://schemas.openxmlformats.org/officeDocument/2006/relationships" id="258" r:id="Ra79aec7cf4ba4feb"/>
    <p:sldId xmlns:r="http://schemas.openxmlformats.org/officeDocument/2006/relationships" id="259" r:id="Rc5b7e3fe7bf044d1"/>
    <p:sldId xmlns:r="http://schemas.openxmlformats.org/officeDocument/2006/relationships" id="260" r:id="Rdf93c53672bd40cf"/>
    <p:sldId xmlns:r="http://schemas.openxmlformats.org/officeDocument/2006/relationships" id="261" r:id="Reaa5576056614d7e"/>
    <p:sldId xmlns:r="http://schemas.openxmlformats.org/officeDocument/2006/relationships" id="262" r:id="R0b0fd4a5c02046fe"/>
    <p:sldId xmlns:r="http://schemas.openxmlformats.org/officeDocument/2006/relationships" id="263" r:id="R120660758df8471f"/>
    <p:sldId xmlns:r="http://schemas.openxmlformats.org/officeDocument/2006/relationships" id="264" r:id="R7e5ee97d55b342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115fd57234e99" /><Relationship Type="http://schemas.openxmlformats.org/officeDocument/2006/relationships/theme" Target="/ppt/theme/theme1.xml" Id="Rdf8e80afec14456b" /><Relationship Type="http://schemas.openxmlformats.org/officeDocument/2006/relationships/notesMaster" Target="/ppt/notesMasters/notesMaster1.xml" Id="R6603a404504a4920" /><Relationship Type="http://schemas.openxmlformats.org/officeDocument/2006/relationships/presProps" Target="/ppt/presProps.xml" Id="Rd51d736bd6a14101" /><Relationship Type="http://schemas.openxmlformats.org/officeDocument/2006/relationships/viewProps" Target="/ppt/viewProps.xml" Id="Rd5b7ccf7c56e4bca" /><Relationship Type="http://schemas.openxmlformats.org/officeDocument/2006/relationships/tableStyles" Target="/ppt/tableStyles.xml" Id="R3010d8c16c2e4443" /><Relationship Type="http://schemas.openxmlformats.org/officeDocument/2006/relationships/slide" Target="/ppt/slides/slide1.xml" Id="R91ad4a4702754834" /><Relationship Type="http://schemas.openxmlformats.org/officeDocument/2006/relationships/slide" Target="/ppt/slides/slide2.xml" Id="R806cd7c5dc6449bb" /><Relationship Type="http://schemas.openxmlformats.org/officeDocument/2006/relationships/slide" Target="/ppt/slides/slide3.xml" Id="Ra79aec7cf4ba4feb" /><Relationship Type="http://schemas.openxmlformats.org/officeDocument/2006/relationships/slide" Target="/ppt/slides/slide4.xml" Id="Rc5b7e3fe7bf044d1" /><Relationship Type="http://schemas.openxmlformats.org/officeDocument/2006/relationships/slide" Target="/ppt/slides/slide5.xml" Id="Rdf93c53672bd40cf" /><Relationship Type="http://schemas.openxmlformats.org/officeDocument/2006/relationships/slide" Target="/ppt/slides/slide6.xml" Id="Reaa5576056614d7e" /><Relationship Type="http://schemas.openxmlformats.org/officeDocument/2006/relationships/slide" Target="/ppt/slides/slide7.xml" Id="R0b0fd4a5c02046fe" /><Relationship Type="http://schemas.openxmlformats.org/officeDocument/2006/relationships/slide" Target="/ppt/slides/slide8.xml" Id="R120660758df8471f" /><Relationship Type="http://schemas.openxmlformats.org/officeDocument/2006/relationships/slide" Target="/ppt/slides/slide9.xml" Id="R7e5ee97d55b3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0032f075c144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4f69f7b434184" /><Relationship Type="http://schemas.openxmlformats.org/officeDocument/2006/relationships/notesMaster" Target="/ppt/notesMasters/notesMaster1.xml" Id="Rf24f88c3fe9e44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535e3f4cec42fe" /><Relationship Type="http://schemas.openxmlformats.org/officeDocument/2006/relationships/notesMaster" Target="/ppt/notesMasters/notesMaster1.xml" Id="R0bac1b7e6d0f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4ba076ae04cff" /><Relationship Type="http://schemas.openxmlformats.org/officeDocument/2006/relationships/notesMaster" Target="/ppt/notesMasters/notesMaster1.xml" Id="R9e8f47ce6159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1d909640b04559" /><Relationship Type="http://schemas.openxmlformats.org/officeDocument/2006/relationships/notesMaster" Target="/ppt/notesMasters/notesMaster1.xml" Id="Rd9fae6696988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4167bd5aeb4df5" /><Relationship Type="http://schemas.openxmlformats.org/officeDocument/2006/relationships/notesMaster" Target="/ppt/notesMasters/notesMaster1.xml" Id="R5accc2d03039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6d4e8128964990" /><Relationship Type="http://schemas.openxmlformats.org/officeDocument/2006/relationships/notesMaster" Target="/ppt/notesMasters/notesMaster1.xml" Id="R1e955543f365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6dc03494c14aae" /><Relationship Type="http://schemas.openxmlformats.org/officeDocument/2006/relationships/notesMaster" Target="/ppt/notesMasters/notesMaster1.xml" Id="Re89f708c74a2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3c3b4d6d24b93" /><Relationship Type="http://schemas.openxmlformats.org/officeDocument/2006/relationships/notesMaster" Target="/ppt/notesMasters/notesMaster1.xml" Id="R181ee7ecdd1447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a4e0ee3fe14852" /><Relationship Type="http://schemas.openxmlformats.org/officeDocument/2006/relationships/notesMaster" Target="/ppt/notesMasters/notesMaster1.xml" Id="R535eccd65d13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5fda7a0444c1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3eb48c77e6e4173" /><Relationship Type="http://schemas.openxmlformats.org/officeDocument/2006/relationships/slideLayout" Target="/ppt/slideLayouts/slideLayout2.xml" Id="Re0d47d949c0d47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d47d949c0d47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b749a8de89418c" /><Relationship Type="http://schemas.openxmlformats.org/officeDocument/2006/relationships/notesSlide" Target="/ppt/notesSlides/notesSlide1.xml" Id="R11eccb62e1b643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157dd34614a54" /><Relationship Type="http://schemas.openxmlformats.org/officeDocument/2006/relationships/notesSlide" Target="/ppt/notesSlides/notesSlide2.xml" Id="R3d859d5f6a72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2d010ebed4291" /><Relationship Type="http://schemas.openxmlformats.org/officeDocument/2006/relationships/notesSlide" Target="/ppt/notesSlides/notesSlide3.xml" Id="R09b4ea07ad4f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5dc3daf9c4700" /><Relationship Type="http://schemas.openxmlformats.org/officeDocument/2006/relationships/notesSlide" Target="/ppt/notesSlides/notesSlide4.xml" Id="R78a114f717a0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53f3f420df4162" /><Relationship Type="http://schemas.openxmlformats.org/officeDocument/2006/relationships/notesSlide" Target="/ppt/notesSlides/notesSlide5.xml" Id="Rf6e9f6b51743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90de24d00d49d5" /><Relationship Type="http://schemas.openxmlformats.org/officeDocument/2006/relationships/notesSlide" Target="/ppt/notesSlides/notesSlide6.xml" Id="R4af6eb2671e54f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d12e080c347b2" /><Relationship Type="http://schemas.openxmlformats.org/officeDocument/2006/relationships/notesSlide" Target="/ppt/notesSlides/notesSlide7.xml" Id="Rfefce2221df24f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e922785de4fe3" /><Relationship Type="http://schemas.openxmlformats.org/officeDocument/2006/relationships/notesSlide" Target="/ppt/notesSlides/notesSlide8.xml" Id="R2074a4fa3a2f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3026402d1f429a" /><Relationship Type="http://schemas.openxmlformats.org/officeDocument/2006/relationships/notesSlide" Target="/ppt/notesSlides/notesSlide9.xml" Id="Rbe4e0c38b79b4b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09B25-C991-4554-8B78-9B6662A6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C723D-E32A-49DA-8884-8922461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E3FB-1E37-46AF-80DE-F52FB12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FRIENDSHIP-AWARE COURSE ALLOCATION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31A90-4645-4F44-85F9-45C50FD9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Course allocation becomes a social mechanism when friends enter the utility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52785-F773-4FE8-8DD5-762B2349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 deterministic HBS-style draft is extended with directed friendship preferences and a post-allocation improvement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3F33A-FD99-429C-93CA-49231801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AC373-48D1-45FA-91E0-BD52641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Main empirical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89715-A369-474F-912E-12D3989B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2305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hybrid-global wins on average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9E601-725A-47E0-89BE-87FF780E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9E2E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9E2EF"/>
                </a:solidFill>
                <a:latin typeface="Aptos"/>
                <a:ea typeface="Aptos"/>
                <a:cs typeface="Aptos"/>
              </a:rPr>
              <a:t>Avg U = 365.025017 across 30 runs per mode.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DE6B4-CA8E-4A23-8B77-3ED81CED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07652-885A-480B-A287-C6C8907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1D4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D49D"/>
                </a:solidFill>
                <a:latin typeface="Aptos"/>
                <a:ea typeface="Aptos"/>
                <a:cs typeface="Aptos"/>
              </a:rPr>
              <a:t>Shortest version: model -&gt; method -&gt;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C1099-1680-4A6C-92EE-E1BF892D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DB8AD-60E3-413A-B5A4-CD4BF9B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D733C-770C-48C2-8D90-EFBB13D4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completed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9492C-69AD-44B5-935E-C8E8148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7978A-F04E-4172-8788-030F9C29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23E70-FE4B-45F0-90C8-6450747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allocation modes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CA9A2-0818-41BC-87DB-5782EF7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950D8-62E3-4263-AD09-166FF80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338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20-49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C4661-4322-49ED-8746-CDFFEF9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 range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13BDF-DDF1-4720-A9F3-FEA6234C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DD3FC-B691-4898-849D-0028CDBB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6B334-4ABB-47EC-83FA-2A91CB9A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38775"/>
            <a:ext cx="733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Friendship is not just contextual information; it changes the objective landscape of course allocation.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EE2CC-CF8D-4D16-8C34-1D8F3C74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6180E8-3ECA-4B3C-B5DA-930B6891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Sources: README.md; user result screenshots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D1CF3-40C9-4B7E-AE90-EA537CA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1245137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C50E3-1596-42C9-B8BD-FBA28F5E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64259-E480-49A6-A05F-DFA7522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8B2DB-605D-4191-9423-92A09AA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RESEARCH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25D8B-030C-439A-9DEA-48C4B70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Classical course allocation usually treats students as independent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22022-3593-43D6-B388-77EFD16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028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6E051-5BE7-4C4E-8303-D9B4CD9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CLASSICAL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CE9F3-EB77-4178-AA96-5818ADC2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686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Assign feasible bundles of indivisible course seats under capacity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D9A81-DA07-4C56-B0CB-A5F056B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028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8384B-526F-4002-9848-A653328C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MISSING EXTERNALITY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60CD2-0521-4C92-989D-C1F32307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686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Students may care not only about courses, but also about attending them with friends.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1DBCA-454E-4FD5-B9CC-CBDBA50A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3028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632C4-2E9C-41E1-BEF0-DA1211C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MOVE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D793F-3A9D-4FFC-8D6F-66583D60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686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Add a directed friendship term to utility, then evaluate welfare and fairness trade-offs.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47B8A-764F-4556-8BA7-F9135393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14900"/>
            <a:ext cx="887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EC8A7-2660-4F55-B1B2-5487405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48250"/>
            <a:ext cx="822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Academic framing: this is a one-sided combinatorial assignment problem with social preferences.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592EF-087F-4604-92AA-9E1DBA7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FF765-AA25-4433-9063-3B2B8601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course_allocation_abstract_review.txt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8AEEB-2410-43F3-B0CB-1E81C7E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8080764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F5F26-C292-4101-BB38-220F23F7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3ECB6-77A0-4657-A041-9B86641A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6650C-0242-41CA-A678-20EE52E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FORMAL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3AC6-3E7D-4098-AD14-37CA979A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Utility combines course rankings, directed friendship preferences, and a social weight.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B105F-D07A-420C-A888-428397C1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65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21A04-343F-409A-854C-F060BA64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5A716-7E0A-49B9-8E91-B582810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Table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98EC1-7B7D-4E93-8A33-230D63D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individual course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ranking and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415A1-B967-48C7-B2BC-D55DF49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1A97B-4D7A-4199-AB59-7795EF67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A35BF-78C6-4239-955B-40817B1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165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046F8-D5CD-4F03-969A-7CF637E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84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1F595-C3A7-4D87-BC77-BEB3E0CD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Table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11C72-040B-481C-ABA8-BDB586D9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 wants friend B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in course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6AA3F-2DD8-4D09-A6E7-D54C45D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051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BD4B1-5B4B-427F-83E9-2F97B87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F6032-861B-4FE2-8AD5-50E483C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1657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F09F5-8232-4FB0-9181-D1990D1C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01F7B-7FCE-4D78-A17E-6BC201D7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Table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04724-8F95-404B-AD4A-9CE533F7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student-specific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lambda in [0,1]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D7590-83B0-4CDD-BC75-2F5269E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F3B5E-3532-46BD-9116-9A88D964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Total utility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78F0E-9A4B-4994-B8E9-EFBDE2E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U(s,c) = (1 - lambda_s) Base(s,c) + lambda_s FriendBonusNorm(s,c)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D56A6-0B44-40BF-9228-711AE06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E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2EF"/>
                </a:solidFill>
                <a:latin typeface="Aptos"/>
                <a:ea typeface="Aptos"/>
                <a:cs typeface="Aptos"/>
              </a:rPr>
              <a:t>lambda_s controls the individual-social trade-off.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0F886-669F-4F81-8AE7-9753F382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DE4C7-DA0E-4B51-A5EE-772E428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Key modeling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41478-77DC-4351-8910-16AF46A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81575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friendship relation is directed and course-specific: A -&gt; B for course c need not imply B -&gt; 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A1C1F-5BD6-4AD9-BAC4-99609CD4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98599-65A2-4898-A585-2086D69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mathematical model and input format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C3A7B-D245-4AB7-B7F9-5D4B9F9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1242397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97D83-3A26-4485-A1C2-DB1B906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2460-D976-4CBB-84CC-5B5B6B5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774E3-60AF-4F8E-A71B-A967FE5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C4AD0-4E63-4195-88A6-174FE0C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mechanism has an initial reactive draft and a post-allocation improvement stage.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68233-7257-4F8C-9F83-AB40F1AB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2149E-4F44-44AC-B65B-B3949F7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CF6E-13B2-4853-99C4-02D63863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2B739-427E-445A-ACC2-D3D1E62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Seeded snake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F5EDC-A5DC-42D1-B96C-F765087A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Students pick in a fixed order; even rounds reverse the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3B999-F328-4E9E-B00F-AB851664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813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20A7E-047C-452A-A510-CA11AA1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985C2-9BAC-446B-9515-03587DA7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F7C3F-C0C2-45EC-B9FD-D3AE7FA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3CABB-03E2-4704-9670-75B322CB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622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1B9BC-0181-47AB-BF54-6EF44C9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14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Reactive friend bonus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9C3A2-3C5F-4F08-BB79-F4749B4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Only friends already assigned to the candidate course contribute.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2146B-39B1-49D1-A6F4-51CD322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28D9E-DF1D-4BBB-AB7C-C0F47C2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8C776-6AF4-4E6D-BF66-ECE8DD8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BFDBE-48A6-41BE-8431-06DEC506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AD5F0-DA07-426F-A163-3DC0FC9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622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1A590-CFC7-4A06-9135-84D79423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Local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D1A77-CFEC-42A3-97A2-E16739DE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Swap, drop-add, or hybrid moves are accepted only if the objective improves.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576D-2B14-4C73-84E1-34B7A13B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922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123E9-BFCB-492C-8413-70718B6E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reactive?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50D09-9735-4AD0-AC93-6C0F03B2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712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It avoids circular dependence: every utility evaluation is based on the current allocation state.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B962F-566B-4611-B7EF-F97B5582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100C6-67D1-4FA2-850F-4C0F3AB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reactive bonus, snake draft, and post-draft improvement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440F9-0EEB-4F86-B54A-E2FDC8C3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255419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83AFF-EE90-4262-86D9-7961670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27CC-32DC-4BDB-A04B-D850F57A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8A7C3-E5F3-4453-9FEA-39726902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F4D9B-CF45-4E2D-9091-9817FED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14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batch compares six improvement modes across 180 deterministic runs.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0AD8A-4E06-4449-AB38-F893FA3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0401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819E5-DAB6-44FB-9608-5AA1922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1DE3B-1C2C-4CF2-96DB-BD46EC29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C32FF-8F31-4845-95CA-A7F0A20A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runs per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1CB20-CB22-449F-AE66-5662EBDB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C2490-5C64-4349-8567-299EAC9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20-49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B5185-D46B-4B83-8638-F3BE86CD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62F77-93A5-45A4-9C34-33C5EC87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48C8B-FFBD-4BAE-8667-A5D4E17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F03B7-1BCE-4094-8D5F-724DF95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9A719-CB6F-46BE-8D99-2A1E39C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D69AE-E6DD-4689-8227-B195E56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ABD61-F109-44A0-B9B2-491EA94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completed 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7DFE2-3ED8-44DC-833B-EA4FE237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8AE8E-FA5F-4A2C-B89C-FEB4484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480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2ACF8-C563-4F0F-ADE3-CB5EB56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43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3BD28-B0B0-466D-9471-96C23C06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480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D4CC2-DA48-48EA-8D41-FB0CB08D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E3888-3A9E-4FDF-989D-9BB78629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480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G_total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4DB65-BBC0-471B-B5E1-BC92A39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CBEFF-E9C1-4550-A558-2FB85025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480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G_base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7D408-E859-49BE-B5ED-7DE6878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B3534-DF7A-47E4-BF29-66EA9E8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909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swap-global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3D6D6-BBC7-48E9-8157-2549F99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328E6-E5B9-4384-B240-97481CC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909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352.612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3AE09-447F-44AB-ADBF-E381B09C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94BB7-4827-4095-987C-96680AC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909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0.070808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3D096-C16B-40C7-B02E-3E6CC8D3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BE397-0955-41ED-AC0F-B7877344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0.047782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EDC7C-9A90-48AA-ADE5-EC45FC6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A9D7FA-0FE8-44CA-BC1D-29C9A81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swap-personal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B965B-DD72-4A67-A99A-42F32CD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AE38A0-2374-4A0F-8E45-C8BF2CA0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338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340.181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F428C-D103-49AD-9FA8-0C0E5FD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ED0FF-E18E-44DB-9B20-9A72712A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338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0.070852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8EE1F8-6415-4E0E-A447-7B339AC6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5B8D51-F62D-4098-9396-3A751B6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0.040680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AABC26-2C5B-4865-A0B9-B91614BB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51DE65-B5FA-4084-8386-5CC64BB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767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drop-add-global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083132-C690-49FF-9369-2D368D69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2CD746-58E4-4635-8013-B7A66C8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767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346.169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2D6D8C-DE73-41D0-B406-1B5BB87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471A8B-F641-4181-A0B0-26104CC8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76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0.070193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593EA4-B12A-4FEE-A43B-B185C53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B6B9C9-0FB9-47F2-9D49-3EA8D5A0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76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0.042996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B8F3C5-524F-4BF2-8FD6-DD1A64CB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589064-E609-4C14-8F15-E2B44BE4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96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drop-add-personal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70D3A5-5157-461B-8509-7F6D0E8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E2FFCA-579F-434A-85DD-061D7A1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196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342.547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52CEE0-A9F9-4F0B-BD74-02036CF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14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60056F-9D23-4924-B97E-43D4D605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196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0.070927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8524B7-D52F-48A2-B7EF-98B29A5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93846F-FDCE-4437-BD99-70406CDA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0.046126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DCC343-95FE-43DC-BC92-1F2B5755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616746-C5B2-4E20-81AA-27EA32A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625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C0A5CB-0241-42A6-A5BF-DC32E37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578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5CD99F-5378-4AB4-A64C-443C749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625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365.025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AAA258-FF97-4C76-A577-497CAE5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57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D1D46D-248C-482C-AC36-BE664127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625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0.072126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EDD664-C1E7-4858-A954-BFF3748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074B53-7B5E-4843-A7D3-3FA407B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625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0.072559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298634-7C17-4463-9BDF-A5107D3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9B51F7-8EB6-4088-9677-14B14F1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05475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hybrid-personal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8DA9B7-D11A-4156-9E5D-8A59DD1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007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E5CED1-4D68-4AD5-B48B-214A9E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054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337.392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C569C3-D098-41C5-9A5F-67F16A1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00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4280A9-B29D-459E-9FF3-272261DF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054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0.075803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D6703-FA5E-45BE-8DAE-4F1F953A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00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6EF929-C8A3-49C1-95EA-78BD528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054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0.057403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0DE57C-42F1-4CE1-9204-9C2D6317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04EE7D-56E5-43E1-A0EA-8D18395E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Reading rule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C566C0-98C0-43C3-9C66-B5AABEC3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Higher Avg U is better. Lower Gini is more equal.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6AB270-C61E-474A-8252-74E91E7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ACE4F1-1D4E-43AA-A4A5-93ACF3DC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user screenshots, seeds 20-49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8C2881-49B7-4EDB-8E11-1CDDCD1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7007048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C00B6-5D30-4C91-841C-3B1A35F3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98DB7-EA27-447D-992D-776F33C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75139-9ED4-4447-9E47-84031DBE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RESULT 1: UTILITY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2852E-AE59-47B8-A880-88C4F254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Hybrid-global is the clear winner on average utility.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19FC8-73DF-44B8-A572-DDF88ED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Average utility by mode, 30 runs 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19B0F-3461-41EA-9216-1B370C0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717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D21CA-97B2-4B6B-BE1B-7372F34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25AB5-B33A-4852-951F-29B8E22B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1887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1AB1B-FCB1-409F-A471-A4F661E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352.612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CE097-03F9-4D8F-961E-9FAAD5D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swap-personal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07DA6-A5E0-404C-97A7-A090A8B0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337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86FD2-C6CF-4EF3-9A6E-A7B846B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33700"/>
            <a:ext cx="55518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EB781-77B8-470E-A0A3-28586EB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479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340.181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68328-3116-45BE-A2D5-8B3019A7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drop-add-global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A3D96-C9FA-4B86-B09C-7B185D8B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86D1-9820-4144-8641-DF3FA497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11968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F47AE-E3EA-4C0C-93F7-15E3D60C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346.169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F075B-8C7F-48E3-997B-341F18EB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drop-add-personal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6ABDE-961E-47DD-B4A8-E960EF3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243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62964-779B-4E0D-8B92-6FA2CCA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24300"/>
            <a:ext cx="8087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24360-045A-4ED9-929D-FBC6407B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385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342.547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6869A-65A0-42E5-A27E-FF19828C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309FE-0113-4006-A5F3-3A47037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196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6AE53-8D88-443E-A00B-78AC79F5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19600"/>
            <a:ext cx="32173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AC7BE-26C0-4F17-9423-71F1744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365.025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BB8A74-3BE6-4EE4-93B1-A107ECD8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hybrid-personal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D8341-403C-4113-9E10-24C03F74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149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6D5D1-7063-46BE-BF09-6183945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14900"/>
            <a:ext cx="2563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FDF2D-1F8A-48C2-A1DB-B6A1EC6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291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337.392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BC0E7-1EB2-4B2D-99ED-B5E4B8D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3028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71820-1FDB-4F5F-B045-098223EC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Best average utility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9C2D7E-BA54-4A22-AB40-9B67447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365.025017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E6F48-F374-4702-B740-6B38D90C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BDD8CD-B3C3-4C46-94C5-81FBE4D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1A9A92-6631-4DD1-90BB-5821CA7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 can use spare seats and swaps, so its local search neighborhood is richer than pure swap or pure drop-add.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14B60-4C77-40B1-B9BF-3D00A9EE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7E1D9-3114-4058-9588-A93E1A4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user screenshot table, Avg U column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7FB27D-F86B-4B34-BBA8-A541A51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8496718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0446F-DA65-4423-8E85-AA64C25A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7A980-7841-4C20-865F-F1C74C6F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1F2B0-CD89-42C9-9C79-3D515A5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RESULT 2: FAIRNESS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CE275-C14E-4AE8-B568-8CCABF96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Fairness gives a different winner: drop-add-global has the lowest average total Gini.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1138-AFF9-48DB-9A62-FB1AFE88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Average G_total by mode (lower is better)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DAC8-06EF-4A26-BFD6-1A161BE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6A02B-C551-4E9D-A957-A617D0F1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D44AC-FE63-433F-A133-13584DC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5865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AE194-0E33-4388-8734-2693DCD8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98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0.070808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65C4C-26D0-4F4E-A8AB-480CD4C9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swap-personal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4C325-6AB7-48FC-84A4-225B8C27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24175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94F15-BB83-4DF9-A727-67F62DE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24175"/>
            <a:ext cx="6062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0C7E2-450E-4D05-B4F5-052E4AA7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384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0.070852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9A7C5-2EEF-40E2-80D4-67F32AD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drop-add-global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5A4C6-2234-4499-B35E-8EC8793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2356C-CC26-400B-B89C-516BF8D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3107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793E5-35CF-45FB-81F0-1A011AB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670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0.070193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4759F-820E-4178-A9A6-453ACC0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drop-add-personal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B1549-5B21-4AAE-B82E-F0FAE80D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01E6D-BBCA-4F96-834C-2CF235E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63987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A4A95-077A-43DD-AF94-71C0F3B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957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0.070927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B25F6-65B1-477F-B931-688A70B8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E2651-FDD9-486A-98FD-B5E623BF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A3CDF-3F3A-4B44-B735-8249E55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1177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F083A-54A9-45C4-BC09-F314AA9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2432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0.072126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A8C86-835B-4A34-B8F0-AB2C10E3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hybrid-personal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735CD-EA74-4925-89FE-EA99F81A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38675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D1201-2B2A-4D44-92F4-71BB94D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38675"/>
            <a:ext cx="282631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38060-B0EE-4816-BB29-E1EAFDC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0.075803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3D9FC-6A41-4BCF-9704-AEB93E6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3733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255D29-CF02-4ECA-A252-01E3B77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Fairness 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C39DA-B1C3-40F1-9BD5-C9E3297F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0.070193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515D7-5DA2-4402-BCCC-410E0D0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lowest Avg G_total, drop-add-global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5F3DA7-5F78-4C0A-B8B4-31333D22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0.075803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A8876-51CB-4710-9AC6-99BF9DA5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highest Avg G_total, hybrid-personal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A25B3C-A2AE-4D38-9B06-200D4F1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The best utility method is not the most equal method. The evaluation therefore needs both welfare and inequality metrics.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22F4F3-A893-4A0B-9DD6-F2EF733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5E2A8A-34E9-473F-AB03-D7A4D5D6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user screenshot table, Avg G_total column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E2769-6B4C-4811-B8F0-F504FF7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1089050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8A932-75D3-456D-B77C-965B9E7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3E494-8A38-4851-B2FC-00675D0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60445-C197-4210-A510-479082B9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39584-A9D5-4B9A-A82D-94CC15C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central empirical message is a utility-fairness trade-off.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EDF50-4374-49E0-A958-A10E3504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5C02B-84E1-436B-959E-F3D9EF1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A34EE-89C7-4155-ACF2-3413714E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927B8-235C-452C-BA1B-9F3EA02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9552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U 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3861E-75A8-492E-BEC5-DBD94D7B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CCB5-2D56-4D23-B03A-DE911CF9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955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G_total 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33BF5-58E4-4ECD-8A4B-B0E10F1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AD6CF-C2E1-44BB-AFE3-746BA83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G_base 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0604F-51FF-4333-8611-6B0315E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C3CEF-F472-403D-BA50-F44C38AD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28F11-4271-47F1-B7F8-AA2C3F3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8BF2D-9ABC-43DE-A02C-56A653D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5747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CF59E-CC5F-4ABE-81F8-5C7A884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92EA3-E791-4BD3-AC46-BF1E7C9D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574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8B00A-7F2E-4C20-AD2F-E2FC0B1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917B4-AD32-49D8-82B9-9FDF301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494F4-853B-4CF0-8B09-3D4068F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396B5-9E48-41FF-AA3B-DCF2666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swap-global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8600D-A26B-4709-8270-4BE41A68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ED860-F30D-428F-81D1-769F33F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1942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FD7F4-338E-4DB4-B26C-E57C36AD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3A72D-E0D6-4BDA-B69B-B4746185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194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E52BC-581E-43D2-89EA-BB02ADFF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4EF93-49BA-4936-AEDB-310C279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89CF7-B19D-4B3F-8B92-6FD6FCF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26A8C-38AD-4DEA-A5B4-6512492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drop-add-global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FACE1-FCE2-4680-B545-9C33584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4368A-E2D5-4506-A3A1-7B5E5E0E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8137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35EDB6-BC7E-4222-AC50-6C37B7E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46D03-6BFC-4714-86E7-9578F14A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813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39216-BBB6-4F54-B200-33DF820C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3A89D-E4A3-4DD5-9499-30E21A20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0D84F6-07CB-467F-A15B-0126EB1F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FFF67-4C66-4ED2-B69F-46DE5B8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drop-add-personal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67AFF-72B2-4E6A-8556-88074BB2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8CC245-D80D-4067-925A-FD913019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4332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3D3377-3A8F-4CAA-B8B5-6C5BCD74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F7C2F1-4E80-47B2-883A-498BDC3D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433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11907-8E90-4410-80F3-74664218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3F6308-3212-4B84-8006-995CA914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4A326B-7A59-4EB8-BA58-1ECCD9C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77D6BC-CC3E-4265-B570-DEECB31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swap-personal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0C9E98-E787-4A92-B522-881C3A24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A8D7E8-90A5-424D-9124-C2EBE0E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0527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E031B-7165-4746-B921-5F30BB9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8F867-6DC8-4552-B198-6C0F2C34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052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4C16BD-22C1-4F5A-839D-64DF418A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CE9B9-1E93-47A8-AA6B-EC05035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052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A1533D-4BAB-4932-B37D-7AEC7DA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C01DC8-3C1E-454F-8DFB-3139FAF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hybrid-personal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437AD8-C65A-49CA-8CF5-E81EAA54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62C958-B31A-4ABD-9D9E-2736A6E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6722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7AA0BD-71EF-4E06-88FB-1E97DE3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62C814-8984-474C-A1DE-25E2CFF0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61DB5F-F855-4FFD-987F-CAD2932E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9F23DB-D814-449F-8666-37A69315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6722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B65132-D5AF-4901-B28F-F12DBF88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552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954527-5004-4761-93BB-6F58C5A4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79E734-985C-4701-A106-D8D4EA2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Hybrid-global is best if the priority is utility.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C59940-CA64-40C1-8F56-FE69308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07ED5D-832F-476F-A3BA-4E428372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Drop-add-global is best if the priority is average total equality.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270CA0-7422-4881-A9AC-9AD0568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5780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551C6B-53C2-4FB7-BC8B-14EDE95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81625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This is exactly why the contribution is experimental: the model exposes choices that cannot be reduced to one metric.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2C8A89-C4C0-45A2-B4E4-883543E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4A0641-74D9-426C-90D6-9460404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Ranks computed from screenshot table: higher utility is better, lower Gini is better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80BDFF-480F-4533-9848-4006A27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141969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71B00-E1BF-42DE-9B51-80454437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9F853-8C8B-4F3E-BB42-DC4F9B1B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EE397-1F5C-4A21-BB4C-4A21B4FD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0F2D3-D18F-4039-8520-C78CDF0E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Friendship-aware allocation turns course choice into a measurable social design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A9373-BA76-423A-9F2A-7A09A1BB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CBA5-C018-4D70-A034-3F9DF43C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E77CF-FCF1-43FA-9E64-8CE4344C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Directed friendship preferences enter the utility function through lambda-weighted social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DEC90-F25E-4EC5-99D2-7E66E8D0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2B64E-B607-458E-932E-D220A512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9A528-E64B-47B0-AB69-987AD325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Reactive utility keeps each draft pick well-defined, deterministic, and feasible.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21770-BCB9-4F7E-93DD-353508E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16B94-8AE6-4D9A-868D-4CD7E7F2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A7CC4-7143-4791-80E1-42AD76C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Hybrid-global maximizes average utility; drop-add-global gives the lowest average total Gini.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91B5D-BF9F-4DF8-8D6E-9DDBB95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E0779-A24E-4635-94F5-DC13098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D4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D49D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DDB9B-DDEE-4919-B5FC-9B1AA327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006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2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9E2EF"/>
                </a:solidFill>
                <a:latin typeface="Aptos Display"/>
                <a:ea typeface="Aptos Display"/>
                <a:cs typeface="Aptos Display"/>
              </a:rPr>
              <a:t>real enrollment data  |  strategic friendship reports  |  welfare-fairness frontier  |  theoretical guarantees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8BE62-839D-4062-956A-31DFDDDD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17596-2F11-463A-ADC6-2A3D76B7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FB0C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FB0C5"/>
                </a:solidFill>
                <a:latin typeface="Aptos"/>
                <a:ea typeface="Aptos"/>
                <a:cs typeface="Aptos"/>
              </a:rPr>
              <a:t>Synthesis from project sources and latest screenshot 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5EB23-5E45-44B0-A9BE-7694DD0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7D7EA"/>
                </a:solidFill>
                <a:latin typeface="Aptos"/>
                <a:ea typeface="Aptos"/>
                <a:cs typeface="Aptos"/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1359357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2026-05-06T20:59:21.2170000Z</dcterms:created>
  <dcterms:modified xsi:type="dcterms:W3CDTF">2026-05-06T20:59:21.2170000Z</dcterms:modified>
</coreProperties>
</file>