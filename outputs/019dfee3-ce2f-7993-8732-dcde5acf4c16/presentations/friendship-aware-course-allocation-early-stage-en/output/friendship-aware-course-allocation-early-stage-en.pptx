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1459670c7d4fd1" /><Relationship Type="http://schemas.openxmlformats.org/officeDocument/2006/relationships/extended-properties" Target="/docProps/app.xml" Id="Raabf73cf3b2849ec" /><Relationship Type="http://schemas.openxmlformats.org/officeDocument/2006/relationships/officeDocument" Target="/ppt/presentation.xml" Id="Rc4cb6082f3904f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6023a5e6d4638"/>
  </p:sldMasterIdLst>
  <p:notesMasterIdLst>
    <p:notesMasterId xmlns:r="http://schemas.openxmlformats.org/officeDocument/2006/relationships" r:id="R802dfea30ffb4b84"/>
  </p:notesMasterIdLst>
  <p:sldIdLst>
    <p:sldId xmlns:r="http://schemas.openxmlformats.org/officeDocument/2006/relationships" id="256" r:id="R1563a494b7da4187"/>
    <p:sldId xmlns:r="http://schemas.openxmlformats.org/officeDocument/2006/relationships" id="257" r:id="R40fe5760c3ef4957"/>
    <p:sldId xmlns:r="http://schemas.openxmlformats.org/officeDocument/2006/relationships" id="258" r:id="Rda62d6c2d10b4360"/>
    <p:sldId xmlns:r="http://schemas.openxmlformats.org/officeDocument/2006/relationships" id="259" r:id="Rbc4ceedc2ac14e9d"/>
    <p:sldId xmlns:r="http://schemas.openxmlformats.org/officeDocument/2006/relationships" id="260" r:id="R916bcc64d22740fe"/>
    <p:sldId xmlns:r="http://schemas.openxmlformats.org/officeDocument/2006/relationships" id="261" r:id="R87de547b9a844f9b"/>
    <p:sldId xmlns:r="http://schemas.openxmlformats.org/officeDocument/2006/relationships" id="262" r:id="R92a8554216ed4f81"/>
    <p:sldId xmlns:r="http://schemas.openxmlformats.org/officeDocument/2006/relationships" id="263" r:id="Redcb284a11c943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6023a5e6d4638" /><Relationship Type="http://schemas.openxmlformats.org/officeDocument/2006/relationships/theme" Target="/ppt/theme/theme1.xml" Id="R1781efdcfb9f4858" /><Relationship Type="http://schemas.openxmlformats.org/officeDocument/2006/relationships/notesMaster" Target="/ppt/notesMasters/notesMaster1.xml" Id="R802dfea30ffb4b84" /><Relationship Type="http://schemas.openxmlformats.org/officeDocument/2006/relationships/presProps" Target="/ppt/presProps.xml" Id="R02cdec5950404806" /><Relationship Type="http://schemas.openxmlformats.org/officeDocument/2006/relationships/viewProps" Target="/ppt/viewProps.xml" Id="Rc44ca4ea1beb416b" /><Relationship Type="http://schemas.openxmlformats.org/officeDocument/2006/relationships/tableStyles" Target="/ppt/tableStyles.xml" Id="R474dc2964b9a4303" /><Relationship Type="http://schemas.openxmlformats.org/officeDocument/2006/relationships/slide" Target="/ppt/slides/slide1.xml" Id="R1563a494b7da4187" /><Relationship Type="http://schemas.openxmlformats.org/officeDocument/2006/relationships/slide" Target="/ppt/slides/slide2.xml" Id="R40fe5760c3ef4957" /><Relationship Type="http://schemas.openxmlformats.org/officeDocument/2006/relationships/slide" Target="/ppt/slides/slide3.xml" Id="Rda62d6c2d10b4360" /><Relationship Type="http://schemas.openxmlformats.org/officeDocument/2006/relationships/slide" Target="/ppt/slides/slide4.xml" Id="Rbc4ceedc2ac14e9d" /><Relationship Type="http://schemas.openxmlformats.org/officeDocument/2006/relationships/slide" Target="/ppt/slides/slide5.xml" Id="R916bcc64d22740fe" /><Relationship Type="http://schemas.openxmlformats.org/officeDocument/2006/relationships/slide" Target="/ppt/slides/slide6.xml" Id="R87de547b9a844f9b" /><Relationship Type="http://schemas.openxmlformats.org/officeDocument/2006/relationships/slide" Target="/ppt/slides/slide7.xml" Id="R92a8554216ed4f81" /><Relationship Type="http://schemas.openxmlformats.org/officeDocument/2006/relationships/slide" Target="/ppt/slides/slide8.xml" Id="Redcb284a11c943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ea1f578bae40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69196d7aff487d" /><Relationship Type="http://schemas.openxmlformats.org/officeDocument/2006/relationships/notesMaster" Target="/ppt/notesMasters/notesMaster1.xml" Id="R4b6ae39d9e41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b6de9fcf2a4d29" /><Relationship Type="http://schemas.openxmlformats.org/officeDocument/2006/relationships/notesMaster" Target="/ppt/notesMasters/notesMaster1.xml" Id="Rfbc3264f4d7f48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c07c19674f4571" /><Relationship Type="http://schemas.openxmlformats.org/officeDocument/2006/relationships/notesMaster" Target="/ppt/notesMasters/notesMaster1.xml" Id="Rab96ea48386c42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2d8f130a774ae9" /><Relationship Type="http://schemas.openxmlformats.org/officeDocument/2006/relationships/notesMaster" Target="/ppt/notesMasters/notesMaster1.xml" Id="R8953f7a8e54d44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81c0ed9c274790" /><Relationship Type="http://schemas.openxmlformats.org/officeDocument/2006/relationships/notesMaster" Target="/ppt/notesMasters/notesMaster1.xml" Id="R3842ac7bfa5a4c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b0d4a6eccc4129" /><Relationship Type="http://schemas.openxmlformats.org/officeDocument/2006/relationships/notesMaster" Target="/ppt/notesMasters/notesMaster1.xml" Id="Rd37618240af348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aef86df3a64887" /><Relationship Type="http://schemas.openxmlformats.org/officeDocument/2006/relationships/notesMaster" Target="/ppt/notesMasters/notesMaster1.xml" Id="R28231ef2c85247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2af2f51e5a4115" /><Relationship Type="http://schemas.openxmlformats.org/officeDocument/2006/relationships/notesMaster" Target="/ppt/notesMasters/notesMaster1.xml" Id="R22281fc8f93543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0ab14d45942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6ac46ab912d4b32" /><Relationship Type="http://schemas.openxmlformats.org/officeDocument/2006/relationships/slideLayout" Target="/ppt/slideLayouts/slideLayout2.xml" Id="R49972e4483cc4a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972e4483cc4a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33a09d0bb44f81" /><Relationship Type="http://schemas.openxmlformats.org/officeDocument/2006/relationships/notesSlide" Target="/ppt/notesSlides/notesSlide1.xml" Id="Rda7b942d6bb547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3d2dc18cfc4ad0" /><Relationship Type="http://schemas.openxmlformats.org/officeDocument/2006/relationships/notesSlide" Target="/ppt/notesSlides/notesSlide2.xml" Id="Rc9c17e7c491045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02821bf7944f47" /><Relationship Type="http://schemas.openxmlformats.org/officeDocument/2006/relationships/notesSlide" Target="/ppt/notesSlides/notesSlide3.xml" Id="R08c7cbf6ce0541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f920def809451e" /><Relationship Type="http://schemas.openxmlformats.org/officeDocument/2006/relationships/notesSlide" Target="/ppt/notesSlides/notesSlide4.xml" Id="Re12ee8d07c3e49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e823ce02d41a0" /><Relationship Type="http://schemas.openxmlformats.org/officeDocument/2006/relationships/notesSlide" Target="/ppt/notesSlides/notesSlide5.xml" Id="Red854a85689841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0236febee43b5" /><Relationship Type="http://schemas.openxmlformats.org/officeDocument/2006/relationships/notesSlide" Target="/ppt/notesSlides/notesSlide6.xml" Id="Rb2fcc994d3c442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4ae05c6c9d4acf" /><Relationship Type="http://schemas.openxmlformats.org/officeDocument/2006/relationships/notesSlide" Target="/ppt/notesSlides/notesSlide7.xml" Id="Rf383d04a5a6643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d5dde665f4442b" /><Relationship Type="http://schemas.openxmlformats.org/officeDocument/2006/relationships/notesSlide" Target="/ppt/notesSlides/notesSlide8.xml" Id="R57c7bf892fb843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FB7AD-A226-4CF6-AFD4-3C2DCEA5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34CA8-DF23-4B6E-96E9-C9334486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E946C-DAAD-4911-951B-A00B06B5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EARLY-STAGE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1B9F1-2C9D-4B9D-B3B2-9FC87645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85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Course Allocation</a:t>
            </a:r>
          </a:p>
          <a:p xmlns:a="http://schemas.openxmlformats.org/drawingml/2006/main">
            <a:pPr algn="l">
              <a:defRPr sz="34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with Friendships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BF68B-9D65-447F-9688-6D96EDED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6616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56616F"/>
                </a:solidFill>
                <a:latin typeface="Aptos Display"/>
                <a:ea typeface="Aptos Display"/>
                <a:cs typeface="Aptos Display"/>
              </a:rPr>
              <a:t>A first framework for adding friendship relations to course allocation.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9570B-ECCB-458C-B321-1133DCE8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This talk is about the research direction, the modeling idea, and the prototype built so far — not final empirical conclusions.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3596A-C523-4B69-B735-63BB2F37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71550"/>
            <a:ext cx="3124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1D507-1E99-4A3B-8386-89B1365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144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D7EA"/>
                </a:solidFill>
                <a:latin typeface="Aptos"/>
                <a:ea typeface="Aptos"/>
                <a:cs typeface="Aptos"/>
              </a:rPr>
              <a:t>Core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031CA-ACE4-40CC-9859-9BF6DA0B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How can friendship enter an allocation model?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DF985-DCB3-4DA8-A4C8-24C4A770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4330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ACD6F-292E-4908-979B-D88B9A08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052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1D49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1D49D"/>
                </a:solidFill>
                <a:latin typeface="Aptos"/>
                <a:ea typeface="Aptos"/>
                <a:cs typeface="Aptos"/>
              </a:rPr>
              <a:t>concept -&gt; formula -&gt;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ECB08-DDD5-4A68-9F69-1BF29681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76BB7-3A6F-45E9-A6DE-DCA554DA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DB954-36A4-466F-9760-AF2AB23C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modeling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7E447-42BC-4FFF-AC34-75C2BB75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friendship as utility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C4101-68D6-44BF-83DF-4500474D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3D980-3573-481C-9F41-4231D102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0A1AD-0BBE-4633-A147-FEFA955B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101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51FD4-1F8E-4D1C-BCAD-AA2259B3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81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CSV -&gt; allocation -&gt; 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B01C9-A7EE-4EEE-936F-29E6E7F0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A9AD0-032B-4D8E-9A03-A03976C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48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180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8E642-DD9C-4D5B-AA72-7A5FCF19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test runs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74336-2919-4E65-BBF0-D600354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pipeline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666A1-C3BB-4556-8C9B-330FC9C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BFBFB-DBBA-4FE9-AC73-802D1099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Positioning: early-stage research 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404E02-4EAB-4E34-BA41-EE606128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19619731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DCE3FF-1906-476C-AAC0-E3CEB2C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711AB-65B3-4734-A0C6-75F7097B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15DB-132B-45FE-8B07-1DDAF66A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0F05D-9345-4226-8608-17E5E337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952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Students may care about the course and about who takes it with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91CA3-43DB-43CA-9168-96CF93F6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2857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3550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4194A-DB32-450E-BAD5-EA69C14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INDIVIDUAL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1A707-079A-4631-AE18-F3F16EEF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003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How much do I want this course?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A6AED-9743-4328-B839-B0732CC6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857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9E2A3-D37C-4A0A-9FDB-BA0FBB72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SOCIAL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4DF07-9061-4CE3-A881-8627ADE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Would I be in this course with people I care about?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9DE2A-F49A-4A62-A914-927B40EB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857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9F12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0AA9F-9022-4F55-B2B3-F12A97F9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RESEARCH CHALLENGE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958A0-9160-457B-99C7-BB4EAD4F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How do we combine these two ideas without leaving the allocation framework?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3C4FA-69A3-49F8-AB8B-D041D570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95850"/>
            <a:ext cx="849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9385C-9ABD-47E8-BEE9-5E7C4E01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29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novelty is not that students have friends; the novelty is treating friendship as structured allocation information.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9B4A1-817A-4A27-9D2E-6C4D2655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222DB-E75A-44F8-9A4C-71C550E6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Research motivation: social preferences in course choice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D7E36-DE25-44A2-B275-958C32BC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13396127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5A569F-9F9B-47B0-AC6F-4FA189B6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45356-8FEA-44F0-823E-4861AA78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8E0C0-3E0E-4609-9726-3458E70E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RESEARCH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3317D-F72C-46E5-87DA-AE083AC2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project extends course allocation with a social preference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54BEB-0ED7-472A-96BE-BDF804E7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3550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2A76C-E9E8-4412-8019-E403E4A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BASE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E90DE-CB93-4E9E-B3E1-84DD577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Assign students to feasible bundles of course seats under capacity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52141-0CB3-4DC7-86BB-FF50C517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C3933-DE5C-41CC-BC3B-CE3880D0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812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MY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5816D-0920-4F2C-8B59-B3B507BE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670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Add directed, course-specific friendship preferences as part of utility.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677D9-C8B2-4BD5-B06A-0548C3DC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35A91-AAD8-4853-B91D-711D0001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CURRENT STAGE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22E02-8315-406C-952A-78E2A459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Build the model and prototype first; use experiments to understand behavior later.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B4BE7-DB08-43A6-BA83-CC25EF9D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8839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FED1D-01B9-4AFA-A9C4-27EC69DA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911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03270-F2A0-4CD9-8CD7-0EC0D00A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53000"/>
            <a:ext cx="649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Can friendship-aware utility be integrated into course allocation in a clear, reproducible way?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D5DCD-30FD-4884-9E7F-2B195981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67CB8-2E61-472F-A998-62B77818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 framing: course allocation as one-sided combinatorial assignment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FDFF6-7DF9-44F1-BAF8-4CE6F0EF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21424861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1203B2-E487-427D-B21B-892ED46D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F3221-76F4-4166-BFBC-4786DB6D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34CC9-5D84-4C73-AAA6-3315B45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FROM FRIENDSHIP TO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6DA65-F486-407C-B830-DAE14578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952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key step is translating a friendship statement into a course-specific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29F95-106D-421A-886C-1FACE2AA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790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3550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773BD-7612-49FB-BA92-4C089927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89056-AB6F-4543-B0DD-6822FF7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574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800C3-4BF4-4670-8AE5-C3A57D29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098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Student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23664-DB7E-406C-9B35-FB34C40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expresses a preference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B407B-A4F9-417C-8E83-BEB120A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337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091A8-A2FE-4A73-84EC-AAFBEC7D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2412C-3D00-4BD1-8B27-F5F6B0B2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1790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9F123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01A00-A3D1-48A9-99C7-99B21EA3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D3D65-A4B9-4F0E-91AE-34798722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574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2B5A1-84E6-49D9-9228-C34E40D9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Friend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3E183-BA43-4858-B1D7-5C1907CE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is relevant for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BEEEF-6C1F-4ADE-8F8F-B46DA73D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37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0F129-A63B-4E57-B2A3-82578C8F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725CF-7CC9-4671-A545-DF3740D5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1790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157A2-AA5D-4D94-877A-BEA758F8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48666-4328-4818-8947-7E6395A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574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CD8A1-B1C7-4BDB-9399-E8D21A76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Course 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448D6-8DAE-4B92-B385-8300988B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is the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2487C-CE25-4C5B-A51E-F628D06E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337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F24AA-2862-47CD-BB68-2014FD45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DED06-B362-4660-A0CA-41EDC044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00300"/>
            <a:ext cx="1790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387933-A13C-4414-B791-AC85E415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ABFB5-C9C9-459F-A438-93B489C4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574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357F23-B82D-4506-837D-FDD66EF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098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Social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31891-E88D-436B-B063-749B632E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432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is added to utility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247F8C-268A-4CB9-A0F4-22D86013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9176F-7B65-4E16-8376-9E14AF5D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Plain-language meaning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EB030D-8623-41DF-9220-BC5A6135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632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 says: being in course C is more valuable to me if B is also in course C.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645B67-DF9B-449B-B775-209D79F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DCB8A3-819B-4360-8C35-34CC653A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directed friend preference semantics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858FD-107B-48AE-B791-8DABF21E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0346515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709BB-8EC7-469E-A0E3-D9D5A517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5D5D9-9E43-4FAB-9EB1-7C4D8A60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483FF-3018-453A-9334-C55F3E52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UTILITY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917B0-D3C2-4425-B202-BF24137F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model combines course preference and friendship preference.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8C554-1BCD-4EDE-821D-9C6DBA34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9944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32153-61A1-43F7-ACA5-202ECE46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Utility(student, course)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88484-ADC6-42DC-8FD2-B03F31DA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15E19-4EAB-48E7-AAA7-D628BA1F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19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rPr>
              <a:t>course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B0D54-448E-4BA6-86CB-5D548457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21198-851B-44F1-A9E9-CAAC39C0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rPr>
              <a:t>friendship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E36DC-2C4E-4E2E-BAC9-FA44D9C1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weighted by lambda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B5656-39DA-40B9-955B-B12C07B4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3550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2C035-7701-4668-8E1A-F2149B99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55070"/>
                </a:solidFill>
                <a:latin typeface="Aptos Display"/>
                <a:ea typeface="Aptos Display"/>
                <a:cs typeface="Aptos Display"/>
              </a:rPr>
              <a:t>Course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F3B0E-BA74-4690-B0C9-4CD7A8E2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434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comes from the student's ranking of courses.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4D57C-28DF-43BA-AF46-FD8519FF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9F12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B90EE-BF5B-4A5A-A378-D285E6B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624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9F1239"/>
                </a:solidFill>
                <a:latin typeface="Aptos Display"/>
                <a:ea typeface="Aptos Display"/>
                <a:cs typeface="Aptos Display"/>
              </a:rPr>
              <a:t>Friendship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8E73B-4837-4A61-8485-CD626916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434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comes from course-specific friend preferences.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A4F21-D55B-4606-AC72-7D496969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D615A-1181-440E-8132-2C774DCE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624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Lambda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8C6FE-E98A-43C7-AF7C-783EFA04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controls how much social preference matters.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1A706-DF14-4480-83C8-0D78F234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34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3550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97627-F8D1-4D4D-BEDF-2918B78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197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5507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55070"/>
                </a:solidFill>
                <a:latin typeface="Aptos"/>
                <a:ea typeface="Aptos"/>
                <a:cs typeface="Aptos"/>
              </a:rPr>
              <a:t>lambda = 0: only courses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E08ED-F3F9-4E27-857B-5A7C3713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BA12F-8A79-49F6-B80F-B3A6AE0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19725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lambda = 0.5: mixed utility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415685-BEAB-452C-9687-7FEA530F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9F12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0C2EA9-310A-4B33-83BA-6327D7E1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19725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lambda = 1: only social term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3CAE6-FD46-4A86-93FF-D2A00AF7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78502-1E46-4738-8062-30CFEE85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utility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E29D2-6AE9-4CE4-9837-2765256C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5433324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03790-C161-450C-85C6-68E6888F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9E234-6D63-4F78-B0EC-285C4E48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36155-0A56-40E2-95F2-A7EAA26F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ED0A0-5EE6-4D02-9FF4-1E1A938E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current achievement is a working research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C5166-827F-4624-9D1D-737C359D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676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3550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CCFEB-1AA0-489C-9291-2010F7D8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B65B6-43D8-42C9-9998-48E94FC4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622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4CECD-06B3-4AD8-A673-9B5A291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course preferences</a:t>
            </a:r>
          </a:p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friend preferences</a:t>
            </a:r>
          </a:p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lambda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7155B-7DF8-4E8E-9C75-A736A056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765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3C94B-3EE9-41E6-9115-D354E2A4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908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85AC2-10C7-481F-ABC7-735C83C7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24100"/>
            <a:ext cx="1676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A41E9-CFFA-4908-A7BD-75E180F1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3BD97-1C1E-47E9-8AE5-27AB50A7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622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8DB40-3A2F-4252-9F5B-0A5FD38B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051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utility calculation</a:t>
            </a:r>
          </a:p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with social term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3007E-F2ED-4D42-9258-69653845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765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E343A-8C7E-4129-982F-4E0DD4C6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F123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F123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B5D33-3CA9-4052-BC08-94B72211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676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9F12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CB845-EE22-4A0A-ACDC-A6C748A9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17E22-79AC-42CD-92AB-BE84EFCC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622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2BEDB-CD61-4C29-BBAD-1D9D30C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prototype mechanism</a:t>
            </a:r>
          </a:p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and 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05439-428A-40DE-948F-E31C0F97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765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D683F-DEA3-453E-BE02-326940DA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82C94-4424-4A14-92E3-BB905275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1676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46493-74EC-450C-8D2A-3F62962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35841-2188-4DDA-BE58-6AD6B4AE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622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Metrics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2BEDA-CCC8-4CA8-AC07-82FC0EF7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051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utility</a:t>
            </a:r>
          </a:p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friend overlap</a:t>
            </a:r>
          </a:p>
          <a:p xmlns:a="http://schemas.openxmlformats.org/drawingml/2006/main">
            <a:pPr algn="ctr">
              <a:defRPr sz="8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Gini index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CE2F51-739D-478F-A9E9-C252DCF8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57750"/>
            <a:ext cx="9067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1A155-6483-4FF0-BA2B-A72D8A08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387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How to present this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016AE9-505A-466C-AFEA-54B08D15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91100"/>
            <a:ext cx="661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At this stage, the prototype is mainly a way to make the research question testable.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CA21BB-B28E-49D4-BDD6-111768E3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A6AF25-27C7-47FB-B401-B59BD7AF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README.md implementation structure and output files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091762-5D41-4813-AFD6-6C27F47B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2678825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5D1A4-0E4D-48C5-8A7F-4A894FCC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DCF30-65A2-4D30-84CF-6A05FC83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A5D13-999D-4EAC-88B9-F82A1F94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PRELIMINARY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1EB4D-C366-4381-A912-2F8FCDBF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I have started using experiments to check that the pipeline works.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9D1E7-2CD2-46F4-9E28-096E6B08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0458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963E1-3646-41DA-85BE-1A14282B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ABDA7-AB72-4375-9A9A-D4FEC6CE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180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9AA9E-40CA-49CD-BA6B-718FADF4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completed runs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3F1C7-3B70-42E4-9032-7E7B9E13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prototype 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EC0DA-EDF9-45BF-8D5E-831D0A27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03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6BBB1-C45D-4534-8C64-E901A73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62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9DF97-5FFB-415B-9C39-1A88D0F3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241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modes tested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2DC4D-B975-437C-903F-C7C00BF0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95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for comparison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83809-6A0D-4984-9C19-F0F4788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A4710-3BFF-4017-A8DB-10C734C8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20-49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DA4C7-0D69-4971-A73A-D9B30CAB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seed range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F8A97-7B18-4FE5-B3D9-E48E145B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reproducibility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5821F-1AA9-4AD3-A789-D805977B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F5631-4C59-40E7-BFB6-10E29FFA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Gini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27B53-190C-49E7-9D01-50C7ADB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241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6616F"/>
                </a:solidFill>
                <a:latin typeface="Aptos"/>
                <a:ea typeface="Aptos"/>
                <a:cs typeface="Aptos"/>
              </a:rPr>
              <a:t>fairness metric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A7BD5-7E93-4CB7-99B4-0CCB58C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tracked, not finalized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9C1F7-AB41-4D5F-8EAF-7DC055DF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171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AECA7-23B0-4A25-B9FA-AA6D1981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05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I can already show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0F480-7539-4BF6-8DA5-A9492D9E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1010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 model can run, produce allocations, and output utility and fairness metrics.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741A0-B440-4815-9268-F0813FC8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4171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B938B-8E44-45AB-8288-3871F678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What I am not claiming yet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53D09-B52B-478B-A48F-E24837A2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010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12E"/>
                </a:solidFill>
                <a:latin typeface="Aptos Display"/>
                <a:ea typeface="Aptos Display"/>
                <a:cs typeface="Aptos Display"/>
              </a:rPr>
              <a:t>These are early prototype checks, not final research results or final conclusions.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4FAB5-9E17-491D-A9E4-0FE5F17B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253B8D-AACA-492E-80F8-1EBB40F2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A6E60"/>
                </a:solidFill>
                <a:latin typeface="Aptos"/>
                <a:ea typeface="Aptos"/>
                <a:cs typeface="Aptos"/>
              </a:rPr>
              <a:t>Source: user screenshots; preliminary batch summary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4379BD-67CE-4949-A120-1A566B9C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20485384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B226D9-7E2B-4570-8F93-FA117BAE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81260-9AC9-48ED-96EE-2A695545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5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4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B4D50-519B-4318-92A2-E201E852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7D7EA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44D3E-B044-429A-8930-3F88935B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next stage is to refine the model and evaluate it carefully.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0C5C7-0A41-4E54-A754-B4D75F9E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705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A7D8C-9908-445F-B12F-459CBC95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E3D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FE3D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361C0-DB92-4BFF-8FCE-A59F71D6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FE3D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BFE3DC"/>
                </a:solidFill>
                <a:latin typeface="Aptos Display"/>
                <a:ea typeface="Aptos Display"/>
                <a:cs typeface="Aptos Display"/>
              </a:rPr>
              <a:t>Model refinement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1890F-8F43-45E3-A0BC-B9366B2B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Decide how friendship strength, direction, and course context should be represented.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92CA4-57ED-4A50-95DB-E726F24C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2705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2E710-5828-4C04-BCDE-13031DBB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14C0E-3411-4033-A4DF-3968CA49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1D49D"/>
                </a:solidFill>
                <a:latin typeface="Aptos Display"/>
                <a:ea typeface="Aptos Display"/>
                <a:cs typeface="Aptos Display"/>
              </a:rPr>
              <a:t>Better 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B6624-74CB-441B-A871-093E2845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Compare utility, friendship overlap, and Gini index without overclaiming early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15DDD-56E6-475A-B1C7-E98863B9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52700"/>
            <a:ext cx="2705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4D5C2-23C6-409D-9FBE-326A832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B8C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9B8C6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E2DF1-D39E-4B0F-9B19-2AD0FCE6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9B8C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9B8C6"/>
                </a:solidFill>
                <a:latin typeface="Aptos Display"/>
                <a:ea typeface="Aptos Display"/>
                <a:cs typeface="Aptos Display"/>
              </a:rPr>
              <a:t>Research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DC936-B82F-46BC-8F63-E0DC8D65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Use this stage to clarify assumptions, definitions, and the most interesting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9D448-F6F4-44CB-BF39-D4D12337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86350"/>
            <a:ext cx="891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647CB-41AB-476F-B9BB-888D10BA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38750"/>
            <a:ext cx="811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goal for now is not to prove the final answer; it is to build a clean framework that can support serious analysis.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62E07-EE89-440A-A503-5455B7D7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C19F0-E633-4B80-BA7A-EB81CD1A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FB0C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9FB0C5"/>
                </a:solidFill>
                <a:latin typeface="Aptos"/>
                <a:ea typeface="Aptos"/>
                <a:cs typeface="Aptos"/>
              </a:rPr>
              <a:t>Research-in-progress close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EC72E-B8B9-4275-8D20-7B28CB28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7D7E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7D7EA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301920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2026-05-06T21:21:12.7090000Z</dcterms:created>
  <dcterms:modified xsi:type="dcterms:W3CDTF">2026-05-06T21:21:12.7090000Z</dcterms:modified>
</coreProperties>
</file>