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96"/>
  </p:normalViewPr>
  <p:slideViewPr>
    <p:cSldViewPr snapToGrid="0">
      <p:cViewPr varScale="1">
        <p:scale>
          <a:sx n="105" d="100"/>
          <a:sy n="105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6248D24-B0B2-4955-9582-A2433744BF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FCC7FC-93C7-40E1-B624-944EDBDBDF63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C2460D-01F6-44CA-863C-30D11B158E1B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COURSE ALLOCATION WITH FRIENDSHIPS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E0AE7-6092-406E-9856-1666810A4BE7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Когда курсы выбирают вместе: friendship-aware course allocation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2298DA-4223-4080-A609-82D0DBC94744}"/>
              </a:ext>
            </a:extLst>
          </p:cNvPr>
          <p:cNvSpPr>
            <a:spLocks noGrp="1"/>
          </p:cNvSpPr>
          <p:nvPr/>
        </p:nvSpPr>
        <p:spPr>
          <a:xfrm>
            <a:off x="590550" y="2686050"/>
            <a:ext cx="666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Расширение HBS-style snake draft: индивидуальные предпочтения студентов дополняются направленными отношениями дружбы и post-allocation local search.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D9EB5-841E-4094-9F71-002A005B6235}"/>
              </a:ext>
            </a:extLst>
          </p:cNvPr>
          <p:cNvSpPr>
            <a:spLocks noGrp="1"/>
          </p:cNvSpPr>
          <p:nvPr/>
        </p:nvSpPr>
        <p:spPr>
          <a:xfrm>
            <a:off x="8020050" y="914400"/>
            <a:ext cx="3048000" cy="4000500"/>
          </a:xfrm>
          <a:prstGeom prst="rect">
            <a:avLst/>
          </a:prstGeom>
          <a:solidFill>
            <a:srgbClr val="1721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850C2A-0A2A-4F33-B0C5-F751409A90C3}"/>
              </a:ext>
            </a:extLst>
          </p:cNvPr>
          <p:cNvSpPr>
            <a:spLocks noGrp="1"/>
          </p:cNvSpPr>
          <p:nvPr/>
        </p:nvSpPr>
        <p:spPr>
          <a:xfrm>
            <a:off x="8305800" y="12382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D7EA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BDD2E9-DFEA-4F11-9C9B-EED805C7AFE2}"/>
              </a:ext>
            </a:extLst>
          </p:cNvPr>
          <p:cNvSpPr>
            <a:spLocks noGrp="1"/>
          </p:cNvSpPr>
          <p:nvPr/>
        </p:nvSpPr>
        <p:spPr>
          <a:xfrm>
            <a:off x="8305800" y="1600200"/>
            <a:ext cx="23431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allocation becomes</a:t>
            </a:r>
          </a:p>
          <a:p>
            <a:pPr algn="l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socially coupled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5775FC-1D7C-4DA9-A4CB-51164DF81634}"/>
              </a:ext>
            </a:extLst>
          </p:cNvPr>
          <p:cNvSpPr>
            <a:spLocks noGrp="1"/>
          </p:cNvSpPr>
          <p:nvPr/>
        </p:nvSpPr>
        <p:spPr>
          <a:xfrm>
            <a:off x="8305800" y="2686050"/>
            <a:ext cx="2343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2EF"/>
                </a:solidFill>
                <a:latin typeface="Aptos"/>
                <a:ea typeface="Aptos"/>
                <a:cs typeface="Aptos"/>
              </a:rPr>
              <a:t>A student's utility for a course depends partly on whether relevant friends are already assigned to that same course.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1AF60C-AAE8-4333-8434-13E44A2AF1EA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2247900" cy="609600"/>
          </a:xfrm>
          <a:prstGeom prst="rect">
            <a:avLst/>
          </a:prstGeom>
          <a:solidFill>
            <a:srgbClr val="223044"/>
          </a:solidFill>
          <a:ln w="9525">
            <a:solidFill>
              <a:srgbClr val="4151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EE0C5-4E8F-4945-B799-BA92121FA640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rPr>
              <a:t>U = individual value + social term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D7EB2B-D6AA-4DBC-9687-C28B482FDAC0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28575" cy="571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4F9130-5F0E-418D-BD80-8B7B91AED3C9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1571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4170A-E71C-4AC3-BBB4-F1C455D14EDA}"/>
              </a:ext>
            </a:extLst>
          </p:cNvPr>
          <p:cNvSpPr>
            <a:spLocks noGrp="1"/>
          </p:cNvSpPr>
          <p:nvPr/>
        </p:nvSpPr>
        <p:spPr>
          <a:xfrm>
            <a:off x="762000" y="4381500"/>
            <a:ext cx="1571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Directed friendship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C27B15-2C2C-4776-84CD-C95AB4CCC532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1571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asymmetric, course-specific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5049A-18C7-4306-A286-AB0960ACF484}"/>
              </a:ext>
            </a:extLst>
          </p:cNvPr>
          <p:cNvSpPr>
            <a:spLocks noGrp="1"/>
          </p:cNvSpPr>
          <p:nvPr/>
        </p:nvSpPr>
        <p:spPr>
          <a:xfrm>
            <a:off x="3028950" y="4019550"/>
            <a:ext cx="28575" cy="57150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4147B6-EF43-47B5-94A9-D04854E3C5F2}"/>
              </a:ext>
            </a:extLst>
          </p:cNvPr>
          <p:cNvSpPr>
            <a:spLocks noGrp="1"/>
          </p:cNvSpPr>
          <p:nvPr/>
        </p:nvSpPr>
        <p:spPr>
          <a:xfrm>
            <a:off x="3181350" y="4038600"/>
            <a:ext cx="1571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AFDBB4-C82A-4C2E-BF2B-8F81758FC79F}"/>
              </a:ext>
            </a:extLst>
          </p:cNvPr>
          <p:cNvSpPr>
            <a:spLocks noGrp="1"/>
          </p:cNvSpPr>
          <p:nvPr/>
        </p:nvSpPr>
        <p:spPr>
          <a:xfrm>
            <a:off x="3181350" y="4381500"/>
            <a:ext cx="1571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Reactive utility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51B56A-6C50-42F6-8BD1-F0BBFCE7D609}"/>
              </a:ext>
            </a:extLst>
          </p:cNvPr>
          <p:cNvSpPr>
            <a:spLocks noGrp="1"/>
          </p:cNvSpPr>
          <p:nvPr/>
        </p:nvSpPr>
        <p:spPr>
          <a:xfrm>
            <a:off x="3181350" y="4552950"/>
            <a:ext cx="1571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only allocated friends count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165CD5-F899-46E3-BEDF-466BB5D0C60B}"/>
              </a:ext>
            </a:extLst>
          </p:cNvPr>
          <p:cNvSpPr>
            <a:spLocks noGrp="1"/>
          </p:cNvSpPr>
          <p:nvPr/>
        </p:nvSpPr>
        <p:spPr>
          <a:xfrm>
            <a:off x="5467350" y="4019550"/>
            <a:ext cx="28575" cy="5715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BFC612-C79F-45A3-944D-81B7EB5D5CA6}"/>
              </a:ext>
            </a:extLst>
          </p:cNvPr>
          <p:cNvSpPr>
            <a:spLocks noGrp="1"/>
          </p:cNvSpPr>
          <p:nvPr/>
        </p:nvSpPr>
        <p:spPr>
          <a:xfrm>
            <a:off x="5619750" y="4038600"/>
            <a:ext cx="1571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346DBF-E1DA-40BF-8C00-7752A11E61AF}"/>
              </a:ext>
            </a:extLst>
          </p:cNvPr>
          <p:cNvSpPr>
            <a:spLocks noGrp="1"/>
          </p:cNvSpPr>
          <p:nvPr/>
        </p:nvSpPr>
        <p:spPr>
          <a:xfrm>
            <a:off x="5619750" y="4381500"/>
            <a:ext cx="1571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Local search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3F299C-86DB-43E8-8933-DE7C54151C23}"/>
              </a:ext>
            </a:extLst>
          </p:cNvPr>
          <p:cNvSpPr>
            <a:spLocks noGrp="1"/>
          </p:cNvSpPr>
          <p:nvPr/>
        </p:nvSpPr>
        <p:spPr>
          <a:xfrm>
            <a:off x="5619750" y="4552950"/>
            <a:ext cx="1571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swap, drop-add, hybrid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B86969-3C37-4EF1-93ED-9A6AF06C60C0}"/>
              </a:ext>
            </a:extLst>
          </p:cNvPr>
          <p:cNvSpPr>
            <a:spLocks noGrp="1"/>
          </p:cNvSpPr>
          <p:nvPr/>
        </p:nvSpPr>
        <p:spPr>
          <a:xfrm>
            <a:off x="971550" y="5353050"/>
            <a:ext cx="933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77D1A7-186F-40B1-9241-AB8C480C3F03}"/>
              </a:ext>
            </a:extLst>
          </p:cNvPr>
          <p:cNvSpPr>
            <a:spLocks noGrp="1"/>
          </p:cNvSpPr>
          <p:nvPr/>
        </p:nvSpPr>
        <p:spPr>
          <a:xfrm>
            <a:off x="1219200" y="548640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Research thesis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606D40-BF12-4989-A4D7-D7E832E9D259}"/>
              </a:ext>
            </a:extLst>
          </p:cNvPr>
          <p:cNvSpPr>
            <a:spLocks noGrp="1"/>
          </p:cNvSpPr>
          <p:nvPr/>
        </p:nvSpPr>
        <p:spPr>
          <a:xfrm>
            <a:off x="2476500" y="54673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Friendship relations can be modeled as a formal social preference term, and their effect can be measured through welfare, inequality, and overlap statistics.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4E8A31-D600-4859-854B-DF7EA7ED70F4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E1610-4EF3-4B63-AD05-8D0C50CCDDE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Sources: README.md; course_allocation_abstract_review.txt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607099-5399-43C1-BBDF-308F7F5A3DB4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1/14</a:t>
            </a:r>
          </a:p>
        </p:txBody>
      </p:sp>
    </p:spTree>
    <p:extLst>
      <p:ext uri="{BB962C8B-B14F-4D97-AF65-F5344CB8AC3E}">
        <p14:creationId xmlns:p14="http://schemas.microsoft.com/office/powerpoint/2010/main" val="89988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9055B29-1E79-45C1-AAC8-B792D243ED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B52496-926D-4E6A-85C2-AAF8052BD876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E51A9-F5BA-48D8-A7D3-2B8D21671F66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RESEARCH GAP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DAC9CD-19FF-4AF0-B018-6B5581AF5C8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572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Классическая постановка теряет социальную внешность выбора.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BDA4E-16AA-48C3-89B4-CACDA97A08BB}"/>
              </a:ext>
            </a:extLst>
          </p:cNvPr>
          <p:cNvSpPr>
            <a:spLocks noGrp="1"/>
          </p:cNvSpPr>
          <p:nvPr/>
        </p:nvSpPr>
        <p:spPr>
          <a:xfrm>
            <a:off x="590550" y="1657350"/>
            <a:ext cx="857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Стандартный course allocation рассматривает студентов как независимых агентов. Но в реальном выборе курсов полезность часто зависит от того, с кем студент окажется в аудитории.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735B6-AB34-4EB6-BFB5-EA0F34658F12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14325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0BE5D7-0DC1-44E1-A5BB-36437556FA69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CLASSICAL BASELINE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367FC1-FC5A-4D92-A276-51DD35DB983A}"/>
              </a:ext>
            </a:extLst>
          </p:cNvPr>
          <p:cNvSpPr>
            <a:spLocks noGrp="1"/>
          </p:cNvSpPr>
          <p:nvPr/>
        </p:nvSpPr>
        <p:spPr>
          <a:xfrm>
            <a:off x="857250" y="3009900"/>
            <a:ext cx="28003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One-sided combinatorial assignment: students receive feasible bundles of indivisible course seats under capacity constraints.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5D45CA-21D4-45E0-8835-21A43678D42C}"/>
              </a:ext>
            </a:extLst>
          </p:cNvPr>
          <p:cNvSpPr>
            <a:spLocks noGrp="1"/>
          </p:cNvSpPr>
          <p:nvPr/>
        </p:nvSpPr>
        <p:spPr>
          <a:xfrm>
            <a:off x="4514850" y="2609850"/>
            <a:ext cx="314325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1262AB-A9C3-408C-A78B-AA3A1E317E17}"/>
              </a:ext>
            </a:extLst>
          </p:cNvPr>
          <p:cNvSpPr>
            <a:spLocks noGrp="1"/>
          </p:cNvSpPr>
          <p:nvPr/>
        </p:nvSpPr>
        <p:spPr>
          <a:xfrm>
            <a:off x="4686300" y="276225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MISSING VARIABLE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D944C0-0F65-47AB-8156-6EAC353A3509}"/>
              </a:ext>
            </a:extLst>
          </p:cNvPr>
          <p:cNvSpPr>
            <a:spLocks noGrp="1"/>
          </p:cNvSpPr>
          <p:nvPr/>
        </p:nvSpPr>
        <p:spPr>
          <a:xfrm>
            <a:off x="4686300" y="3009900"/>
            <a:ext cx="28003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Preferences are usually individual: the model observes how much a student wants a course, not whether friends also make that course valuable.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E169B-3D26-49C3-8BE9-5B913FF269FA}"/>
              </a:ext>
            </a:extLst>
          </p:cNvPr>
          <p:cNvSpPr>
            <a:spLocks noGrp="1"/>
          </p:cNvSpPr>
          <p:nvPr/>
        </p:nvSpPr>
        <p:spPr>
          <a:xfrm>
            <a:off x="8343900" y="2609850"/>
            <a:ext cx="314325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1C742-F27F-44A5-9AC5-1518850378F2}"/>
              </a:ext>
            </a:extLst>
          </p:cNvPr>
          <p:cNvSpPr>
            <a:spLocks noGrp="1"/>
          </p:cNvSpPr>
          <p:nvPr/>
        </p:nvSpPr>
        <p:spPr>
          <a:xfrm>
            <a:off x="8515350" y="276225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PROJECT EXTENSION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46F1D6-5D53-465D-827C-7F0007B61964}"/>
              </a:ext>
            </a:extLst>
          </p:cNvPr>
          <p:cNvSpPr>
            <a:spLocks noGrp="1"/>
          </p:cNvSpPr>
          <p:nvPr/>
        </p:nvSpPr>
        <p:spPr>
          <a:xfrm>
            <a:off x="8515350" y="3009900"/>
            <a:ext cx="28003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 directed friendship term enters the utility model and is evaluated together with welfare, inequality, and social-overlap metrics.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DD5A41-BE1D-4D3C-B7EF-190783AAE1DE}"/>
              </a:ext>
            </a:extLst>
          </p:cNvPr>
          <p:cNvSpPr>
            <a:spLocks noGrp="1"/>
          </p:cNvSpPr>
          <p:nvPr/>
        </p:nvSpPr>
        <p:spPr>
          <a:xfrm>
            <a:off x="876300" y="5095875"/>
            <a:ext cx="10439400" cy="438150"/>
          </a:xfrm>
          <a:prstGeom prst="rect">
            <a:avLst/>
          </a:prstGeom>
          <a:solidFill>
            <a:srgbClr val="1721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60832-8653-41AF-A7D4-FF0010948313}"/>
              </a:ext>
            </a:extLst>
          </p:cNvPr>
          <p:cNvSpPr>
            <a:spLocks noGrp="1"/>
          </p:cNvSpPr>
          <p:nvPr/>
        </p:nvSpPr>
        <p:spPr>
          <a:xfrm>
            <a:off x="1162050" y="5219700"/>
            <a:ext cx="9886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Main conceptual move: friendship is not a side note after allocation; it becomes part of the mechanism's utility calculation.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1005B6-8894-4681-8697-C98A1F631028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5BB9B9-3C6A-41B8-8D36-0B578C13C9C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course_allocation_abstract_review.txt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D2AC47-0552-4D82-B9A9-EDDE7AFBD5B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173897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BF625C34-94A1-4488-878C-DDC2F821A5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12C409-ECA9-4D94-88E1-ED2A26A7C5F7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8E356-9A86-4B2B-8665-747C4F412071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MODEL INPUTS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29F68E-DCC7-4800-A9B6-ADB64262DD4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Мы добавляем к индивидуальным ранжированиям направленный friendship graph.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811626-9BD9-4846-BA3B-83857F528B4D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2057400" cy="762000"/>
          </a:xfrm>
          <a:prstGeom prst="rect">
            <a:avLst/>
          </a:prstGeom>
          <a:solidFill>
            <a:srgbClr val="FFFCF4"/>
          </a:solidFill>
          <a:ln w="9525">
            <a:solidFill>
              <a:srgbClr val="35507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CDA849-80C0-42A3-9047-1EFFFFD83C45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Table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E2273-6FB8-4786-999E-AA02E4B24D47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StudentID, CourseID</a:t>
            </a:r>
          </a:p>
          <a:p>
            <a:pPr algn="l">
              <a:defRPr sz="825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Score, 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00AFFF-6CB6-4296-880E-F963AF477C9A}"/>
              </a:ext>
            </a:extLst>
          </p:cNvPr>
          <p:cNvSpPr>
            <a:spLocks noGrp="1"/>
          </p:cNvSpPr>
          <p:nvPr/>
        </p:nvSpPr>
        <p:spPr>
          <a:xfrm>
            <a:off x="704850" y="3314700"/>
            <a:ext cx="2057400" cy="762000"/>
          </a:xfrm>
          <a:prstGeom prst="rect">
            <a:avLst/>
          </a:prstGeom>
          <a:solidFill>
            <a:srgbClr val="FFFCF4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05537D-E240-48FA-BCFF-982B03DD6262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Table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96A782-EECC-4F38-9538-C29EF1C5382E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Student A -&gt; Student B</a:t>
            </a:r>
          </a:p>
          <a:p>
            <a:pPr algn="l">
              <a:defRPr sz="825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CourseID, Position, Score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A9DC46-8901-442A-9CAE-A1234268AB83}"/>
              </a:ext>
            </a:extLst>
          </p:cNvPr>
          <p:cNvSpPr>
            <a:spLocks noGrp="1"/>
          </p:cNvSpPr>
          <p:nvPr/>
        </p:nvSpPr>
        <p:spPr>
          <a:xfrm>
            <a:off x="704850" y="4476750"/>
            <a:ext cx="2057400" cy="762000"/>
          </a:xfrm>
          <a:prstGeom prst="rect">
            <a:avLst/>
          </a:prstGeom>
          <a:solidFill>
            <a:srgbClr val="FFFCF4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A8CB72-56D3-4E39-AF8C-67FE8398F1F8}"/>
              </a:ext>
            </a:extLst>
          </p:cNvPr>
          <p:cNvSpPr>
            <a:spLocks noGrp="1"/>
          </p:cNvSpPr>
          <p:nvPr/>
        </p:nvSpPr>
        <p:spPr>
          <a:xfrm>
            <a:off x="876300" y="46101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Table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F2A0A1-89B7-4C4E-ACE2-B46CEDAA1B29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StudentID</a:t>
            </a:r>
          </a:p>
          <a:p>
            <a:pPr algn="l">
              <a:defRPr sz="825" b="0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E"/>
                </a:solidFill>
                <a:latin typeface="Aptos"/>
                <a:ea typeface="Aptos"/>
                <a:cs typeface="Aptos"/>
              </a:rPr>
              <a:t>LambdaFriend in [0,1]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B1589D-72AB-4DEF-9237-ED560F039F9E}"/>
              </a:ext>
            </a:extLst>
          </p:cNvPr>
          <p:cNvSpPr>
            <a:spLocks noGrp="1"/>
          </p:cNvSpPr>
          <p:nvPr/>
        </p:nvSpPr>
        <p:spPr>
          <a:xfrm>
            <a:off x="3048000" y="3352800"/>
            <a:ext cx="9144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376BC2-8294-43E4-A780-0B3A72E3BBF9}"/>
              </a:ext>
            </a:extLst>
          </p:cNvPr>
          <p:cNvSpPr>
            <a:spLocks noGrp="1"/>
          </p:cNvSpPr>
          <p:nvPr/>
        </p:nvSpPr>
        <p:spPr>
          <a:xfrm>
            <a:off x="3943350" y="32194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DD147B-4F60-478D-A5BC-E43CC1B127BA}"/>
              </a:ext>
            </a:extLst>
          </p:cNvPr>
          <p:cNvSpPr>
            <a:spLocks noGrp="1"/>
          </p:cNvSpPr>
          <p:nvPr/>
        </p:nvSpPr>
        <p:spPr>
          <a:xfrm>
            <a:off x="4400550" y="1962150"/>
            <a:ext cx="3143250" cy="33909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D8E09A-88ED-49F1-8EB5-439FEC457041}"/>
              </a:ext>
            </a:extLst>
          </p:cNvPr>
          <p:cNvSpPr>
            <a:spLocks noGrp="1"/>
          </p:cNvSpPr>
          <p:nvPr/>
        </p:nvSpPr>
        <p:spPr>
          <a:xfrm>
            <a:off x="4648200" y="2171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Feasible allocation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9EF0ED-2089-46C8-9D26-F2D6C51F7975}"/>
              </a:ext>
            </a:extLst>
          </p:cNvPr>
          <p:cNvSpPr>
            <a:spLocks noGrp="1"/>
          </p:cNvSpPr>
          <p:nvPr/>
        </p:nvSpPr>
        <p:spPr>
          <a:xfrm>
            <a:off x="4762500" y="270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6086E4-7754-4377-A5AF-AFECC59A4601}"/>
              </a:ext>
            </a:extLst>
          </p:cNvPr>
          <p:cNvSpPr>
            <a:spLocks noGrp="1"/>
          </p:cNvSpPr>
          <p:nvPr/>
        </p:nvSpPr>
        <p:spPr>
          <a:xfrm>
            <a:off x="4762500" y="32194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83120C-3B12-4FBC-ABCB-03F024F79EEE}"/>
              </a:ext>
            </a:extLst>
          </p:cNvPr>
          <p:cNvSpPr>
            <a:spLocks noGrp="1"/>
          </p:cNvSpPr>
          <p:nvPr/>
        </p:nvSpPr>
        <p:spPr>
          <a:xfrm>
            <a:off x="4762500" y="37338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8082C6-4F1A-42E0-B93D-586BBA3EECCF}"/>
              </a:ext>
            </a:extLst>
          </p:cNvPr>
          <p:cNvSpPr>
            <a:spLocks noGrp="1"/>
          </p:cNvSpPr>
          <p:nvPr/>
        </p:nvSpPr>
        <p:spPr>
          <a:xfrm>
            <a:off x="4762500" y="424815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C034E7-118B-4E84-A1A2-85A6F42380E1}"/>
              </a:ext>
            </a:extLst>
          </p:cNvPr>
          <p:cNvSpPr>
            <a:spLocks noGrp="1"/>
          </p:cNvSpPr>
          <p:nvPr/>
        </p:nvSpPr>
        <p:spPr>
          <a:xfrm>
            <a:off x="5505450" y="24574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6B8717-B348-4DB7-B9E1-41D85D5EC346}"/>
              </a:ext>
            </a:extLst>
          </p:cNvPr>
          <p:cNvSpPr>
            <a:spLocks noGrp="1"/>
          </p:cNvSpPr>
          <p:nvPr/>
        </p:nvSpPr>
        <p:spPr>
          <a:xfrm>
            <a:off x="6096000" y="24574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6AB37E-069F-4DEE-BF7B-029083B971F5}"/>
              </a:ext>
            </a:extLst>
          </p:cNvPr>
          <p:cNvSpPr>
            <a:spLocks noGrp="1"/>
          </p:cNvSpPr>
          <p:nvPr/>
        </p:nvSpPr>
        <p:spPr>
          <a:xfrm>
            <a:off x="6686550" y="24574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592FDE-9992-46D3-9221-81198C2ADC8B}"/>
              </a:ext>
            </a:extLst>
          </p:cNvPr>
          <p:cNvSpPr>
            <a:spLocks noGrp="1"/>
          </p:cNvSpPr>
          <p:nvPr/>
        </p:nvSpPr>
        <p:spPr>
          <a:xfrm>
            <a:off x="5467350" y="268605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5F9FF8-5062-436A-ABD5-E7F6ED172C42}"/>
              </a:ext>
            </a:extLst>
          </p:cNvPr>
          <p:cNvSpPr>
            <a:spLocks noGrp="1"/>
          </p:cNvSpPr>
          <p:nvPr/>
        </p:nvSpPr>
        <p:spPr>
          <a:xfrm>
            <a:off x="6057900" y="268605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622702-FE8E-43F2-98BE-1AFCC4B337EA}"/>
              </a:ext>
            </a:extLst>
          </p:cNvPr>
          <p:cNvSpPr>
            <a:spLocks noGrp="1"/>
          </p:cNvSpPr>
          <p:nvPr/>
        </p:nvSpPr>
        <p:spPr>
          <a:xfrm>
            <a:off x="6648450" y="268605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5C22E0-2882-4C6F-8ABE-4624FAE7A69E}"/>
              </a:ext>
            </a:extLst>
          </p:cNvPr>
          <p:cNvSpPr>
            <a:spLocks noGrp="1"/>
          </p:cNvSpPr>
          <p:nvPr/>
        </p:nvSpPr>
        <p:spPr>
          <a:xfrm>
            <a:off x="5467350" y="320040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7EBD7B-D019-419A-ADB6-35E0A3475071}"/>
              </a:ext>
            </a:extLst>
          </p:cNvPr>
          <p:cNvSpPr>
            <a:spLocks noGrp="1"/>
          </p:cNvSpPr>
          <p:nvPr/>
        </p:nvSpPr>
        <p:spPr>
          <a:xfrm>
            <a:off x="6057900" y="320040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83F516-4AEA-4D29-AC06-1E6FC05DF05A}"/>
              </a:ext>
            </a:extLst>
          </p:cNvPr>
          <p:cNvSpPr>
            <a:spLocks noGrp="1"/>
          </p:cNvSpPr>
          <p:nvPr/>
        </p:nvSpPr>
        <p:spPr>
          <a:xfrm>
            <a:off x="6648450" y="320040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3EB432-11D2-4BFE-B86C-BCCBF3E647C9}"/>
              </a:ext>
            </a:extLst>
          </p:cNvPr>
          <p:cNvSpPr>
            <a:spLocks noGrp="1"/>
          </p:cNvSpPr>
          <p:nvPr/>
        </p:nvSpPr>
        <p:spPr>
          <a:xfrm>
            <a:off x="5467350" y="371475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E4CCB4-0695-4825-A9B0-7338932C6FE8}"/>
              </a:ext>
            </a:extLst>
          </p:cNvPr>
          <p:cNvSpPr>
            <a:spLocks noGrp="1"/>
          </p:cNvSpPr>
          <p:nvPr/>
        </p:nvSpPr>
        <p:spPr>
          <a:xfrm>
            <a:off x="6057900" y="371475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15EF60-57A3-438D-B57F-EEC683DC5012}"/>
              </a:ext>
            </a:extLst>
          </p:cNvPr>
          <p:cNvSpPr>
            <a:spLocks noGrp="1"/>
          </p:cNvSpPr>
          <p:nvPr/>
        </p:nvSpPr>
        <p:spPr>
          <a:xfrm>
            <a:off x="6648450" y="371475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FB70A-7AE5-4F06-9BF4-219D24A7F693}"/>
              </a:ext>
            </a:extLst>
          </p:cNvPr>
          <p:cNvSpPr>
            <a:spLocks noGrp="1"/>
          </p:cNvSpPr>
          <p:nvPr/>
        </p:nvSpPr>
        <p:spPr>
          <a:xfrm>
            <a:off x="5467350" y="422910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412112-CEF4-4801-9C00-A21EDE6E6FEF}"/>
              </a:ext>
            </a:extLst>
          </p:cNvPr>
          <p:cNvSpPr>
            <a:spLocks noGrp="1"/>
          </p:cNvSpPr>
          <p:nvPr/>
        </p:nvSpPr>
        <p:spPr>
          <a:xfrm>
            <a:off x="6057900" y="422910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F1F63F-756E-4FF8-8BE3-B2235A846D9D}"/>
              </a:ext>
            </a:extLst>
          </p:cNvPr>
          <p:cNvSpPr>
            <a:spLocks noGrp="1"/>
          </p:cNvSpPr>
          <p:nvPr/>
        </p:nvSpPr>
        <p:spPr>
          <a:xfrm>
            <a:off x="6648450" y="4229100"/>
            <a:ext cx="323850" cy="2667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DD4EA0C-AF3C-4EFB-82BC-A10A08A01E99}"/>
              </a:ext>
            </a:extLst>
          </p:cNvPr>
          <p:cNvSpPr>
            <a:spLocks noGrp="1"/>
          </p:cNvSpPr>
          <p:nvPr/>
        </p:nvSpPr>
        <p:spPr>
          <a:xfrm>
            <a:off x="5467350" y="2686050"/>
            <a:ext cx="323850" cy="2667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B974C5-C2E3-4E88-947B-CAA4F588DB9D}"/>
              </a:ext>
            </a:extLst>
          </p:cNvPr>
          <p:cNvSpPr>
            <a:spLocks noGrp="1"/>
          </p:cNvSpPr>
          <p:nvPr/>
        </p:nvSpPr>
        <p:spPr>
          <a:xfrm>
            <a:off x="6648450" y="2686050"/>
            <a:ext cx="323850" cy="2667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690CAA-4865-4201-BAF4-5588C3BDF38C}"/>
              </a:ext>
            </a:extLst>
          </p:cNvPr>
          <p:cNvSpPr>
            <a:spLocks noGrp="1"/>
          </p:cNvSpPr>
          <p:nvPr/>
        </p:nvSpPr>
        <p:spPr>
          <a:xfrm>
            <a:off x="6057900" y="3200400"/>
            <a:ext cx="323850" cy="2667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B0DC91-C447-413B-9E36-6AA633F4F43E}"/>
              </a:ext>
            </a:extLst>
          </p:cNvPr>
          <p:cNvSpPr>
            <a:spLocks noGrp="1"/>
          </p:cNvSpPr>
          <p:nvPr/>
        </p:nvSpPr>
        <p:spPr>
          <a:xfrm>
            <a:off x="5467350" y="3714750"/>
            <a:ext cx="323850" cy="2667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647FB0-D248-471D-A553-42452260B145}"/>
              </a:ext>
            </a:extLst>
          </p:cNvPr>
          <p:cNvSpPr>
            <a:spLocks noGrp="1"/>
          </p:cNvSpPr>
          <p:nvPr/>
        </p:nvSpPr>
        <p:spPr>
          <a:xfrm>
            <a:off x="6057900" y="3714750"/>
            <a:ext cx="323850" cy="2667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0923E5-58EC-4044-94EB-5D06EB199256}"/>
              </a:ext>
            </a:extLst>
          </p:cNvPr>
          <p:cNvSpPr>
            <a:spLocks noGrp="1"/>
          </p:cNvSpPr>
          <p:nvPr/>
        </p:nvSpPr>
        <p:spPr>
          <a:xfrm>
            <a:off x="6648450" y="4229100"/>
            <a:ext cx="323850" cy="2667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846148-2AAA-4DD7-88B5-939D321BEBA6}"/>
              </a:ext>
            </a:extLst>
          </p:cNvPr>
          <p:cNvSpPr>
            <a:spLocks noGrp="1"/>
          </p:cNvSpPr>
          <p:nvPr/>
        </p:nvSpPr>
        <p:spPr>
          <a:xfrm>
            <a:off x="4762500" y="487680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capacity(c) and max bundle size b constrain every assignment.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850118-412B-4D97-B0C0-2949FCC1B13B}"/>
              </a:ext>
            </a:extLst>
          </p:cNvPr>
          <p:cNvSpPr>
            <a:spLocks noGrp="1"/>
          </p:cNvSpPr>
          <p:nvPr/>
        </p:nvSpPr>
        <p:spPr>
          <a:xfrm>
            <a:off x="7734300" y="3352800"/>
            <a:ext cx="91440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082ACE-828D-4BD5-8ECA-706E05F1996A}"/>
              </a:ext>
            </a:extLst>
          </p:cNvPr>
          <p:cNvSpPr>
            <a:spLocks noGrp="1"/>
          </p:cNvSpPr>
          <p:nvPr/>
        </p:nvSpPr>
        <p:spPr>
          <a:xfrm>
            <a:off x="8629650" y="32194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EB4BD7-0D00-4D49-A4E4-1F4D246365F6}"/>
              </a:ext>
            </a:extLst>
          </p:cNvPr>
          <p:cNvSpPr>
            <a:spLocks noGrp="1"/>
          </p:cNvSpPr>
          <p:nvPr/>
        </p:nvSpPr>
        <p:spPr>
          <a:xfrm>
            <a:off x="9086850" y="1962150"/>
            <a:ext cx="2400300" cy="33909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137691B-FBCD-44D3-B6A6-4E48637E669C}"/>
              </a:ext>
            </a:extLst>
          </p:cNvPr>
          <p:cNvSpPr>
            <a:spLocks noGrp="1"/>
          </p:cNvSpPr>
          <p:nvPr/>
        </p:nvSpPr>
        <p:spPr>
          <a:xfrm>
            <a:off x="9334500" y="21717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Directed social layer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B1054E-6F97-430B-AE29-21D18AE9A6EC}"/>
              </a:ext>
            </a:extLst>
          </p:cNvPr>
          <p:cNvSpPr>
            <a:spLocks noGrp="1"/>
          </p:cNvSpPr>
          <p:nvPr/>
        </p:nvSpPr>
        <p:spPr>
          <a:xfrm>
            <a:off x="9410700" y="2743200"/>
            <a:ext cx="4381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AA388B-DF26-4E6A-A0CE-F24B885C26AC}"/>
              </a:ext>
            </a:extLst>
          </p:cNvPr>
          <p:cNvSpPr>
            <a:spLocks noGrp="1"/>
          </p:cNvSpPr>
          <p:nvPr/>
        </p:nvSpPr>
        <p:spPr>
          <a:xfrm>
            <a:off x="10668000" y="2743200"/>
            <a:ext cx="4381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A6CD8F-568E-4E43-9CAB-AFF9E5C5871D}"/>
              </a:ext>
            </a:extLst>
          </p:cNvPr>
          <p:cNvSpPr>
            <a:spLocks noGrp="1"/>
          </p:cNvSpPr>
          <p:nvPr/>
        </p:nvSpPr>
        <p:spPr>
          <a:xfrm>
            <a:off x="9410700" y="28003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1C009C-6C33-4FDB-B076-EE8DB18AB903}"/>
              </a:ext>
            </a:extLst>
          </p:cNvPr>
          <p:cNvSpPr>
            <a:spLocks noGrp="1"/>
          </p:cNvSpPr>
          <p:nvPr/>
        </p:nvSpPr>
        <p:spPr>
          <a:xfrm>
            <a:off x="10668000" y="28003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17E159-CED4-4636-B8E6-DC49035C7E76}"/>
              </a:ext>
            </a:extLst>
          </p:cNvPr>
          <p:cNvSpPr>
            <a:spLocks noGrp="1"/>
          </p:cNvSpPr>
          <p:nvPr/>
        </p:nvSpPr>
        <p:spPr>
          <a:xfrm>
            <a:off x="9925050" y="2867025"/>
            <a:ext cx="51435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72842DE-4CAD-4080-B224-0045AF8D9439}"/>
              </a:ext>
            </a:extLst>
          </p:cNvPr>
          <p:cNvSpPr>
            <a:spLocks noGrp="1"/>
          </p:cNvSpPr>
          <p:nvPr/>
        </p:nvSpPr>
        <p:spPr>
          <a:xfrm>
            <a:off x="10420350" y="27336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72B523-DC09-40B2-AA78-A3C593D17A06}"/>
              </a:ext>
            </a:extLst>
          </p:cNvPr>
          <p:cNvSpPr>
            <a:spLocks noGrp="1"/>
          </p:cNvSpPr>
          <p:nvPr/>
        </p:nvSpPr>
        <p:spPr>
          <a:xfrm>
            <a:off x="10077450" y="30861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6E0656-3F1E-4CC8-9DD3-CF7BA2C8627E}"/>
              </a:ext>
            </a:extLst>
          </p:cNvPr>
          <p:cNvSpPr>
            <a:spLocks noGrp="1"/>
          </p:cNvSpPr>
          <p:nvPr/>
        </p:nvSpPr>
        <p:spPr>
          <a:xfrm>
            <a:off x="9410700" y="3467100"/>
            <a:ext cx="4381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3BF8082-5C20-4B97-9745-4270B4CB639F}"/>
              </a:ext>
            </a:extLst>
          </p:cNvPr>
          <p:cNvSpPr>
            <a:spLocks noGrp="1"/>
          </p:cNvSpPr>
          <p:nvPr/>
        </p:nvSpPr>
        <p:spPr>
          <a:xfrm>
            <a:off x="10668000" y="3467100"/>
            <a:ext cx="4381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3D28BE-F0D6-418F-B7B6-B26160C85868}"/>
              </a:ext>
            </a:extLst>
          </p:cNvPr>
          <p:cNvSpPr>
            <a:spLocks noGrp="1"/>
          </p:cNvSpPr>
          <p:nvPr/>
        </p:nvSpPr>
        <p:spPr>
          <a:xfrm>
            <a:off x="9410700" y="35242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E74ECB9-23DF-44E8-9F5C-A4A4DBCC90FA}"/>
              </a:ext>
            </a:extLst>
          </p:cNvPr>
          <p:cNvSpPr>
            <a:spLocks noGrp="1"/>
          </p:cNvSpPr>
          <p:nvPr/>
        </p:nvSpPr>
        <p:spPr>
          <a:xfrm>
            <a:off x="10668000" y="35242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A16520-8FC5-4E84-91D4-07A3CD1EA373}"/>
              </a:ext>
            </a:extLst>
          </p:cNvPr>
          <p:cNvSpPr>
            <a:spLocks noGrp="1"/>
          </p:cNvSpPr>
          <p:nvPr/>
        </p:nvSpPr>
        <p:spPr>
          <a:xfrm>
            <a:off x="9925050" y="3590925"/>
            <a:ext cx="5143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F72C326-29EC-43E7-9500-8F6FE4B67254}"/>
              </a:ext>
            </a:extLst>
          </p:cNvPr>
          <p:cNvSpPr>
            <a:spLocks noGrp="1"/>
          </p:cNvSpPr>
          <p:nvPr/>
        </p:nvSpPr>
        <p:spPr>
          <a:xfrm>
            <a:off x="10420350" y="34575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DFF48D2-275F-49A6-B3E4-A742A291CF1E}"/>
              </a:ext>
            </a:extLst>
          </p:cNvPr>
          <p:cNvSpPr>
            <a:spLocks noGrp="1"/>
          </p:cNvSpPr>
          <p:nvPr/>
        </p:nvSpPr>
        <p:spPr>
          <a:xfrm>
            <a:off x="10077450" y="38100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88651EC-8E03-46D9-98CF-480728276694}"/>
              </a:ext>
            </a:extLst>
          </p:cNvPr>
          <p:cNvSpPr>
            <a:spLocks noGrp="1"/>
          </p:cNvSpPr>
          <p:nvPr/>
        </p:nvSpPr>
        <p:spPr>
          <a:xfrm>
            <a:off x="9410700" y="4191000"/>
            <a:ext cx="4381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799F4E-0BB5-458E-97E3-35ED2FA5483D}"/>
              </a:ext>
            </a:extLst>
          </p:cNvPr>
          <p:cNvSpPr>
            <a:spLocks noGrp="1"/>
          </p:cNvSpPr>
          <p:nvPr/>
        </p:nvSpPr>
        <p:spPr>
          <a:xfrm>
            <a:off x="10668000" y="4191000"/>
            <a:ext cx="4381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AA35228-6EC2-46F4-B315-8880CC2C1F23}"/>
              </a:ext>
            </a:extLst>
          </p:cNvPr>
          <p:cNvSpPr>
            <a:spLocks noGrp="1"/>
          </p:cNvSpPr>
          <p:nvPr/>
        </p:nvSpPr>
        <p:spPr>
          <a:xfrm>
            <a:off x="9410700" y="42481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B86C12D-945B-436C-840D-1305F88D3CEF}"/>
              </a:ext>
            </a:extLst>
          </p:cNvPr>
          <p:cNvSpPr>
            <a:spLocks noGrp="1"/>
          </p:cNvSpPr>
          <p:nvPr/>
        </p:nvSpPr>
        <p:spPr>
          <a:xfrm>
            <a:off x="10668000" y="42481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DC1A4BF-1D9E-4ED6-A030-AF50FA326E5D}"/>
              </a:ext>
            </a:extLst>
          </p:cNvPr>
          <p:cNvSpPr>
            <a:spLocks noGrp="1"/>
          </p:cNvSpPr>
          <p:nvPr/>
        </p:nvSpPr>
        <p:spPr>
          <a:xfrm>
            <a:off x="9925050" y="4314825"/>
            <a:ext cx="514350" cy="190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407576C-6748-4F9A-A858-0A69ECDCFD7D}"/>
              </a:ext>
            </a:extLst>
          </p:cNvPr>
          <p:cNvSpPr>
            <a:spLocks noGrp="1"/>
          </p:cNvSpPr>
          <p:nvPr/>
        </p:nvSpPr>
        <p:spPr>
          <a:xfrm>
            <a:off x="10420350" y="41814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A0ABD31-3EE9-48BB-A6C5-65C7F26577B5}"/>
              </a:ext>
            </a:extLst>
          </p:cNvPr>
          <p:cNvSpPr>
            <a:spLocks noGrp="1"/>
          </p:cNvSpPr>
          <p:nvPr/>
        </p:nvSpPr>
        <p:spPr>
          <a:xfrm>
            <a:off x="10077450" y="45339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CD9D28-DAA2-4E99-A390-0DD0DD9DD350}"/>
              </a:ext>
            </a:extLst>
          </p:cNvPr>
          <p:cNvSpPr>
            <a:spLocks noGrp="1"/>
          </p:cNvSpPr>
          <p:nvPr/>
        </p:nvSpPr>
        <p:spPr>
          <a:xfrm>
            <a:off x="9372600" y="4933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Semantics: A wants to be in course c together with B.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72F73C-4D45-4147-874B-3048D71BD417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09E8C0E-E901-4AC3-9305-648A22679DE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input data format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32F11C4-763E-428F-9D35-5B54838EA2FA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25684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8513AAC-8E1F-47DF-8307-C24004FE33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4502AD-15A8-4719-B094-1B309FCC7CFD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D6254-ED4C-460C-87A1-2344B508A2A8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UTILITY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335B5A-2262-4E1E-8C1B-339BB917150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57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Utility decomposes into course value and a normalized social bonus.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F9927-7B27-455D-9E29-FDC52184814E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4476750" cy="7239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770F7-1F33-4713-ABF5-CE707B9C4FA1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Base(s,c) = posU(Position_A(s,c), |C|)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A2BCD-DD6A-41C3-8805-C43EF9FE8C2D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4476750" cy="819150"/>
          </a:xfrm>
          <a:prstGeom prst="rect">
            <a:avLst/>
          </a:prstGeom>
          <a:solidFill>
            <a:srgbClr val="FFFCF4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55712E-7A20-4881-9F4E-FFDD63DD5A49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4095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FriendBonus(s,c) = Σ_f 1[c ∈ A_f] · Pref(s,f,c)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A549F6-F439-42CD-AE82-2BBF78767506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476750" cy="914400"/>
          </a:xfrm>
          <a:prstGeom prst="rect">
            <a:avLst/>
          </a:prstGeom>
          <a:solidFill>
            <a:srgbClr val="FFFCF4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C42656-B1D6-4A47-9B2B-FD808A488450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4095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U(s,c) = (1 - λ_s) · Base(s,c) + λ_s · FriendBonusNorm(s,c)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0BBA7E-E604-4F10-BA14-E37673BDB04D}"/>
              </a:ext>
            </a:extLst>
          </p:cNvPr>
          <p:cNvSpPr>
            <a:spLocks noGrp="1"/>
          </p:cNvSpPr>
          <p:nvPr/>
        </p:nvSpPr>
        <p:spPr>
          <a:xfrm>
            <a:off x="5905500" y="2038350"/>
            <a:ext cx="4953000" cy="20574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81DE7-42B6-4A06-80BD-19E04876353B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Interpretation of λ_s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5CBFDB-7385-4D9A-96CE-77C4C531A92D}"/>
              </a:ext>
            </a:extLst>
          </p:cNvPr>
          <p:cNvSpPr>
            <a:spLocks noGrp="1"/>
          </p:cNvSpPr>
          <p:nvPr/>
        </p:nvSpPr>
        <p:spPr>
          <a:xfrm>
            <a:off x="6286500" y="2952750"/>
            <a:ext cx="3619500" cy="1143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283B95-C920-4239-8A8C-62D24E2FA126}"/>
              </a:ext>
            </a:extLst>
          </p:cNvPr>
          <p:cNvSpPr>
            <a:spLocks noGrp="1"/>
          </p:cNvSpPr>
          <p:nvPr/>
        </p:nvSpPr>
        <p:spPr>
          <a:xfrm>
            <a:off x="6286500" y="2952750"/>
            <a:ext cx="180975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3B5FFA-517B-4337-B5E6-DD4C7F1E5EA8}"/>
              </a:ext>
            </a:extLst>
          </p:cNvPr>
          <p:cNvSpPr>
            <a:spLocks noGrp="1"/>
          </p:cNvSpPr>
          <p:nvPr/>
        </p:nvSpPr>
        <p:spPr>
          <a:xfrm>
            <a:off x="6191250" y="2838450"/>
            <a:ext cx="304800" cy="342900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27D6B7-D4AD-481D-9635-D5595D3EC319}"/>
              </a:ext>
            </a:extLst>
          </p:cNvPr>
          <p:cNvSpPr>
            <a:spLocks noGrp="1"/>
          </p:cNvSpPr>
          <p:nvPr/>
        </p:nvSpPr>
        <p:spPr>
          <a:xfrm>
            <a:off x="7953375" y="2838450"/>
            <a:ext cx="304800" cy="3429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8AC617-D94E-4160-ABA0-ED1FF0331440}"/>
              </a:ext>
            </a:extLst>
          </p:cNvPr>
          <p:cNvSpPr>
            <a:spLocks noGrp="1"/>
          </p:cNvSpPr>
          <p:nvPr/>
        </p:nvSpPr>
        <p:spPr>
          <a:xfrm>
            <a:off x="9753600" y="2838450"/>
            <a:ext cx="304800" cy="34290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443006-2065-4D57-910D-4230FC56E6AA}"/>
              </a:ext>
            </a:extLst>
          </p:cNvPr>
          <p:cNvSpPr>
            <a:spLocks noGrp="1"/>
          </p:cNvSpPr>
          <p:nvPr/>
        </p:nvSpPr>
        <p:spPr>
          <a:xfrm>
            <a:off x="5943600" y="33147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λ = 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B71DE7-D4F7-4278-B873-C17ED84251EA}"/>
              </a:ext>
            </a:extLst>
          </p:cNvPr>
          <p:cNvSpPr>
            <a:spLocks noGrp="1"/>
          </p:cNvSpPr>
          <p:nvPr/>
        </p:nvSpPr>
        <p:spPr>
          <a:xfrm>
            <a:off x="7677150" y="331470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λ = 0.5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435B4-9344-439B-B3CC-50E816E883BF}"/>
              </a:ext>
            </a:extLst>
          </p:cNvPr>
          <p:cNvSpPr>
            <a:spLocks noGrp="1"/>
          </p:cNvSpPr>
          <p:nvPr/>
        </p:nvSpPr>
        <p:spPr>
          <a:xfrm>
            <a:off x="9448800" y="33147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λ =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C0C1D3-5172-4B56-B4AF-86DC3D785D0B}"/>
              </a:ext>
            </a:extLst>
          </p:cNvPr>
          <p:cNvSpPr>
            <a:spLocks noGrp="1"/>
          </p:cNvSpPr>
          <p:nvPr/>
        </p:nvSpPr>
        <p:spPr>
          <a:xfrm>
            <a:off x="5886450" y="3562350"/>
            <a:ext cx="91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pure individual</a:t>
            </a:r>
          </a:p>
          <a:p>
            <a:pPr algn="ctr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preference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931457-ECCB-4388-8920-8890F1E2170C}"/>
              </a:ext>
            </a:extLst>
          </p:cNvPr>
          <p:cNvSpPr>
            <a:spLocks noGrp="1"/>
          </p:cNvSpPr>
          <p:nvPr/>
        </p:nvSpPr>
        <p:spPr>
          <a:xfrm>
            <a:off x="7677150" y="3562350"/>
            <a:ext cx="857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convex</a:t>
            </a:r>
          </a:p>
          <a:p>
            <a:pPr algn="ctr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4751D9-91E2-4057-90C0-840C44F4877F}"/>
              </a:ext>
            </a:extLst>
          </p:cNvPr>
          <p:cNvSpPr>
            <a:spLocks noGrp="1"/>
          </p:cNvSpPr>
          <p:nvPr/>
        </p:nvSpPr>
        <p:spPr>
          <a:xfrm>
            <a:off x="9410700" y="3562350"/>
            <a:ext cx="91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pure social</a:t>
            </a:r>
          </a:p>
          <a:p>
            <a:pPr algn="ctr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term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7DE35D-498D-4FE8-A044-6D232747D042}"/>
              </a:ext>
            </a:extLst>
          </p:cNvPr>
          <p:cNvSpPr>
            <a:spLocks noGrp="1"/>
          </p:cNvSpPr>
          <p:nvPr/>
        </p:nvSpPr>
        <p:spPr>
          <a:xfrm>
            <a:off x="5905500" y="4400550"/>
            <a:ext cx="4953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5DBD23-83B2-43DB-8509-12417BEBBE07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Why normalize?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A9C25F-FBE5-4C7A-9BB7-391D49E6D9F1}"/>
              </a:ext>
            </a:extLst>
          </p:cNvPr>
          <p:cNvSpPr>
            <a:spLocks noGrp="1"/>
          </p:cNvSpPr>
          <p:nvPr/>
        </p:nvSpPr>
        <p:spPr>
          <a:xfrm>
            <a:off x="7734300" y="45720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Students can have different numbers and intensities of friend preferences; normalization keeps the social term comparable across students.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40B5DF-F6CF-4163-8593-577787F3EF95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0464BA-86BC-4A7D-8CD8-3587FF103A8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mathematical 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E52533-82F7-4E0A-9F6C-AE1575E7D40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4/14</a:t>
            </a:r>
          </a:p>
        </p:txBody>
      </p:sp>
    </p:spTree>
    <p:extLst>
      <p:ext uri="{BB962C8B-B14F-4D97-AF65-F5344CB8AC3E}">
        <p14:creationId xmlns:p14="http://schemas.microsoft.com/office/powerpoint/2010/main" val="49673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8D6867-AAA5-4F2B-9BF4-344EDD3E08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2B045F-0A18-489D-9069-BF03801EF80C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34391-52A6-48B0-BABA-C0173FE0CF5D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REACTIVE BONUS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86E1A1-10C9-4931-B1DD-C45DA8D7745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57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Friend bonus is reactive, so each pick has a well-defined state.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BC48C-E776-4196-AC73-C654F028DEFC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247900" cy="1714500"/>
          </a:xfrm>
          <a:prstGeom prst="rect">
            <a:avLst/>
          </a:prstGeom>
          <a:solidFill>
            <a:srgbClr val="FFFCF4"/>
          </a:solidFill>
          <a:ln w="9525">
            <a:solidFill>
              <a:srgbClr val="35507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0DFFD1-8423-4F53-94B1-591D092ADE8C}"/>
              </a:ext>
            </a:extLst>
          </p:cNvPr>
          <p:cNvSpPr>
            <a:spLocks noGrp="1"/>
          </p:cNvSpPr>
          <p:nvPr/>
        </p:nvSpPr>
        <p:spPr>
          <a:xfrm>
            <a:off x="1066800" y="2495550"/>
            <a:ext cx="514350" cy="285750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33297C-E454-4CF6-BFA9-48316078B6A4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 =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F5D7E6-5DC7-4752-887E-59A40D80BC8B}"/>
              </a:ext>
            </a:extLst>
          </p:cNvPr>
          <p:cNvSpPr>
            <a:spLocks noGrp="1"/>
          </p:cNvSpPr>
          <p:nvPr/>
        </p:nvSpPr>
        <p:spPr>
          <a:xfrm>
            <a:off x="1733550" y="249555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S1 picks C1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CD0B9-7178-4936-8060-B14ED36B715F}"/>
              </a:ext>
            </a:extLst>
          </p:cNvPr>
          <p:cNvSpPr>
            <a:spLocks noGrp="1"/>
          </p:cNvSpPr>
          <p:nvPr/>
        </p:nvSpPr>
        <p:spPr>
          <a:xfrm>
            <a:off x="1123950" y="3086100"/>
            <a:ext cx="171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No previous friend allocation can contribute to S1's bonus.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755A11-43BA-4440-A8E2-DA316B37EC47}"/>
              </a:ext>
            </a:extLst>
          </p:cNvPr>
          <p:cNvSpPr>
            <a:spLocks noGrp="1"/>
          </p:cNvSpPr>
          <p:nvPr/>
        </p:nvSpPr>
        <p:spPr>
          <a:xfrm>
            <a:off x="1162050" y="3619500"/>
            <a:ext cx="381000" cy="1905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54F510-D8FF-4C2C-A551-8198CB1ECDB9}"/>
              </a:ext>
            </a:extLst>
          </p:cNvPr>
          <p:cNvSpPr>
            <a:spLocks noGrp="1"/>
          </p:cNvSpPr>
          <p:nvPr/>
        </p:nvSpPr>
        <p:spPr>
          <a:xfrm>
            <a:off x="1657350" y="3619500"/>
            <a:ext cx="381000" cy="190500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B91DFC-20A6-443A-8CF1-00113A383560}"/>
              </a:ext>
            </a:extLst>
          </p:cNvPr>
          <p:cNvSpPr>
            <a:spLocks noGrp="1"/>
          </p:cNvSpPr>
          <p:nvPr/>
        </p:nvSpPr>
        <p:spPr>
          <a:xfrm>
            <a:off x="2152650" y="3619500"/>
            <a:ext cx="381000" cy="1905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8F2B38-950C-4B25-A2E0-3FCCC0A47928}"/>
              </a:ext>
            </a:extLst>
          </p:cNvPr>
          <p:cNvSpPr>
            <a:spLocks noGrp="1"/>
          </p:cNvSpPr>
          <p:nvPr/>
        </p:nvSpPr>
        <p:spPr>
          <a:xfrm>
            <a:off x="1219200" y="38290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course seats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9DEB7B-EFAE-4292-8E34-0F5511FD6A0C}"/>
              </a:ext>
            </a:extLst>
          </p:cNvPr>
          <p:cNvSpPr>
            <a:spLocks noGrp="1"/>
          </p:cNvSpPr>
          <p:nvPr/>
        </p:nvSpPr>
        <p:spPr>
          <a:xfrm>
            <a:off x="3390900" y="3028950"/>
            <a:ext cx="8953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7BD1C5-15AB-4FA0-A489-F5A7B70E50D1}"/>
              </a:ext>
            </a:extLst>
          </p:cNvPr>
          <p:cNvSpPr>
            <a:spLocks noGrp="1"/>
          </p:cNvSpPr>
          <p:nvPr/>
        </p:nvSpPr>
        <p:spPr>
          <a:xfrm>
            <a:off x="4267200" y="28956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6327F3-2AD7-4291-8415-9D9EEE2AABBF}"/>
              </a:ext>
            </a:extLst>
          </p:cNvPr>
          <p:cNvSpPr>
            <a:spLocks noGrp="1"/>
          </p:cNvSpPr>
          <p:nvPr/>
        </p:nvSpPr>
        <p:spPr>
          <a:xfrm>
            <a:off x="4762500" y="2266950"/>
            <a:ext cx="2247900" cy="1714500"/>
          </a:xfrm>
          <a:prstGeom prst="rect">
            <a:avLst/>
          </a:prstGeom>
          <a:solidFill>
            <a:srgbClr val="FFFCF4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C9B10E-C20F-4E50-A5BB-763699737477}"/>
              </a:ext>
            </a:extLst>
          </p:cNvPr>
          <p:cNvSpPr>
            <a:spLocks noGrp="1"/>
          </p:cNvSpPr>
          <p:nvPr/>
        </p:nvSpPr>
        <p:spPr>
          <a:xfrm>
            <a:off x="4972050" y="2495550"/>
            <a:ext cx="514350" cy="285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E907FA-C428-41D1-B960-1804D5EF10C3}"/>
              </a:ext>
            </a:extLst>
          </p:cNvPr>
          <p:cNvSpPr>
            <a:spLocks noGrp="1"/>
          </p:cNvSpPr>
          <p:nvPr/>
        </p:nvSpPr>
        <p:spPr>
          <a:xfrm>
            <a:off x="4972050" y="2552700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 =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B6E522-6108-482A-BCDA-A38183543313}"/>
              </a:ext>
            </a:extLst>
          </p:cNvPr>
          <p:cNvSpPr>
            <a:spLocks noGrp="1"/>
          </p:cNvSpPr>
          <p:nvPr/>
        </p:nvSpPr>
        <p:spPr>
          <a:xfrm>
            <a:off x="5638800" y="249555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S2 evaluates C1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83968-3FAA-4A24-B423-82BC44B23064}"/>
              </a:ext>
            </a:extLst>
          </p:cNvPr>
          <p:cNvSpPr>
            <a:spLocks noGrp="1"/>
          </p:cNvSpPr>
          <p:nvPr/>
        </p:nvSpPr>
        <p:spPr>
          <a:xfrm>
            <a:off x="5029200" y="3086100"/>
            <a:ext cx="171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If S2 lists S1 as a friend for C1, then S1's existing seat creates social utility.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15350C-67D7-42BE-9DEA-DB0B22476D1F}"/>
              </a:ext>
            </a:extLst>
          </p:cNvPr>
          <p:cNvSpPr>
            <a:spLocks noGrp="1"/>
          </p:cNvSpPr>
          <p:nvPr/>
        </p:nvSpPr>
        <p:spPr>
          <a:xfrm>
            <a:off x="5067300" y="3619500"/>
            <a:ext cx="381000" cy="1905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27A4C5-EB88-4518-8E8C-A0013FB7799A}"/>
              </a:ext>
            </a:extLst>
          </p:cNvPr>
          <p:cNvSpPr>
            <a:spLocks noGrp="1"/>
          </p:cNvSpPr>
          <p:nvPr/>
        </p:nvSpPr>
        <p:spPr>
          <a:xfrm>
            <a:off x="5562600" y="3619500"/>
            <a:ext cx="381000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23FE23-2EB3-4F73-9A60-CC87AFD074E5}"/>
              </a:ext>
            </a:extLst>
          </p:cNvPr>
          <p:cNvSpPr>
            <a:spLocks noGrp="1"/>
          </p:cNvSpPr>
          <p:nvPr/>
        </p:nvSpPr>
        <p:spPr>
          <a:xfrm>
            <a:off x="6057900" y="3619500"/>
            <a:ext cx="381000" cy="1905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529197-7A2F-4519-8F12-DF5B00AD5666}"/>
              </a:ext>
            </a:extLst>
          </p:cNvPr>
          <p:cNvSpPr>
            <a:spLocks noGrp="1"/>
          </p:cNvSpPr>
          <p:nvPr/>
        </p:nvSpPr>
        <p:spPr>
          <a:xfrm>
            <a:off x="5124450" y="38290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course seats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058123-9F8C-49F6-B71B-A42B88CF99D1}"/>
              </a:ext>
            </a:extLst>
          </p:cNvPr>
          <p:cNvSpPr>
            <a:spLocks noGrp="1"/>
          </p:cNvSpPr>
          <p:nvPr/>
        </p:nvSpPr>
        <p:spPr>
          <a:xfrm>
            <a:off x="7296150" y="3028950"/>
            <a:ext cx="89535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7E0DEC-F68D-486C-A4A8-51990FDE2B03}"/>
              </a:ext>
            </a:extLst>
          </p:cNvPr>
          <p:cNvSpPr>
            <a:spLocks noGrp="1"/>
          </p:cNvSpPr>
          <p:nvPr/>
        </p:nvSpPr>
        <p:spPr>
          <a:xfrm>
            <a:off x="8172450" y="28956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CB3E95-CA97-4DF8-A489-3B8856F57635}"/>
              </a:ext>
            </a:extLst>
          </p:cNvPr>
          <p:cNvSpPr>
            <a:spLocks noGrp="1"/>
          </p:cNvSpPr>
          <p:nvPr/>
        </p:nvSpPr>
        <p:spPr>
          <a:xfrm>
            <a:off x="8667750" y="2266950"/>
            <a:ext cx="2247900" cy="1714500"/>
          </a:xfrm>
          <a:prstGeom prst="rect">
            <a:avLst/>
          </a:prstGeom>
          <a:solidFill>
            <a:srgbClr val="FFFCF4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0D874E-5DF8-447A-899A-71C6EB73EFB8}"/>
              </a:ext>
            </a:extLst>
          </p:cNvPr>
          <p:cNvSpPr>
            <a:spLocks noGrp="1"/>
          </p:cNvSpPr>
          <p:nvPr/>
        </p:nvSpPr>
        <p:spPr>
          <a:xfrm>
            <a:off x="8877300" y="2495550"/>
            <a:ext cx="514350" cy="2857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D36FDB-021F-4326-877E-6FBB96722376}"/>
              </a:ext>
            </a:extLst>
          </p:cNvPr>
          <p:cNvSpPr>
            <a:spLocks noGrp="1"/>
          </p:cNvSpPr>
          <p:nvPr/>
        </p:nvSpPr>
        <p:spPr>
          <a:xfrm>
            <a:off x="8877300" y="2552700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 =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A3C4D3-02B5-4BD7-B158-9C6371990CB6}"/>
              </a:ext>
            </a:extLst>
          </p:cNvPr>
          <p:cNvSpPr>
            <a:spLocks noGrp="1"/>
          </p:cNvSpPr>
          <p:nvPr/>
        </p:nvSpPr>
        <p:spPr>
          <a:xfrm>
            <a:off x="9544050" y="249555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S3 evaluates C1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53857E-39BF-4D36-9A96-B526281D8BF4}"/>
              </a:ext>
            </a:extLst>
          </p:cNvPr>
          <p:cNvSpPr>
            <a:spLocks noGrp="1"/>
          </p:cNvSpPr>
          <p:nvPr/>
        </p:nvSpPr>
        <p:spPr>
          <a:xfrm>
            <a:off x="8934450" y="3086100"/>
            <a:ext cx="171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Only friends already in C1 count; future choices are not anticipated.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AEE584-04FF-4D08-9450-F91412B9CE46}"/>
              </a:ext>
            </a:extLst>
          </p:cNvPr>
          <p:cNvSpPr>
            <a:spLocks noGrp="1"/>
          </p:cNvSpPr>
          <p:nvPr/>
        </p:nvSpPr>
        <p:spPr>
          <a:xfrm>
            <a:off x="8972550" y="3619500"/>
            <a:ext cx="381000" cy="1905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FBFD5E-48CC-48D7-944E-E76DF866B028}"/>
              </a:ext>
            </a:extLst>
          </p:cNvPr>
          <p:cNvSpPr>
            <a:spLocks noGrp="1"/>
          </p:cNvSpPr>
          <p:nvPr/>
        </p:nvSpPr>
        <p:spPr>
          <a:xfrm>
            <a:off x="9467850" y="3619500"/>
            <a:ext cx="381000" cy="19050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B8B5C2-7B62-46A7-81B2-383DD5C29048}"/>
              </a:ext>
            </a:extLst>
          </p:cNvPr>
          <p:cNvSpPr>
            <a:spLocks noGrp="1"/>
          </p:cNvSpPr>
          <p:nvPr/>
        </p:nvSpPr>
        <p:spPr>
          <a:xfrm>
            <a:off x="9963150" y="3619500"/>
            <a:ext cx="381000" cy="19050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85FA35-E56B-4227-A747-90548D894BEC}"/>
              </a:ext>
            </a:extLst>
          </p:cNvPr>
          <p:cNvSpPr>
            <a:spLocks noGrp="1"/>
          </p:cNvSpPr>
          <p:nvPr/>
        </p:nvSpPr>
        <p:spPr>
          <a:xfrm>
            <a:off x="9029700" y="38290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course seats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E8DAA1-7F96-4E0C-B5ED-56C1533C736D}"/>
              </a:ext>
            </a:extLst>
          </p:cNvPr>
          <p:cNvSpPr>
            <a:spLocks noGrp="1"/>
          </p:cNvSpPr>
          <p:nvPr/>
        </p:nvSpPr>
        <p:spPr>
          <a:xfrm>
            <a:off x="1485900" y="4800600"/>
            <a:ext cx="9220200" cy="55245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A62FBE-7A10-447C-B277-342E907112EC}"/>
              </a:ext>
            </a:extLst>
          </p:cNvPr>
          <p:cNvSpPr>
            <a:spLocks noGrp="1"/>
          </p:cNvSpPr>
          <p:nvPr/>
        </p:nvSpPr>
        <p:spPr>
          <a:xfrm>
            <a:off x="1752600" y="4953000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Mathematical consequence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8AEE36-51DD-4472-901E-F17DF5C68D72}"/>
              </a:ext>
            </a:extLst>
          </p:cNvPr>
          <p:cNvSpPr>
            <a:spLocks noGrp="1"/>
          </p:cNvSpPr>
          <p:nvPr/>
        </p:nvSpPr>
        <p:spPr>
          <a:xfrm>
            <a:off x="3600450" y="4933950"/>
            <a:ext cx="670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indicator 1[c ∈ A_f] makes the utility computable at the moment of each pick and avoids simultaneous circular dependence among students.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11F689-C19F-499A-A4CB-87B209BB3129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6A62FF0-C70D-4EFD-80CB-33908F92305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reactive friend bonus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B09929-538B-478A-88EA-24B8A2A85628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47768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B4BDB565-AA06-402F-8573-783F1F4B77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0F9978-7D6D-4B27-8806-F301F874E63C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A41FD6-D363-4813-9AE0-F1B34FC3F3FB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DRAFT MECHANISM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96D07C-F74D-4DC0-87DE-CD2501E2F41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858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HBS-style snake draft remains deterministic while utility becomes social.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70B847-874A-47AE-A95C-6D87324588FF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4610100" cy="26670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5FDF2E-CA64-44D0-B47B-CEBFB9FDABB2}"/>
              </a:ext>
            </a:extLst>
          </p:cNvPr>
          <p:cNvSpPr>
            <a:spLocks noGrp="1"/>
          </p:cNvSpPr>
          <p:nvPr/>
        </p:nvSpPr>
        <p:spPr>
          <a:xfrm>
            <a:off x="1066800" y="2228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Snake order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079BD9-BEA6-45FD-90B1-371B8C8ED21C}"/>
              </a:ext>
            </a:extLst>
          </p:cNvPr>
          <p:cNvSpPr>
            <a:spLocks noGrp="1"/>
          </p:cNvSpPr>
          <p:nvPr/>
        </p:nvSpPr>
        <p:spPr>
          <a:xfrm>
            <a:off x="1181100" y="28956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Round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545664-CAE7-4232-9E91-231127F383A6}"/>
              </a:ext>
            </a:extLst>
          </p:cNvPr>
          <p:cNvSpPr>
            <a:spLocks noGrp="1"/>
          </p:cNvSpPr>
          <p:nvPr/>
        </p:nvSpPr>
        <p:spPr>
          <a:xfrm>
            <a:off x="2057400" y="2781300"/>
            <a:ext cx="476250" cy="419100"/>
          </a:xfrm>
          <a:prstGeom prst="rect">
            <a:avLst/>
          </a:prstGeom>
          <a:solidFill>
            <a:srgbClr val="E9DFC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9BFA04-B976-4B90-8D9E-37A83F9BA65A}"/>
              </a:ext>
            </a:extLst>
          </p:cNvPr>
          <p:cNvSpPr>
            <a:spLocks noGrp="1"/>
          </p:cNvSpPr>
          <p:nvPr/>
        </p:nvSpPr>
        <p:spPr>
          <a:xfrm>
            <a:off x="2057400" y="291465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0EFF4-562A-4245-A0FF-1ED761CEF967}"/>
              </a:ext>
            </a:extLst>
          </p:cNvPr>
          <p:cNvSpPr>
            <a:spLocks noGrp="1"/>
          </p:cNvSpPr>
          <p:nvPr/>
        </p:nvSpPr>
        <p:spPr>
          <a:xfrm>
            <a:off x="2571750" y="3000375"/>
            <a:ext cx="1143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4C3946-D5A0-41DA-8DC0-874FB81967BB}"/>
              </a:ext>
            </a:extLst>
          </p:cNvPr>
          <p:cNvSpPr>
            <a:spLocks noGrp="1"/>
          </p:cNvSpPr>
          <p:nvPr/>
        </p:nvSpPr>
        <p:spPr>
          <a:xfrm>
            <a:off x="2667000" y="2867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C6CB91-249F-49C7-ADF1-D0F20D57307E}"/>
              </a:ext>
            </a:extLst>
          </p:cNvPr>
          <p:cNvSpPr>
            <a:spLocks noGrp="1"/>
          </p:cNvSpPr>
          <p:nvPr/>
        </p:nvSpPr>
        <p:spPr>
          <a:xfrm>
            <a:off x="2743200" y="2781300"/>
            <a:ext cx="476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8427A3-2766-4B6D-9700-EB03BD67785E}"/>
              </a:ext>
            </a:extLst>
          </p:cNvPr>
          <p:cNvSpPr>
            <a:spLocks noGrp="1"/>
          </p:cNvSpPr>
          <p:nvPr/>
        </p:nvSpPr>
        <p:spPr>
          <a:xfrm>
            <a:off x="2743200" y="291465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E319B0-1BF0-4106-932C-B7FF7A9F081B}"/>
              </a:ext>
            </a:extLst>
          </p:cNvPr>
          <p:cNvSpPr>
            <a:spLocks noGrp="1"/>
          </p:cNvSpPr>
          <p:nvPr/>
        </p:nvSpPr>
        <p:spPr>
          <a:xfrm>
            <a:off x="3257550" y="3000375"/>
            <a:ext cx="1143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1FC1D9-54DB-43C0-856B-A79DD0D2661C}"/>
              </a:ext>
            </a:extLst>
          </p:cNvPr>
          <p:cNvSpPr>
            <a:spLocks noGrp="1"/>
          </p:cNvSpPr>
          <p:nvPr/>
        </p:nvSpPr>
        <p:spPr>
          <a:xfrm>
            <a:off x="3352800" y="2867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66F5D-3073-47F4-BE95-9429CE3FDE25}"/>
              </a:ext>
            </a:extLst>
          </p:cNvPr>
          <p:cNvSpPr>
            <a:spLocks noGrp="1"/>
          </p:cNvSpPr>
          <p:nvPr/>
        </p:nvSpPr>
        <p:spPr>
          <a:xfrm>
            <a:off x="3429000" y="2781300"/>
            <a:ext cx="476250" cy="419100"/>
          </a:xfrm>
          <a:prstGeom prst="rect">
            <a:avLst/>
          </a:prstGeom>
          <a:solidFill>
            <a:srgbClr val="E9DFC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482010-F70C-49FD-954A-81997BE1021A}"/>
              </a:ext>
            </a:extLst>
          </p:cNvPr>
          <p:cNvSpPr>
            <a:spLocks noGrp="1"/>
          </p:cNvSpPr>
          <p:nvPr/>
        </p:nvSpPr>
        <p:spPr>
          <a:xfrm>
            <a:off x="3429000" y="291465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898CFB-69EE-48F1-BBB0-01BCDB6808DA}"/>
              </a:ext>
            </a:extLst>
          </p:cNvPr>
          <p:cNvSpPr>
            <a:spLocks noGrp="1"/>
          </p:cNvSpPr>
          <p:nvPr/>
        </p:nvSpPr>
        <p:spPr>
          <a:xfrm>
            <a:off x="3943350" y="3000375"/>
            <a:ext cx="1143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E0CFA2-B467-42EF-BA0A-DC8514894363}"/>
              </a:ext>
            </a:extLst>
          </p:cNvPr>
          <p:cNvSpPr>
            <a:spLocks noGrp="1"/>
          </p:cNvSpPr>
          <p:nvPr/>
        </p:nvSpPr>
        <p:spPr>
          <a:xfrm>
            <a:off x="4038600" y="2867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8CD0B7-0F86-4D75-8341-185F046F6623}"/>
              </a:ext>
            </a:extLst>
          </p:cNvPr>
          <p:cNvSpPr>
            <a:spLocks noGrp="1"/>
          </p:cNvSpPr>
          <p:nvPr/>
        </p:nvSpPr>
        <p:spPr>
          <a:xfrm>
            <a:off x="4114800" y="2781300"/>
            <a:ext cx="476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7AF6A9-6B92-46CA-A3B3-93143397404C}"/>
              </a:ext>
            </a:extLst>
          </p:cNvPr>
          <p:cNvSpPr>
            <a:spLocks noGrp="1"/>
          </p:cNvSpPr>
          <p:nvPr/>
        </p:nvSpPr>
        <p:spPr>
          <a:xfrm>
            <a:off x="4114800" y="291465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1EF69C-FB37-4D15-8F8A-CBB536025441}"/>
              </a:ext>
            </a:extLst>
          </p:cNvPr>
          <p:cNvSpPr>
            <a:spLocks noGrp="1"/>
          </p:cNvSpPr>
          <p:nvPr/>
        </p:nvSpPr>
        <p:spPr>
          <a:xfrm>
            <a:off x="4972050" y="28956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π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511F03-5C90-4881-9C8C-8A35E572AB52}"/>
              </a:ext>
            </a:extLst>
          </p:cNvPr>
          <p:cNvSpPr>
            <a:spLocks noGrp="1"/>
          </p:cNvSpPr>
          <p:nvPr/>
        </p:nvSpPr>
        <p:spPr>
          <a:xfrm>
            <a:off x="1181100" y="37147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Round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6FBC38-6E64-4E41-9865-AFB1D41CCE00}"/>
              </a:ext>
            </a:extLst>
          </p:cNvPr>
          <p:cNvSpPr>
            <a:spLocks noGrp="1"/>
          </p:cNvSpPr>
          <p:nvPr/>
        </p:nvSpPr>
        <p:spPr>
          <a:xfrm>
            <a:off x="2057400" y="3600450"/>
            <a:ext cx="476250" cy="419100"/>
          </a:xfrm>
          <a:prstGeom prst="rect">
            <a:avLst/>
          </a:prstGeom>
          <a:solidFill>
            <a:srgbClr val="E9DFCF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82099B-7BB0-43B5-9872-1A1E1D3FE0A0}"/>
              </a:ext>
            </a:extLst>
          </p:cNvPr>
          <p:cNvSpPr>
            <a:spLocks noGrp="1"/>
          </p:cNvSpPr>
          <p:nvPr/>
        </p:nvSpPr>
        <p:spPr>
          <a:xfrm>
            <a:off x="2057400" y="373380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4B572-2CBC-484A-AA90-512B084BF82D}"/>
              </a:ext>
            </a:extLst>
          </p:cNvPr>
          <p:cNvSpPr>
            <a:spLocks noGrp="1"/>
          </p:cNvSpPr>
          <p:nvPr/>
        </p:nvSpPr>
        <p:spPr>
          <a:xfrm>
            <a:off x="2571750" y="3819525"/>
            <a:ext cx="11430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14680B-737D-4958-9F63-E4CF90343A7B}"/>
              </a:ext>
            </a:extLst>
          </p:cNvPr>
          <p:cNvSpPr>
            <a:spLocks noGrp="1"/>
          </p:cNvSpPr>
          <p:nvPr/>
        </p:nvSpPr>
        <p:spPr>
          <a:xfrm>
            <a:off x="2667000" y="36861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B7BB72-6A3E-434C-BECB-23AC0D30B174}"/>
              </a:ext>
            </a:extLst>
          </p:cNvPr>
          <p:cNvSpPr>
            <a:spLocks noGrp="1"/>
          </p:cNvSpPr>
          <p:nvPr/>
        </p:nvSpPr>
        <p:spPr>
          <a:xfrm>
            <a:off x="2743200" y="3600450"/>
            <a:ext cx="476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494655-5105-4859-BF7A-7AEC19AF73EB}"/>
              </a:ext>
            </a:extLst>
          </p:cNvPr>
          <p:cNvSpPr>
            <a:spLocks noGrp="1"/>
          </p:cNvSpPr>
          <p:nvPr/>
        </p:nvSpPr>
        <p:spPr>
          <a:xfrm>
            <a:off x="2743200" y="373380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50F57C-6085-4540-B5F4-AA156AF47CD8}"/>
              </a:ext>
            </a:extLst>
          </p:cNvPr>
          <p:cNvSpPr>
            <a:spLocks noGrp="1"/>
          </p:cNvSpPr>
          <p:nvPr/>
        </p:nvSpPr>
        <p:spPr>
          <a:xfrm>
            <a:off x="3257550" y="3819525"/>
            <a:ext cx="11430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F74B6A-2E8C-49C1-B3B8-1812EF76E4A3}"/>
              </a:ext>
            </a:extLst>
          </p:cNvPr>
          <p:cNvSpPr>
            <a:spLocks noGrp="1"/>
          </p:cNvSpPr>
          <p:nvPr/>
        </p:nvSpPr>
        <p:spPr>
          <a:xfrm>
            <a:off x="3352800" y="36861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111398-9D23-40E5-ADE8-7F1ADDBAFE48}"/>
              </a:ext>
            </a:extLst>
          </p:cNvPr>
          <p:cNvSpPr>
            <a:spLocks noGrp="1"/>
          </p:cNvSpPr>
          <p:nvPr/>
        </p:nvSpPr>
        <p:spPr>
          <a:xfrm>
            <a:off x="3429000" y="3600450"/>
            <a:ext cx="476250" cy="419100"/>
          </a:xfrm>
          <a:prstGeom prst="rect">
            <a:avLst/>
          </a:prstGeom>
          <a:solidFill>
            <a:srgbClr val="E9DFCF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4C2C1F-04AF-4730-AB0D-160075AA283D}"/>
              </a:ext>
            </a:extLst>
          </p:cNvPr>
          <p:cNvSpPr>
            <a:spLocks noGrp="1"/>
          </p:cNvSpPr>
          <p:nvPr/>
        </p:nvSpPr>
        <p:spPr>
          <a:xfrm>
            <a:off x="3429000" y="373380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FF85FA-1759-4D45-BCD2-5574075F61C5}"/>
              </a:ext>
            </a:extLst>
          </p:cNvPr>
          <p:cNvSpPr>
            <a:spLocks noGrp="1"/>
          </p:cNvSpPr>
          <p:nvPr/>
        </p:nvSpPr>
        <p:spPr>
          <a:xfrm>
            <a:off x="3943350" y="3819525"/>
            <a:ext cx="11430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08D713-7296-45FB-91F2-B16502464C29}"/>
              </a:ext>
            </a:extLst>
          </p:cNvPr>
          <p:cNvSpPr>
            <a:spLocks noGrp="1"/>
          </p:cNvSpPr>
          <p:nvPr/>
        </p:nvSpPr>
        <p:spPr>
          <a:xfrm>
            <a:off x="4038600" y="36861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4402A9-67CC-4E64-9EF6-9D60618FBD70}"/>
              </a:ext>
            </a:extLst>
          </p:cNvPr>
          <p:cNvSpPr>
            <a:spLocks noGrp="1"/>
          </p:cNvSpPr>
          <p:nvPr/>
        </p:nvSpPr>
        <p:spPr>
          <a:xfrm>
            <a:off x="4114800" y="3600450"/>
            <a:ext cx="476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73EE20-FC43-4C70-9532-7F66735538CA}"/>
              </a:ext>
            </a:extLst>
          </p:cNvPr>
          <p:cNvSpPr>
            <a:spLocks noGrp="1"/>
          </p:cNvSpPr>
          <p:nvPr/>
        </p:nvSpPr>
        <p:spPr>
          <a:xfrm>
            <a:off x="4114800" y="373380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88F2AB-DDF0-420B-B12E-D016AB80667A}"/>
              </a:ext>
            </a:extLst>
          </p:cNvPr>
          <p:cNvSpPr>
            <a:spLocks noGrp="1"/>
          </p:cNvSpPr>
          <p:nvPr/>
        </p:nvSpPr>
        <p:spPr>
          <a:xfrm>
            <a:off x="4972050" y="37147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reverse(π)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440878-AFA7-490F-A6CC-76CB70CE4BA0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The seeded permutation is fixed; odd rounds use π, even rounds reverse π. Social utility can change course choice, not the reproducibility of the order.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0C9ED8-0DD8-47A5-B684-0A22F87A11C4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4762500" cy="26670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65B0B7-191C-407D-97F5-0F377365F608}"/>
              </a:ext>
            </a:extLst>
          </p:cNvPr>
          <p:cNvSpPr>
            <a:spLocks noGrp="1"/>
          </p:cNvSpPr>
          <p:nvPr/>
        </p:nvSpPr>
        <p:spPr>
          <a:xfrm>
            <a:off x="6381750" y="22288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Tie-breaking chain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AC1427-0E63-4D87-B001-0FF1300541D6}"/>
              </a:ext>
            </a:extLst>
          </p:cNvPr>
          <p:cNvSpPr>
            <a:spLocks noGrp="1"/>
          </p:cNvSpPr>
          <p:nvPr/>
        </p:nvSpPr>
        <p:spPr>
          <a:xfrm>
            <a:off x="6457950" y="2990850"/>
            <a:ext cx="7239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7A88B9-E243-4EE6-B4A5-417BC343A2DD}"/>
              </a:ext>
            </a:extLst>
          </p:cNvPr>
          <p:cNvSpPr>
            <a:spLocks noGrp="1"/>
          </p:cNvSpPr>
          <p:nvPr/>
        </p:nvSpPr>
        <p:spPr>
          <a:xfrm>
            <a:off x="6515100" y="3124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max U(s,c)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F6D0CF-2D68-48DE-945C-B010BC84559D}"/>
              </a:ext>
            </a:extLst>
          </p:cNvPr>
          <p:cNvSpPr>
            <a:spLocks noGrp="1"/>
          </p:cNvSpPr>
          <p:nvPr/>
        </p:nvSpPr>
        <p:spPr>
          <a:xfrm>
            <a:off x="7200900" y="3200400"/>
            <a:ext cx="571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BE5FC2-6C24-4F69-A2F7-FE771AC00975}"/>
              </a:ext>
            </a:extLst>
          </p:cNvPr>
          <p:cNvSpPr>
            <a:spLocks noGrp="1"/>
          </p:cNvSpPr>
          <p:nvPr/>
        </p:nvSpPr>
        <p:spPr>
          <a:xfrm>
            <a:off x="7239000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BDB423-B9B8-4901-A13A-CC282D3275D5}"/>
              </a:ext>
            </a:extLst>
          </p:cNvPr>
          <p:cNvSpPr>
            <a:spLocks noGrp="1"/>
          </p:cNvSpPr>
          <p:nvPr/>
        </p:nvSpPr>
        <p:spPr>
          <a:xfrm>
            <a:off x="7296150" y="2990850"/>
            <a:ext cx="7239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35507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3ABB588-ADBC-4188-9F90-4172C5AD40EB}"/>
              </a:ext>
            </a:extLst>
          </p:cNvPr>
          <p:cNvSpPr>
            <a:spLocks noGrp="1"/>
          </p:cNvSpPr>
          <p:nvPr/>
        </p:nvSpPr>
        <p:spPr>
          <a:xfrm>
            <a:off x="7353300" y="3124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max Score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38AF61-8976-4AA9-BC57-F66502501539}"/>
              </a:ext>
            </a:extLst>
          </p:cNvPr>
          <p:cNvSpPr>
            <a:spLocks noGrp="1"/>
          </p:cNvSpPr>
          <p:nvPr/>
        </p:nvSpPr>
        <p:spPr>
          <a:xfrm>
            <a:off x="8039100" y="3200400"/>
            <a:ext cx="57150" cy="19050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348B69-B257-49A9-9332-982EB6414D4E}"/>
              </a:ext>
            </a:extLst>
          </p:cNvPr>
          <p:cNvSpPr>
            <a:spLocks noGrp="1"/>
          </p:cNvSpPr>
          <p:nvPr/>
        </p:nvSpPr>
        <p:spPr>
          <a:xfrm>
            <a:off x="8077200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5621C7-037C-416C-87E9-C7BC7ABBDD5F}"/>
              </a:ext>
            </a:extLst>
          </p:cNvPr>
          <p:cNvSpPr>
            <a:spLocks noGrp="1"/>
          </p:cNvSpPr>
          <p:nvPr/>
        </p:nvSpPr>
        <p:spPr>
          <a:xfrm>
            <a:off x="8134350" y="2990850"/>
            <a:ext cx="7239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8FD8332-001A-4035-AEAE-74DA0745A864}"/>
              </a:ext>
            </a:extLst>
          </p:cNvPr>
          <p:cNvSpPr>
            <a:spLocks noGrp="1"/>
          </p:cNvSpPr>
          <p:nvPr/>
        </p:nvSpPr>
        <p:spPr>
          <a:xfrm>
            <a:off x="8191500" y="3124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min Position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03B3208-A3F7-4660-8770-6D853C135BF8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57150" cy="190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C04A932-A8B0-4AC6-A888-3C2DB6EFF34E}"/>
              </a:ext>
            </a:extLst>
          </p:cNvPr>
          <p:cNvSpPr>
            <a:spLocks noGrp="1"/>
          </p:cNvSpPr>
          <p:nvPr/>
        </p:nvSpPr>
        <p:spPr>
          <a:xfrm>
            <a:off x="8915400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C6150B1-0DE9-4FC8-A7B6-77FB34AECABE}"/>
              </a:ext>
            </a:extLst>
          </p:cNvPr>
          <p:cNvSpPr>
            <a:spLocks noGrp="1"/>
          </p:cNvSpPr>
          <p:nvPr/>
        </p:nvSpPr>
        <p:spPr>
          <a:xfrm>
            <a:off x="8972550" y="2990850"/>
            <a:ext cx="7239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80BE6A6-CA82-4085-A41D-4D1225B32B96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seeded rnd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4DBE79-5BCC-4A48-8D2A-ECB1145D06B0}"/>
              </a:ext>
            </a:extLst>
          </p:cNvPr>
          <p:cNvSpPr>
            <a:spLocks noGrp="1"/>
          </p:cNvSpPr>
          <p:nvPr/>
        </p:nvSpPr>
        <p:spPr>
          <a:xfrm>
            <a:off x="9715500" y="3200400"/>
            <a:ext cx="5715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2DB1B19-3C54-471C-9A70-42801E1002CC}"/>
              </a:ext>
            </a:extLst>
          </p:cNvPr>
          <p:cNvSpPr>
            <a:spLocks noGrp="1"/>
          </p:cNvSpPr>
          <p:nvPr/>
        </p:nvSpPr>
        <p:spPr>
          <a:xfrm>
            <a:off x="9753600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B982858-58D4-4E77-AB08-B50231E367F6}"/>
              </a:ext>
            </a:extLst>
          </p:cNvPr>
          <p:cNvSpPr>
            <a:spLocks noGrp="1"/>
          </p:cNvSpPr>
          <p:nvPr/>
        </p:nvSpPr>
        <p:spPr>
          <a:xfrm>
            <a:off x="9810750" y="2990850"/>
            <a:ext cx="7239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56616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DA2522D-C3DB-448D-B82C-6D819C03EF0B}"/>
              </a:ext>
            </a:extLst>
          </p:cNvPr>
          <p:cNvSpPr>
            <a:spLocks noGrp="1"/>
          </p:cNvSpPr>
          <p:nvPr/>
        </p:nvSpPr>
        <p:spPr>
          <a:xfrm>
            <a:off x="9867900" y="3124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min CourseID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C767610-C5B2-46D1-B069-8FD2C1F7507B}"/>
              </a:ext>
            </a:extLst>
          </p:cNvPr>
          <p:cNvSpPr>
            <a:spLocks noGrp="1"/>
          </p:cNvSpPr>
          <p:nvPr/>
        </p:nvSpPr>
        <p:spPr>
          <a:xfrm>
            <a:off x="6400800" y="3886200"/>
            <a:ext cx="3829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The tolerance τ = 10^-9 prevents floating-point noise from bypassing the intended deterministic tie-break.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53DBBCD-528A-4A1A-B652-92AD3DDDF0ED}"/>
              </a:ext>
            </a:extLst>
          </p:cNvPr>
          <p:cNvSpPr>
            <a:spLocks noGrp="1"/>
          </p:cNvSpPr>
          <p:nvPr/>
        </p:nvSpPr>
        <p:spPr>
          <a:xfrm>
            <a:off x="1809750" y="5219700"/>
            <a:ext cx="8572500" cy="419100"/>
          </a:xfrm>
          <a:prstGeom prst="rect">
            <a:avLst/>
          </a:prstGeom>
          <a:solidFill>
            <a:srgbClr val="1721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0126F81-A00C-4E82-B13C-5DCA870AD07A}"/>
              </a:ext>
            </a:extLst>
          </p:cNvPr>
          <p:cNvSpPr>
            <a:spLocks noGrp="1"/>
          </p:cNvSpPr>
          <p:nvPr/>
        </p:nvSpPr>
        <p:spPr>
          <a:xfrm>
            <a:off x="2095500" y="5343525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Mechanism claim: the model adds social information without giving up seeded reproducibility or feasibility checks.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E46E212-D9D9-45BA-B0A6-099B3BC7D937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42EC4EF-6EF2-43ED-A204-15A1A09CE48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pick rule and snake draft order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7A7746A-1790-42F7-9CDC-80D3B98E045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6/14</a:t>
            </a:r>
          </a:p>
        </p:txBody>
      </p:sp>
    </p:spTree>
    <p:extLst>
      <p:ext uri="{BB962C8B-B14F-4D97-AF65-F5344CB8AC3E}">
        <p14:creationId xmlns:p14="http://schemas.microsoft.com/office/powerpoint/2010/main" val="60438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E19DD7F-105F-43C8-BCC2-E3C16F4256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5C589F-B557-4E9F-B868-5808A0935ED0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821893-4789-4788-AEE1-37F26D5ADF54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POST-ALLOCATION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219230-A5C9-47FF-B7AC-06192256A55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Post-allocation search treats the draft as a feasible starting point, not the endpoint.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E4656-AA51-4AA2-A6D3-BCCD723969E6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21336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3BBD3E-1868-43AE-B4F7-DD0756CEA7B6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38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59BD6-A366-421A-93FD-9D92F1063C5D}"/>
              </a:ext>
            </a:extLst>
          </p:cNvPr>
          <p:cNvSpPr>
            <a:spLocks noGrp="1"/>
          </p:cNvSpPr>
          <p:nvPr/>
        </p:nvSpPr>
        <p:spPr>
          <a:xfrm>
            <a:off x="1333500" y="24288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Initial draft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8259CA-6EBE-4509-AE26-4964DDA2B460}"/>
              </a:ext>
            </a:extLst>
          </p:cNvPr>
          <p:cNvSpPr>
            <a:spLocks noGrp="1"/>
          </p:cNvSpPr>
          <p:nvPr/>
        </p:nvSpPr>
        <p:spPr>
          <a:xfrm>
            <a:off x="1333500" y="2724150"/>
            <a:ext cx="1352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A complete feasible allocation from the snake draft.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E9EC4-BDF1-42AB-BB5B-22DE7B41A6F2}"/>
              </a:ext>
            </a:extLst>
          </p:cNvPr>
          <p:cNvSpPr>
            <a:spLocks noGrp="1"/>
          </p:cNvSpPr>
          <p:nvPr/>
        </p:nvSpPr>
        <p:spPr>
          <a:xfrm>
            <a:off x="2952750" y="2857500"/>
            <a:ext cx="4572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E57C6-EB35-41D9-BFCB-946A8A9AA523}"/>
              </a:ext>
            </a:extLst>
          </p:cNvPr>
          <p:cNvSpPr>
            <a:spLocks noGrp="1"/>
          </p:cNvSpPr>
          <p:nvPr/>
        </p:nvSpPr>
        <p:spPr>
          <a:xfrm>
            <a:off x="3390900" y="2724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A3DE3F-7D47-4075-B51B-E391173854A1}"/>
              </a:ext>
            </a:extLst>
          </p:cNvPr>
          <p:cNvSpPr>
            <a:spLocks noGrp="1"/>
          </p:cNvSpPr>
          <p:nvPr/>
        </p:nvSpPr>
        <p:spPr>
          <a:xfrm>
            <a:off x="3676650" y="2266950"/>
            <a:ext cx="2381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6122C5-6227-46D4-83F1-98D6A6DDA1F7}"/>
              </a:ext>
            </a:extLst>
          </p:cNvPr>
          <p:cNvSpPr>
            <a:spLocks noGrp="1"/>
          </p:cNvSpPr>
          <p:nvPr/>
        </p:nvSpPr>
        <p:spPr>
          <a:xfrm>
            <a:off x="3829050" y="2419350"/>
            <a:ext cx="38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9DE4C4-E916-4322-A680-D8188D4D6584}"/>
              </a:ext>
            </a:extLst>
          </p:cNvPr>
          <p:cNvSpPr>
            <a:spLocks noGrp="1"/>
          </p:cNvSpPr>
          <p:nvPr/>
        </p:nvSpPr>
        <p:spPr>
          <a:xfrm>
            <a:off x="4286250" y="2428875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Candidate move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E1999-4592-4931-86BD-A4885D41A2F8}"/>
              </a:ext>
            </a:extLst>
          </p:cNvPr>
          <p:cNvSpPr>
            <a:spLocks noGrp="1"/>
          </p:cNvSpPr>
          <p:nvPr/>
        </p:nvSpPr>
        <p:spPr>
          <a:xfrm>
            <a:off x="4286250" y="2724150"/>
            <a:ext cx="16002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Swap, drop-add, or hybrid move proposed by local search.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35C15E-54A5-4786-9CF0-EA05F9190FAA}"/>
              </a:ext>
            </a:extLst>
          </p:cNvPr>
          <p:cNvSpPr>
            <a:spLocks noGrp="1"/>
          </p:cNvSpPr>
          <p:nvPr/>
        </p:nvSpPr>
        <p:spPr>
          <a:xfrm>
            <a:off x="6172200" y="2857500"/>
            <a:ext cx="45720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5DED76-F028-4E05-9B84-BB692C097E04}"/>
              </a:ext>
            </a:extLst>
          </p:cNvPr>
          <p:cNvSpPr>
            <a:spLocks noGrp="1"/>
          </p:cNvSpPr>
          <p:nvPr/>
        </p:nvSpPr>
        <p:spPr>
          <a:xfrm>
            <a:off x="6610350" y="2724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3E8257-234B-4729-B281-D7360CE63F60}"/>
              </a:ext>
            </a:extLst>
          </p:cNvPr>
          <p:cNvSpPr>
            <a:spLocks noGrp="1"/>
          </p:cNvSpPr>
          <p:nvPr/>
        </p:nvSpPr>
        <p:spPr>
          <a:xfrm>
            <a:off x="6896100" y="2266950"/>
            <a:ext cx="21336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66249D-A440-4B69-BF27-CA40341E05CA}"/>
              </a:ext>
            </a:extLst>
          </p:cNvPr>
          <p:cNvSpPr>
            <a:spLocks noGrp="1"/>
          </p:cNvSpPr>
          <p:nvPr/>
        </p:nvSpPr>
        <p:spPr>
          <a:xfrm>
            <a:off x="7048500" y="2419350"/>
            <a:ext cx="38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B0D258-AF14-4A41-B40A-909EF62DB2EF}"/>
              </a:ext>
            </a:extLst>
          </p:cNvPr>
          <p:cNvSpPr>
            <a:spLocks noGrp="1"/>
          </p:cNvSpPr>
          <p:nvPr/>
        </p:nvSpPr>
        <p:spPr>
          <a:xfrm>
            <a:off x="7505700" y="24288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2CC5B8-8BE2-41BC-B231-66171B571964}"/>
              </a:ext>
            </a:extLst>
          </p:cNvPr>
          <p:cNvSpPr>
            <a:spLocks noGrp="1"/>
          </p:cNvSpPr>
          <p:nvPr/>
        </p:nvSpPr>
        <p:spPr>
          <a:xfrm>
            <a:off x="7505700" y="2724150"/>
            <a:ext cx="1352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Capacity and max-bundle constraints must remain satisfied.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5B0560-ED04-4A1A-AB5F-141A1EC71E7D}"/>
              </a:ext>
            </a:extLst>
          </p:cNvPr>
          <p:cNvSpPr>
            <a:spLocks noGrp="1"/>
          </p:cNvSpPr>
          <p:nvPr/>
        </p:nvSpPr>
        <p:spPr>
          <a:xfrm>
            <a:off x="9144000" y="2857500"/>
            <a:ext cx="457200" cy="190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9AC05A-3553-49FC-8262-673DECE78A37}"/>
              </a:ext>
            </a:extLst>
          </p:cNvPr>
          <p:cNvSpPr>
            <a:spLocks noGrp="1"/>
          </p:cNvSpPr>
          <p:nvPr/>
        </p:nvSpPr>
        <p:spPr>
          <a:xfrm>
            <a:off x="9582150" y="2724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205DC-1360-48FD-BA95-213B66D64A19}"/>
              </a:ext>
            </a:extLst>
          </p:cNvPr>
          <p:cNvSpPr>
            <a:spLocks noGrp="1"/>
          </p:cNvSpPr>
          <p:nvPr/>
        </p:nvSpPr>
        <p:spPr>
          <a:xfrm>
            <a:off x="9867900" y="2266950"/>
            <a:ext cx="1619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B8647E-7E5D-4CA2-A358-04F58860C426}"/>
              </a:ext>
            </a:extLst>
          </p:cNvPr>
          <p:cNvSpPr>
            <a:spLocks noGrp="1"/>
          </p:cNvSpPr>
          <p:nvPr/>
        </p:nvSpPr>
        <p:spPr>
          <a:xfrm>
            <a:off x="10020300" y="2419350"/>
            <a:ext cx="38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4B19F5-0138-4704-89E2-50AE8BA4FBD7}"/>
              </a:ext>
            </a:extLst>
          </p:cNvPr>
          <p:cNvSpPr>
            <a:spLocks noGrp="1"/>
          </p:cNvSpPr>
          <p:nvPr/>
        </p:nvSpPr>
        <p:spPr>
          <a:xfrm>
            <a:off x="10477500" y="2428875"/>
            <a:ext cx="838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Accept / reject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999459-ACEE-4E9B-B53E-FF7CD902AA6F}"/>
              </a:ext>
            </a:extLst>
          </p:cNvPr>
          <p:cNvSpPr>
            <a:spLocks noGrp="1"/>
          </p:cNvSpPr>
          <p:nvPr/>
        </p:nvSpPr>
        <p:spPr>
          <a:xfrm>
            <a:off x="10477500" y="2724150"/>
            <a:ext cx="8382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Move is accepted only if the selected objective strictly improves.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6EF998-32BB-41DE-A2F1-722AA053EBAA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601200" cy="78105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40C0C6-6565-4E3F-A7BC-A9089E999B7E}"/>
              </a:ext>
            </a:extLst>
          </p:cNvPr>
          <p:cNvSpPr>
            <a:spLocks noGrp="1"/>
          </p:cNvSpPr>
          <p:nvPr/>
        </p:nvSpPr>
        <p:spPr>
          <a:xfrm>
            <a:off x="1562100" y="44958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this stage matters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158451-9DB9-4E25-9420-13173DCFF052}"/>
              </a:ext>
            </a:extLst>
          </p:cNvPr>
          <p:cNvSpPr>
            <a:spLocks noGrp="1"/>
          </p:cNvSpPr>
          <p:nvPr/>
        </p:nvSpPr>
        <p:spPr>
          <a:xfrm>
            <a:off x="3467100" y="4476750"/>
            <a:ext cx="6896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draft is fast and deterministic, but early choices create path dependence. Local search asks whether feasible exchanges can improve welfare or individual utility after more social information is revealed.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8334C9-A468-44E0-8103-5B237E70DFA5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1F90F1-517D-4AD8-9AC3-270A7E91A2E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post-draft improvement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397D33-191F-46FA-8316-6FC190DDEC7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7/14</a:t>
            </a:r>
          </a:p>
        </p:txBody>
      </p:sp>
    </p:spTree>
    <p:extLst>
      <p:ext uri="{BB962C8B-B14F-4D97-AF65-F5344CB8AC3E}">
        <p14:creationId xmlns:p14="http://schemas.microsoft.com/office/powerpoint/2010/main" val="1743324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ADDFCD1-9297-4920-800C-C89B935AE5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BB3E1B-CC30-4BB9-AA56-6A15338CF001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96C76-45E9-43C2-AD26-F1CAF87C4DB0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METHOD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F13E-0857-4C2B-A26C-30EBC4BE94F4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57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design space is three move operators crossed with two objectives.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A446EE-2230-44E5-B5F4-0C5C24E39804}"/>
              </a:ext>
            </a:extLst>
          </p:cNvPr>
          <p:cNvSpPr>
            <a:spLocks noGrp="1"/>
          </p:cNvSpPr>
          <p:nvPr/>
        </p:nvSpPr>
        <p:spPr>
          <a:xfrm>
            <a:off x="1123950" y="169545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Move type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848BE3-CA67-48E2-BE1C-DF68249EE9CC}"/>
              </a:ext>
            </a:extLst>
          </p:cNvPr>
          <p:cNvSpPr>
            <a:spLocks noGrp="1"/>
          </p:cNvSpPr>
          <p:nvPr/>
        </p:nvSpPr>
        <p:spPr>
          <a:xfrm>
            <a:off x="3086100" y="1581150"/>
            <a:ext cx="3619500" cy="400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0D072-07DF-487C-A3DE-DA2B2A12B431}"/>
              </a:ext>
            </a:extLst>
          </p:cNvPr>
          <p:cNvSpPr>
            <a:spLocks noGrp="1"/>
          </p:cNvSpPr>
          <p:nvPr/>
        </p:nvSpPr>
        <p:spPr>
          <a:xfrm>
            <a:off x="3257550" y="1657350"/>
            <a:ext cx="3276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welfare objective</a:t>
            </a:r>
          </a:p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accept if ΔW &gt;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C323CF-271E-4567-B5F5-86474B4785A9}"/>
              </a:ext>
            </a:extLst>
          </p:cNvPr>
          <p:cNvSpPr>
            <a:spLocks noGrp="1"/>
          </p:cNvSpPr>
          <p:nvPr/>
        </p:nvSpPr>
        <p:spPr>
          <a:xfrm>
            <a:off x="6705600" y="1581150"/>
            <a:ext cx="3619500" cy="400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A6FEB5-4989-476D-A44F-506BDC7A735F}"/>
              </a:ext>
            </a:extLst>
          </p:cNvPr>
          <p:cNvSpPr>
            <a:spLocks noGrp="1"/>
          </p:cNvSpPr>
          <p:nvPr/>
        </p:nvSpPr>
        <p:spPr>
          <a:xfrm>
            <a:off x="6877050" y="1657350"/>
            <a:ext cx="3276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Personal objective</a:t>
            </a:r>
          </a:p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accept if ΔU_s &gt;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8C4D4A-33A2-46BB-A533-2A53F7C7D6EF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196215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E786D-9EEB-4CB2-8312-51F062FF164C}"/>
              </a:ext>
            </a:extLst>
          </p:cNvPr>
          <p:cNvSpPr>
            <a:spLocks noGrp="1"/>
          </p:cNvSpPr>
          <p:nvPr/>
        </p:nvSpPr>
        <p:spPr>
          <a:xfrm>
            <a:off x="1295400" y="22098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swap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7F7E3D-9A6A-4CD0-A0A8-EF0C9ACA4AAB}"/>
              </a:ext>
            </a:extLst>
          </p:cNvPr>
          <p:cNvSpPr>
            <a:spLocks noGrp="1"/>
          </p:cNvSpPr>
          <p:nvPr/>
        </p:nvSpPr>
        <p:spPr>
          <a:xfrm>
            <a:off x="1295400" y="24955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Exchange two assigned seats between students.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5339E7-1A0D-4039-91E3-F4F22CABB3A8}"/>
              </a:ext>
            </a:extLst>
          </p:cNvPr>
          <p:cNvSpPr>
            <a:spLocks noGrp="1"/>
          </p:cNvSpPr>
          <p:nvPr/>
        </p:nvSpPr>
        <p:spPr>
          <a:xfrm>
            <a:off x="3086100" y="2038350"/>
            <a:ext cx="361950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208D7C-7D37-481D-AD90-50D3D4E62A59}"/>
              </a:ext>
            </a:extLst>
          </p:cNvPr>
          <p:cNvSpPr>
            <a:spLocks noGrp="1"/>
          </p:cNvSpPr>
          <p:nvPr/>
        </p:nvSpPr>
        <p:spPr>
          <a:xfrm>
            <a:off x="3352800" y="2314575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ΔW_global over feasible pair swaps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05FE20-73D0-4DD4-A06C-E84BBDC8D620}"/>
              </a:ext>
            </a:extLst>
          </p:cNvPr>
          <p:cNvSpPr>
            <a:spLocks noGrp="1"/>
          </p:cNvSpPr>
          <p:nvPr/>
        </p:nvSpPr>
        <p:spPr>
          <a:xfrm>
            <a:off x="6705600" y="2038350"/>
            <a:ext cx="361950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09D2A-AB3A-4179-8D8A-7276A8E9FEDF}"/>
              </a:ext>
            </a:extLst>
          </p:cNvPr>
          <p:cNvSpPr>
            <a:spLocks noGrp="1"/>
          </p:cNvSpPr>
          <p:nvPr/>
        </p:nvSpPr>
        <p:spPr>
          <a:xfrm>
            <a:off x="6972300" y="2314575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ΔU_current over oriented swaps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CFCD43-E72C-4BEB-874C-0E40A1113E40}"/>
              </a:ext>
            </a:extLst>
          </p:cNvPr>
          <p:cNvSpPr>
            <a:spLocks noGrp="1"/>
          </p:cNvSpPr>
          <p:nvPr/>
        </p:nvSpPr>
        <p:spPr>
          <a:xfrm>
            <a:off x="1123950" y="2914650"/>
            <a:ext cx="196215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2B52C-89F7-4EFE-ABA1-1D60781D4EAB}"/>
              </a:ext>
            </a:extLst>
          </p:cNvPr>
          <p:cNvSpPr>
            <a:spLocks noGrp="1"/>
          </p:cNvSpPr>
          <p:nvPr/>
        </p:nvSpPr>
        <p:spPr>
          <a:xfrm>
            <a:off x="1295400" y="30861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drop-add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9E1FF8-A1F4-4E61-9204-C06D34EB69DF}"/>
              </a:ext>
            </a:extLst>
          </p:cNvPr>
          <p:cNvSpPr>
            <a:spLocks noGrp="1"/>
          </p:cNvSpPr>
          <p:nvPr/>
        </p:nvSpPr>
        <p:spPr>
          <a:xfrm>
            <a:off x="1295400" y="33718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Rebuild one student's top-b from current + spare capacity.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914C1D-A385-47AB-8FD9-CF22CF497291}"/>
              </a:ext>
            </a:extLst>
          </p:cNvPr>
          <p:cNvSpPr>
            <a:spLocks noGrp="1"/>
          </p:cNvSpPr>
          <p:nvPr/>
        </p:nvSpPr>
        <p:spPr>
          <a:xfrm>
            <a:off x="3086100" y="2914650"/>
            <a:ext cx="361950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E6F6B2-424A-46D1-A48C-35BEA801E0F3}"/>
              </a:ext>
            </a:extLst>
          </p:cNvPr>
          <p:cNvSpPr>
            <a:spLocks noGrp="1"/>
          </p:cNvSpPr>
          <p:nvPr/>
        </p:nvSpPr>
        <p:spPr>
          <a:xfrm>
            <a:off x="3352800" y="3190875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global welfare gain after exact rebuild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F5262E-2D52-4255-9B1E-0CEE07E2F1E3}"/>
              </a:ext>
            </a:extLst>
          </p:cNvPr>
          <p:cNvSpPr>
            <a:spLocks noGrp="1"/>
          </p:cNvSpPr>
          <p:nvPr/>
        </p:nvSpPr>
        <p:spPr>
          <a:xfrm>
            <a:off x="6705600" y="2914650"/>
            <a:ext cx="361950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BFC5BE-13F6-435F-BA9F-CAF6C4AC77F9}"/>
              </a:ext>
            </a:extLst>
          </p:cNvPr>
          <p:cNvSpPr>
            <a:spLocks noGrp="1"/>
          </p:cNvSpPr>
          <p:nvPr/>
        </p:nvSpPr>
        <p:spPr>
          <a:xfrm>
            <a:off x="6972300" y="3190875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current-student gain after rebuild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CF6EBF-E8CE-4EA7-8D20-55F9122CB0EC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196215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26FF30-7845-4300-A48A-D7B00F27454E}"/>
              </a:ext>
            </a:extLst>
          </p:cNvPr>
          <p:cNvSpPr>
            <a:spLocks noGrp="1"/>
          </p:cNvSpPr>
          <p:nvPr/>
        </p:nvSpPr>
        <p:spPr>
          <a:xfrm>
            <a:off x="1295400" y="39624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hybrid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788610-AF62-47B1-96F3-076BB1D6DB53}"/>
              </a:ext>
            </a:extLst>
          </p:cNvPr>
          <p:cNvSpPr>
            <a:spLocks noGrp="1"/>
          </p:cNvSpPr>
          <p:nvPr/>
        </p:nvSpPr>
        <p:spPr>
          <a:xfrm>
            <a:off x="1295400" y="42481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Try add/drop when seats are open; try swap when target is full.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A809C6-890A-4EC7-94B5-5CE47199DCED}"/>
              </a:ext>
            </a:extLst>
          </p:cNvPr>
          <p:cNvSpPr>
            <a:spLocks noGrp="1"/>
          </p:cNvSpPr>
          <p:nvPr/>
        </p:nvSpPr>
        <p:spPr>
          <a:xfrm>
            <a:off x="3086100" y="3790950"/>
            <a:ext cx="361950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A66480-EAD6-48AD-8ED8-C5E685914DE0}"/>
              </a:ext>
            </a:extLst>
          </p:cNvPr>
          <p:cNvSpPr>
            <a:spLocks noGrp="1"/>
          </p:cNvSpPr>
          <p:nvPr/>
        </p:nvSpPr>
        <p:spPr>
          <a:xfrm>
            <a:off x="3352800" y="4067175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best move by ΔW_global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39B1BB-6EA9-49DB-97D7-B146E5F8C5B1}"/>
              </a:ext>
            </a:extLst>
          </p:cNvPr>
          <p:cNvSpPr>
            <a:spLocks noGrp="1"/>
          </p:cNvSpPr>
          <p:nvPr/>
        </p:nvSpPr>
        <p:spPr>
          <a:xfrm>
            <a:off x="6705600" y="3790950"/>
            <a:ext cx="3619500" cy="8763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267AA4-08CA-4B3B-B218-A4E12275C238}"/>
              </a:ext>
            </a:extLst>
          </p:cNvPr>
          <p:cNvSpPr>
            <a:spLocks noGrp="1"/>
          </p:cNvSpPr>
          <p:nvPr/>
        </p:nvSpPr>
        <p:spPr>
          <a:xfrm>
            <a:off x="6972300" y="4067175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best move by ΔU_student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573E07-C460-49D4-B807-162887CCE66C}"/>
              </a:ext>
            </a:extLst>
          </p:cNvPr>
          <p:cNvSpPr>
            <a:spLocks noGrp="1"/>
          </p:cNvSpPr>
          <p:nvPr/>
        </p:nvSpPr>
        <p:spPr>
          <a:xfrm>
            <a:off x="2705100" y="5219700"/>
            <a:ext cx="6762750" cy="438150"/>
          </a:xfrm>
          <a:prstGeom prst="rect">
            <a:avLst/>
          </a:prstGeom>
          <a:solidFill>
            <a:srgbClr val="1721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912166-6EE7-4008-A6D6-D79114F59BD8}"/>
              </a:ext>
            </a:extLst>
          </p:cNvPr>
          <p:cNvSpPr>
            <a:spLocks noGrp="1"/>
          </p:cNvSpPr>
          <p:nvPr/>
        </p:nvSpPr>
        <p:spPr>
          <a:xfrm>
            <a:off x="2990850" y="534352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This matrix is the empirical lever: the same utility model can behave differently depending on the local operator and acceptance criterion.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BA47AF-63FE-441E-BA29-9CCBAD398597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34D4AB-452B-4C61-8F81-B180EF7091D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post-draft improvement modes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91F911-4300-4613-8518-B120E8FC0C8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8/14</a:t>
            </a:r>
          </a:p>
        </p:txBody>
      </p:sp>
    </p:spTree>
    <p:extLst>
      <p:ext uri="{BB962C8B-B14F-4D97-AF65-F5344CB8AC3E}">
        <p14:creationId xmlns:p14="http://schemas.microsoft.com/office/powerpoint/2010/main" val="32514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DE3762C-E940-4D6B-B844-E9CF13AEF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AA6368-CE2B-42D3-A108-754BDE0DE8D1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0D7CA9-99CC-46F2-B4FC-13CBB30781D7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E9F6D1-25E7-460E-BAA3-0515A2372C2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953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Evaluation asks three questions: welfare, fairness, and social satisfaction.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07E66F-7D67-49AD-BCE9-2B9FFC1D2EFD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133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EA77F4-151E-4681-8115-89EDF94C3DD2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38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BF582D-F758-4B8E-A3C8-9A9246A29504}"/>
              </a:ext>
            </a:extLst>
          </p:cNvPr>
          <p:cNvSpPr>
            <a:spLocks noGrp="1"/>
          </p:cNvSpPr>
          <p:nvPr/>
        </p:nvSpPr>
        <p:spPr>
          <a:xfrm>
            <a:off x="1352550" y="23717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Synthetic inputs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8A555B-65B0-44A7-8C13-18280C3E6FA6}"/>
              </a:ext>
            </a:extLst>
          </p:cNvPr>
          <p:cNvSpPr>
            <a:spLocks noGrp="1"/>
          </p:cNvSpPr>
          <p:nvPr/>
        </p:nvSpPr>
        <p:spPr>
          <a:xfrm>
            <a:off x="1352550" y="2667000"/>
            <a:ext cx="1352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Table 1 rankings, Table 2 directed friends, Table 3 lambda.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E35A48-60A2-4F5D-A251-572E2C0AD844}"/>
              </a:ext>
            </a:extLst>
          </p:cNvPr>
          <p:cNvSpPr>
            <a:spLocks noGrp="1"/>
          </p:cNvSpPr>
          <p:nvPr/>
        </p:nvSpPr>
        <p:spPr>
          <a:xfrm>
            <a:off x="3009900" y="2743200"/>
            <a:ext cx="4000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55AF6-9C65-4E71-832C-6E823C2CF834}"/>
              </a:ext>
            </a:extLst>
          </p:cNvPr>
          <p:cNvSpPr>
            <a:spLocks noGrp="1"/>
          </p:cNvSpPr>
          <p:nvPr/>
        </p:nvSpPr>
        <p:spPr>
          <a:xfrm>
            <a:off x="3390900" y="26098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E07E7F-7690-4BB6-8E5A-B585D95796F6}"/>
              </a:ext>
            </a:extLst>
          </p:cNvPr>
          <p:cNvSpPr>
            <a:spLocks noGrp="1"/>
          </p:cNvSpPr>
          <p:nvPr/>
        </p:nvSpPr>
        <p:spPr>
          <a:xfrm>
            <a:off x="3695700" y="2209800"/>
            <a:ext cx="2190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772078-BADC-4249-818B-08A28B3156DE}"/>
              </a:ext>
            </a:extLst>
          </p:cNvPr>
          <p:cNvSpPr>
            <a:spLocks noGrp="1"/>
          </p:cNvSpPr>
          <p:nvPr/>
        </p:nvSpPr>
        <p:spPr>
          <a:xfrm>
            <a:off x="3848100" y="2362200"/>
            <a:ext cx="38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FC71E4-5D47-4FCC-8CDB-D5B06BC62001}"/>
              </a:ext>
            </a:extLst>
          </p:cNvPr>
          <p:cNvSpPr>
            <a:spLocks noGrp="1"/>
          </p:cNvSpPr>
          <p:nvPr/>
        </p:nvSpPr>
        <p:spPr>
          <a:xfrm>
            <a:off x="4305300" y="2371725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Deterministic 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89B1E8-CD4E-4ED3-B3B1-DD012F767175}"/>
              </a:ext>
            </a:extLst>
          </p:cNvPr>
          <p:cNvSpPr>
            <a:spLocks noGrp="1"/>
          </p:cNvSpPr>
          <p:nvPr/>
        </p:nvSpPr>
        <p:spPr>
          <a:xfrm>
            <a:off x="4305300" y="2667000"/>
            <a:ext cx="1409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Seeded draft plus post-grid: 0, 1, 5, 10, 20.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862531-538F-49DA-8751-18F976D48C7F}"/>
              </a:ext>
            </a:extLst>
          </p:cNvPr>
          <p:cNvSpPr>
            <a:spLocks noGrp="1"/>
          </p:cNvSpPr>
          <p:nvPr/>
        </p:nvSpPr>
        <p:spPr>
          <a:xfrm>
            <a:off x="6019800" y="2743200"/>
            <a:ext cx="40005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311F9A-D887-49EC-B4F3-3CE63E683997}"/>
              </a:ext>
            </a:extLst>
          </p:cNvPr>
          <p:cNvSpPr>
            <a:spLocks noGrp="1"/>
          </p:cNvSpPr>
          <p:nvPr/>
        </p:nvSpPr>
        <p:spPr>
          <a:xfrm>
            <a:off x="6400800" y="26098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14C48F-5D76-4B34-A5EE-43891DAD6F73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2133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B4C4C3-5596-4176-865B-AA98459D796A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38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934A80-B10C-4BDC-9CA3-6DC5EC89E1EA}"/>
              </a:ext>
            </a:extLst>
          </p:cNvPr>
          <p:cNvSpPr>
            <a:spLocks noGrp="1"/>
          </p:cNvSpPr>
          <p:nvPr/>
        </p:nvSpPr>
        <p:spPr>
          <a:xfrm>
            <a:off x="7315200" y="23717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Mode sweep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92860-2852-48CE-9BB4-68A2D6949BCC}"/>
              </a:ext>
            </a:extLst>
          </p:cNvPr>
          <p:cNvSpPr>
            <a:spLocks noGrp="1"/>
          </p:cNvSpPr>
          <p:nvPr/>
        </p:nvSpPr>
        <p:spPr>
          <a:xfrm>
            <a:off x="7315200" y="2667000"/>
            <a:ext cx="1352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swap, drop-add, hybrid; global and personal objectives.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DD54C4-4A8E-44D1-B2AF-92CB80F1065C}"/>
              </a:ext>
            </a:extLst>
          </p:cNvPr>
          <p:cNvSpPr>
            <a:spLocks noGrp="1"/>
          </p:cNvSpPr>
          <p:nvPr/>
        </p:nvSpPr>
        <p:spPr>
          <a:xfrm>
            <a:off x="8991600" y="2743200"/>
            <a:ext cx="400050" cy="190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F27597-39E8-4AC3-B3A0-22BA06743D54}"/>
              </a:ext>
            </a:extLst>
          </p:cNvPr>
          <p:cNvSpPr>
            <a:spLocks noGrp="1"/>
          </p:cNvSpPr>
          <p:nvPr/>
        </p:nvSpPr>
        <p:spPr>
          <a:xfrm>
            <a:off x="9372600" y="26098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0C80EE-1BE8-48EB-9FC8-6E7E1AED8AFF}"/>
              </a:ext>
            </a:extLst>
          </p:cNvPr>
          <p:cNvSpPr>
            <a:spLocks noGrp="1"/>
          </p:cNvSpPr>
          <p:nvPr/>
        </p:nvSpPr>
        <p:spPr>
          <a:xfrm>
            <a:off x="9677400" y="2209800"/>
            <a:ext cx="17335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AB4612-344B-43C0-ACD3-5E52D85BF10E}"/>
              </a:ext>
            </a:extLst>
          </p:cNvPr>
          <p:cNvSpPr>
            <a:spLocks noGrp="1"/>
          </p:cNvSpPr>
          <p:nvPr/>
        </p:nvSpPr>
        <p:spPr>
          <a:xfrm>
            <a:off x="9829800" y="2362200"/>
            <a:ext cx="38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01143F-9FF6-43EE-9409-F4DF17A3D5F4}"/>
              </a:ext>
            </a:extLst>
          </p:cNvPr>
          <p:cNvSpPr>
            <a:spLocks noGrp="1"/>
          </p:cNvSpPr>
          <p:nvPr/>
        </p:nvSpPr>
        <p:spPr>
          <a:xfrm>
            <a:off x="10287000" y="237172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E9621F-C5B8-4BC6-BDA9-D883F44788D4}"/>
              </a:ext>
            </a:extLst>
          </p:cNvPr>
          <p:cNvSpPr>
            <a:spLocks noGrp="1"/>
          </p:cNvSpPr>
          <p:nvPr/>
        </p:nvSpPr>
        <p:spPr>
          <a:xfrm>
            <a:off x="10287000" y="2667000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Total utility, Gini, ranks, friend overlap, fill rates.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31A688-06FB-4703-94AE-FE2FFE4056E8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0401300" cy="93345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F6A8A6-1547-484E-BCAA-1B49E0206442}"/>
              </a:ext>
            </a:extLst>
          </p:cNvPr>
          <p:cNvSpPr>
            <a:spLocks noGrp="1"/>
          </p:cNvSpPr>
          <p:nvPr/>
        </p:nvSpPr>
        <p:spPr>
          <a:xfrm>
            <a:off x="1200150" y="4324350"/>
            <a:ext cx="28575" cy="571500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0976A1-23C2-4F7F-A975-F7DDB379781F}"/>
              </a:ext>
            </a:extLst>
          </p:cNvPr>
          <p:cNvSpPr>
            <a:spLocks noGrp="1"/>
          </p:cNvSpPr>
          <p:nvPr/>
        </p:nvSpPr>
        <p:spPr>
          <a:xfrm>
            <a:off x="1352550" y="43434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1CA088-9379-4E4C-8FBE-9EA645589F5F}"/>
              </a:ext>
            </a:extLst>
          </p:cNvPr>
          <p:cNvSpPr>
            <a:spLocks noGrp="1"/>
          </p:cNvSpPr>
          <p:nvPr/>
        </p:nvSpPr>
        <p:spPr>
          <a:xfrm>
            <a:off x="1352550" y="46863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6F48C6-5498-4D5F-A421-3661A62D3B99}"/>
              </a:ext>
            </a:extLst>
          </p:cNvPr>
          <p:cNvSpPr>
            <a:spLocks noGrp="1"/>
          </p:cNvSpPr>
          <p:nvPr/>
        </p:nvSpPr>
        <p:spPr>
          <a:xfrm>
            <a:off x="1352550" y="48577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scenario A_200x8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42A914-090A-45A3-BCA8-313529F0380D}"/>
              </a:ext>
            </a:extLst>
          </p:cNvPr>
          <p:cNvSpPr>
            <a:spLocks noGrp="1"/>
          </p:cNvSpPr>
          <p:nvPr/>
        </p:nvSpPr>
        <p:spPr>
          <a:xfrm>
            <a:off x="3314700" y="4324350"/>
            <a:ext cx="28575" cy="571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96C517-7270-4E8E-9E50-9D36F43658AC}"/>
              </a:ext>
            </a:extLst>
          </p:cNvPr>
          <p:cNvSpPr>
            <a:spLocks noGrp="1"/>
          </p:cNvSpPr>
          <p:nvPr/>
        </p:nvSpPr>
        <p:spPr>
          <a:xfrm>
            <a:off x="3467100" y="43434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6B3A8E-4526-4BA8-AECB-9AD20634E31B}"/>
              </a:ext>
            </a:extLst>
          </p:cNvPr>
          <p:cNvSpPr>
            <a:spLocks noGrp="1"/>
          </p:cNvSpPr>
          <p:nvPr/>
        </p:nvSpPr>
        <p:spPr>
          <a:xfrm>
            <a:off x="3467100" y="46863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courses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07C8FA-E0E6-442A-847C-1D7C8A0E25B5}"/>
              </a:ext>
            </a:extLst>
          </p:cNvPr>
          <p:cNvSpPr>
            <a:spLocks noGrp="1"/>
          </p:cNvSpPr>
          <p:nvPr/>
        </p:nvSpPr>
        <p:spPr>
          <a:xfrm>
            <a:off x="3467100" y="48577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capacity 80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DA1E4F-2292-4533-8BC5-10CC50F81CAB}"/>
              </a:ext>
            </a:extLst>
          </p:cNvPr>
          <p:cNvSpPr>
            <a:spLocks noGrp="1"/>
          </p:cNvSpPr>
          <p:nvPr/>
        </p:nvSpPr>
        <p:spPr>
          <a:xfrm>
            <a:off x="5429250" y="4324350"/>
            <a:ext cx="28575" cy="57150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976859-DB63-4EDD-94A2-E4158F95FBD6}"/>
              </a:ext>
            </a:extLst>
          </p:cNvPr>
          <p:cNvSpPr>
            <a:spLocks noGrp="1"/>
          </p:cNvSpPr>
          <p:nvPr/>
        </p:nvSpPr>
        <p:spPr>
          <a:xfrm>
            <a:off x="5581650" y="43434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BC571A8-EDEE-44CF-8883-80D28D76D846}"/>
              </a:ext>
            </a:extLst>
          </p:cNvPr>
          <p:cNvSpPr>
            <a:spLocks noGrp="1"/>
          </p:cNvSpPr>
          <p:nvPr/>
        </p:nvSpPr>
        <p:spPr>
          <a:xfrm>
            <a:off x="5581650" y="46863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A96530-C063-4095-B32A-3FE807A1ED94}"/>
              </a:ext>
            </a:extLst>
          </p:cNvPr>
          <p:cNvSpPr>
            <a:spLocks noGrp="1"/>
          </p:cNvSpPr>
          <p:nvPr/>
        </p:nvSpPr>
        <p:spPr>
          <a:xfrm>
            <a:off x="5581650" y="48577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11 through 20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254E1E-128F-4B93-ACA9-E85E2CCDF68C}"/>
              </a:ext>
            </a:extLst>
          </p:cNvPr>
          <p:cNvSpPr>
            <a:spLocks noGrp="1"/>
          </p:cNvSpPr>
          <p:nvPr/>
        </p:nvSpPr>
        <p:spPr>
          <a:xfrm>
            <a:off x="7543800" y="4324350"/>
            <a:ext cx="28575" cy="5715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E4C394-CAE3-4691-8E26-B347177469E9}"/>
              </a:ext>
            </a:extLst>
          </p:cNvPr>
          <p:cNvSpPr>
            <a:spLocks noGrp="1"/>
          </p:cNvSpPr>
          <p:nvPr/>
        </p:nvSpPr>
        <p:spPr>
          <a:xfrm>
            <a:off x="7696200" y="43434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8EDEB8-083C-4B68-B617-9BDF4406AA1C}"/>
              </a:ext>
            </a:extLst>
          </p:cNvPr>
          <p:cNvSpPr>
            <a:spLocks noGrp="1"/>
          </p:cNvSpPr>
          <p:nvPr/>
        </p:nvSpPr>
        <p:spPr>
          <a:xfrm>
            <a:off x="7696200" y="46863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post levels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0F4B4B-66B6-4408-8485-3EA2E2C94D83}"/>
              </a:ext>
            </a:extLst>
          </p:cNvPr>
          <p:cNvSpPr>
            <a:spLocks noGrp="1"/>
          </p:cNvSpPr>
          <p:nvPr/>
        </p:nvSpPr>
        <p:spPr>
          <a:xfrm>
            <a:off x="7696200" y="48577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0/1/5/10/20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A0A723-EB78-4515-A07F-0473E5B58204}"/>
              </a:ext>
            </a:extLst>
          </p:cNvPr>
          <p:cNvSpPr>
            <a:spLocks noGrp="1"/>
          </p:cNvSpPr>
          <p:nvPr/>
        </p:nvSpPr>
        <p:spPr>
          <a:xfrm>
            <a:off x="9353550" y="4457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Reported result slides use saved aggregate evidence from the local SQLite experiment database.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621784-6A28-4EAF-A1B8-1F38D7A10008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4632CCB-5AC6-425C-BA82-7B2C8217D68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results/experiments/experiments.sqlite; README.md experiment sweep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C06D6B-19B6-4A53-A52E-8B522A6F72B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9/14</a:t>
            </a:r>
          </a:p>
        </p:txBody>
      </p:sp>
    </p:spTree>
    <p:extLst>
      <p:ext uri="{BB962C8B-B14F-4D97-AF65-F5344CB8AC3E}">
        <p14:creationId xmlns:p14="http://schemas.microsoft.com/office/powerpoint/2010/main" val="1467627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E3D31C1-578C-4A72-995E-4220FCF2296F}"/>
              </a:ext>
            </a:extLst>
          </p:cNvPr>
          <p:cNvSpPr>
            <a:spLocks noGrp="1"/>
          </p:cNvSpPr>
          <p:nvPr/>
        </p:nvSpPr>
        <p:spPr>
          <a:xfrm>
            <a:off x="0" y="355092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32132-5F00-4175-9EB6-506A53055D10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2D763E-5E67-4E26-94C7-D286285C17F6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RESULT 1: WELFARE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BBDF48-BEC5-4866-A367-4E2C421EAEE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858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Hybrid-global captures most of the welfare gain within five iterations.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85B48-ADAB-4ADE-9B72-9494A4179566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Mean total-utility change vs. no-post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93334-7CF4-42A3-8876-780A8B663A39}"/>
              </a:ext>
            </a:extLst>
          </p:cNvPr>
          <p:cNvSpPr>
            <a:spLocks noGrp="1"/>
          </p:cNvSpPr>
          <p:nvPr/>
        </p:nvSpPr>
        <p:spPr>
          <a:xfrm>
            <a:off x="914400" y="2390775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hybrid-global, post=5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F4EEE8-3466-44E9-AAC0-8791BB380911}"/>
              </a:ext>
            </a:extLst>
          </p:cNvPr>
          <p:cNvSpPr>
            <a:spLocks noGrp="1"/>
          </p:cNvSpPr>
          <p:nvPr/>
        </p:nvSpPr>
        <p:spPr>
          <a:xfrm>
            <a:off x="3105150" y="2457450"/>
            <a:ext cx="2647950" cy="9525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5AB10F-B887-4C3E-A705-7B924E4DF91E}"/>
              </a:ext>
            </a:extLst>
          </p:cNvPr>
          <p:cNvSpPr>
            <a:spLocks noGrp="1"/>
          </p:cNvSpPr>
          <p:nvPr/>
        </p:nvSpPr>
        <p:spPr>
          <a:xfrm>
            <a:off x="3600450" y="2362200"/>
            <a:ext cx="9525" cy="285750"/>
          </a:xfrm>
          <a:prstGeom prst="rect">
            <a:avLst/>
          </a:prstGeom>
          <a:solidFill>
            <a:srgbClr val="566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EB6BB6-B150-4246-9091-00593E9843AF}"/>
              </a:ext>
            </a:extLst>
          </p:cNvPr>
          <p:cNvSpPr>
            <a:spLocks noGrp="1"/>
          </p:cNvSpPr>
          <p:nvPr/>
        </p:nvSpPr>
        <p:spPr>
          <a:xfrm>
            <a:off x="3600450" y="2428875"/>
            <a:ext cx="2074545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C4DD5-1A16-468C-9BA3-1D119C7CA968}"/>
              </a:ext>
            </a:extLst>
          </p:cNvPr>
          <p:cNvSpPr>
            <a:spLocks noGrp="1"/>
          </p:cNvSpPr>
          <p:nvPr/>
        </p:nvSpPr>
        <p:spPr>
          <a:xfrm>
            <a:off x="5924550" y="236220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+3.63%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4E359-D1C0-4B97-85AF-C9B7C224FD12}"/>
              </a:ext>
            </a:extLst>
          </p:cNvPr>
          <p:cNvSpPr>
            <a:spLocks noGrp="1"/>
          </p:cNvSpPr>
          <p:nvPr/>
        </p:nvSpPr>
        <p:spPr>
          <a:xfrm>
            <a:off x="914400" y="3000375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swap-global, post=20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2A4B6D-341D-4B22-83E8-CA873F5B9136}"/>
              </a:ext>
            </a:extLst>
          </p:cNvPr>
          <p:cNvSpPr>
            <a:spLocks noGrp="1"/>
          </p:cNvSpPr>
          <p:nvPr/>
        </p:nvSpPr>
        <p:spPr>
          <a:xfrm>
            <a:off x="3105150" y="3067050"/>
            <a:ext cx="2647950" cy="9525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B05326-6F00-4C39-8F4F-39CE9BDD8ABD}"/>
              </a:ext>
            </a:extLst>
          </p:cNvPr>
          <p:cNvSpPr>
            <a:spLocks noGrp="1"/>
          </p:cNvSpPr>
          <p:nvPr/>
        </p:nvSpPr>
        <p:spPr>
          <a:xfrm>
            <a:off x="3600450" y="2971800"/>
            <a:ext cx="9525" cy="285750"/>
          </a:xfrm>
          <a:prstGeom prst="rect">
            <a:avLst/>
          </a:prstGeom>
          <a:solidFill>
            <a:srgbClr val="566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C60916-58CB-4C6C-8441-F8F047E7744E}"/>
              </a:ext>
            </a:extLst>
          </p:cNvPr>
          <p:cNvSpPr>
            <a:spLocks noGrp="1"/>
          </p:cNvSpPr>
          <p:nvPr/>
        </p:nvSpPr>
        <p:spPr>
          <a:xfrm>
            <a:off x="3600450" y="3038475"/>
            <a:ext cx="1263015" cy="152400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277771-0E24-4F86-86B1-A935BB10766B}"/>
              </a:ext>
            </a:extLst>
          </p:cNvPr>
          <p:cNvSpPr>
            <a:spLocks noGrp="1"/>
          </p:cNvSpPr>
          <p:nvPr/>
        </p:nvSpPr>
        <p:spPr>
          <a:xfrm>
            <a:off x="5924550" y="297180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+2.21%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B4489E-31DB-490A-9030-1D71A69EE38E}"/>
              </a:ext>
            </a:extLst>
          </p:cNvPr>
          <p:cNvSpPr>
            <a:spLocks noGrp="1"/>
          </p:cNvSpPr>
          <p:nvPr/>
        </p:nvSpPr>
        <p:spPr>
          <a:xfrm>
            <a:off x="914400" y="3609975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drop-add-global, post=20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2C5C1C-AACB-4A09-AFBE-0C8128BFF28D}"/>
              </a:ext>
            </a:extLst>
          </p:cNvPr>
          <p:cNvSpPr>
            <a:spLocks noGrp="1"/>
          </p:cNvSpPr>
          <p:nvPr/>
        </p:nvSpPr>
        <p:spPr>
          <a:xfrm>
            <a:off x="3105150" y="3676650"/>
            <a:ext cx="2647950" cy="9525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65574C-A947-4CBD-AAE0-9D40078588D5}"/>
              </a:ext>
            </a:extLst>
          </p:cNvPr>
          <p:cNvSpPr>
            <a:spLocks noGrp="1"/>
          </p:cNvSpPr>
          <p:nvPr/>
        </p:nvSpPr>
        <p:spPr>
          <a:xfrm>
            <a:off x="3600450" y="3581400"/>
            <a:ext cx="9525" cy="285750"/>
          </a:xfrm>
          <a:prstGeom prst="rect">
            <a:avLst/>
          </a:prstGeom>
          <a:solidFill>
            <a:srgbClr val="566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70C4ED-14C1-4A76-A36A-4311751B6C9E}"/>
              </a:ext>
            </a:extLst>
          </p:cNvPr>
          <p:cNvSpPr>
            <a:spLocks noGrp="1"/>
          </p:cNvSpPr>
          <p:nvPr/>
        </p:nvSpPr>
        <p:spPr>
          <a:xfrm>
            <a:off x="3600450" y="3648075"/>
            <a:ext cx="148590" cy="1524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2FBAFC-707D-4DFC-B148-76DA8D77C91A}"/>
              </a:ext>
            </a:extLst>
          </p:cNvPr>
          <p:cNvSpPr>
            <a:spLocks noGrp="1"/>
          </p:cNvSpPr>
          <p:nvPr/>
        </p:nvSpPr>
        <p:spPr>
          <a:xfrm>
            <a:off x="5924550" y="358140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+0.26%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3EC9C9-B927-44C1-8F01-1889F539115C}"/>
              </a:ext>
            </a:extLst>
          </p:cNvPr>
          <p:cNvSpPr>
            <a:spLocks noGrp="1"/>
          </p:cNvSpPr>
          <p:nvPr/>
        </p:nvSpPr>
        <p:spPr>
          <a:xfrm>
            <a:off x="914400" y="4219575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hybrid-personal, post=20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8C21D7-0889-4999-8748-6F8A4C7D4DBE}"/>
              </a:ext>
            </a:extLst>
          </p:cNvPr>
          <p:cNvSpPr>
            <a:spLocks noGrp="1"/>
          </p:cNvSpPr>
          <p:nvPr/>
        </p:nvSpPr>
        <p:spPr>
          <a:xfrm>
            <a:off x="3105150" y="4286250"/>
            <a:ext cx="2647950" cy="95250"/>
          </a:xfrm>
          <a:prstGeom prst="rect">
            <a:avLst/>
          </a:prstGeom>
          <a:solidFill>
            <a:srgbClr val="E9DF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D0645A-BEF0-4624-97A0-B90D493C1B9B}"/>
              </a:ext>
            </a:extLst>
          </p:cNvPr>
          <p:cNvSpPr>
            <a:spLocks noGrp="1"/>
          </p:cNvSpPr>
          <p:nvPr/>
        </p:nvSpPr>
        <p:spPr>
          <a:xfrm>
            <a:off x="3600450" y="4191000"/>
            <a:ext cx="9525" cy="285750"/>
          </a:xfrm>
          <a:prstGeom prst="rect">
            <a:avLst/>
          </a:prstGeom>
          <a:solidFill>
            <a:srgbClr val="5661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C7C6C3-311E-4EC8-A4F0-062E7D4F08C0}"/>
              </a:ext>
            </a:extLst>
          </p:cNvPr>
          <p:cNvSpPr>
            <a:spLocks noGrp="1"/>
          </p:cNvSpPr>
          <p:nvPr/>
        </p:nvSpPr>
        <p:spPr>
          <a:xfrm>
            <a:off x="3377565" y="4257675"/>
            <a:ext cx="222885" cy="15240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30200C-4EEF-4B73-AE7B-AB3297F5F930}"/>
              </a:ext>
            </a:extLst>
          </p:cNvPr>
          <p:cNvSpPr>
            <a:spLocks noGrp="1"/>
          </p:cNvSpPr>
          <p:nvPr/>
        </p:nvSpPr>
        <p:spPr>
          <a:xfrm>
            <a:off x="5924550" y="419100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-0.39%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B2BAF4-EC42-496C-8A7E-EBBE4C6E4FC2}"/>
              </a:ext>
            </a:extLst>
          </p:cNvPr>
          <p:cNvSpPr>
            <a:spLocks noGrp="1"/>
          </p:cNvSpPr>
          <p:nvPr/>
        </p:nvSpPr>
        <p:spPr>
          <a:xfrm>
            <a:off x="6991350" y="2114550"/>
            <a:ext cx="3524250" cy="257175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BB9F42-7A27-4D71-A223-443DD03B9880}"/>
              </a:ext>
            </a:extLst>
          </p:cNvPr>
          <p:cNvSpPr>
            <a:spLocks noGrp="1"/>
          </p:cNvSpPr>
          <p:nvPr/>
        </p:nvSpPr>
        <p:spPr>
          <a:xfrm>
            <a:off x="7296150" y="23622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Mechanistic reading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A519D2-1FE6-4D0A-A5E9-6CEE88D15919}"/>
              </a:ext>
            </a:extLst>
          </p:cNvPr>
          <p:cNvSpPr>
            <a:spLocks noGrp="1"/>
          </p:cNvSpPr>
          <p:nvPr/>
        </p:nvSpPr>
        <p:spPr>
          <a:xfrm>
            <a:off x="7315200" y="28003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371.31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CF6446-F18A-44A2-87A0-49FCBD2EC7C9}"/>
              </a:ext>
            </a:extLst>
          </p:cNvPr>
          <p:cNvSpPr>
            <a:spLocks noGrp="1"/>
          </p:cNvSpPr>
          <p:nvPr/>
        </p:nvSpPr>
        <p:spPr>
          <a:xfrm>
            <a:off x="7334250" y="32194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baseline mean total utility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E39414-194E-4BB8-86FC-ECAE953464C0}"/>
              </a:ext>
            </a:extLst>
          </p:cNvPr>
          <p:cNvSpPr>
            <a:spLocks noGrp="1"/>
          </p:cNvSpPr>
          <p:nvPr/>
        </p:nvSpPr>
        <p:spPr>
          <a:xfrm>
            <a:off x="8972550" y="28003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384.80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14E39C-0061-40C4-BA43-354C8637D4D8}"/>
              </a:ext>
            </a:extLst>
          </p:cNvPr>
          <p:cNvSpPr>
            <a:spLocks noGrp="1"/>
          </p:cNvSpPr>
          <p:nvPr/>
        </p:nvSpPr>
        <p:spPr>
          <a:xfrm>
            <a:off x="8991600" y="3219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hybrid-global at post=5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19146D-3841-41A8-8D55-CD7D15E4EC34}"/>
              </a:ext>
            </a:extLst>
          </p:cNvPr>
          <p:cNvSpPr>
            <a:spLocks noGrp="1"/>
          </p:cNvSpPr>
          <p:nvPr/>
        </p:nvSpPr>
        <p:spPr>
          <a:xfrm>
            <a:off x="7334250" y="3695700"/>
            <a:ext cx="27813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F44F81-BE96-473A-852A-804F0D4EE48B}"/>
              </a:ext>
            </a:extLst>
          </p:cNvPr>
          <p:cNvSpPr>
            <a:spLocks noGrp="1"/>
          </p:cNvSpPr>
          <p:nvPr/>
        </p:nvSpPr>
        <p:spPr>
          <a:xfrm>
            <a:off x="7334250" y="3981450"/>
            <a:ext cx="2762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Global hybrid search uses both spare-capacity add/drop moves and swaps, so it can escape path dependence faster than a single operator.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A0ED85-8591-464E-A99B-A9B4100B5DB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6CE2E8-CAFD-4CFA-A64E-5BC58712BAB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results/experiments/experiments.sqlite, scenario A_200x8, seeds 11-20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54ED11-A78F-4F79-8033-64137E79AC8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10/14</a:t>
            </a:r>
          </a:p>
        </p:txBody>
      </p:sp>
    </p:spTree>
    <p:extLst>
      <p:ext uri="{BB962C8B-B14F-4D97-AF65-F5344CB8AC3E}">
        <p14:creationId xmlns:p14="http://schemas.microsoft.com/office/powerpoint/2010/main" val="804713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388CD59-7964-4023-BB79-B10038EB91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5DC7E6-7DB4-4AC3-AC0A-C96C7BF33674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767995-87E0-4362-A144-E627C4A9881B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RESULT 2: SOCIAL SATISFACTION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59BB66-4B4D-4299-BF63-44A8492F29A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048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welfare gain is social: average friendship overlap rises by about one quarter.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11486D-64F3-4C76-82A2-9B11DC2952DC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4953000" cy="30861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93DD73-0045-47B7-AC92-A56EEFF92685}"/>
              </a:ext>
            </a:extLst>
          </p:cNvPr>
          <p:cNvSpPr>
            <a:spLocks noGrp="1"/>
          </p:cNvSpPr>
          <p:nvPr/>
        </p:nvSpPr>
        <p:spPr>
          <a:xfrm>
            <a:off x="1181100" y="2305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Avg. friend overlaps per student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27E9C-F67C-4CFD-9168-3EC38A72FA49}"/>
              </a:ext>
            </a:extLst>
          </p:cNvPr>
          <p:cNvSpPr>
            <a:spLocks noGrp="1"/>
          </p:cNvSpPr>
          <p:nvPr/>
        </p:nvSpPr>
        <p:spPr>
          <a:xfrm>
            <a:off x="1866900" y="3813572"/>
            <a:ext cx="904875" cy="510778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083DBF-3086-4E57-BE50-73E67DC7D8FA}"/>
              </a:ext>
            </a:extLst>
          </p:cNvPr>
          <p:cNvSpPr>
            <a:spLocks noGrp="1"/>
          </p:cNvSpPr>
          <p:nvPr/>
        </p:nvSpPr>
        <p:spPr>
          <a:xfrm>
            <a:off x="1771650" y="3584972"/>
            <a:ext cx="1095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3.71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4414FF-0E43-4DC2-87E7-F1420730DF87}"/>
              </a:ext>
            </a:extLst>
          </p:cNvPr>
          <p:cNvSpPr>
            <a:spLocks noGrp="1"/>
          </p:cNvSpPr>
          <p:nvPr/>
        </p:nvSpPr>
        <p:spPr>
          <a:xfrm>
            <a:off x="1695450" y="4457700"/>
            <a:ext cx="12477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no post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17D05D-BEC7-48AF-B395-7F8DCA81BE3B}"/>
              </a:ext>
            </a:extLst>
          </p:cNvPr>
          <p:cNvSpPr>
            <a:spLocks noGrp="1"/>
          </p:cNvSpPr>
          <p:nvPr/>
        </p:nvSpPr>
        <p:spPr>
          <a:xfrm>
            <a:off x="3590925" y="3112056"/>
            <a:ext cx="904875" cy="1212294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268DAB-9889-40C2-96D1-BC49D0538F93}"/>
              </a:ext>
            </a:extLst>
          </p:cNvPr>
          <p:cNvSpPr>
            <a:spLocks noGrp="1"/>
          </p:cNvSpPr>
          <p:nvPr/>
        </p:nvSpPr>
        <p:spPr>
          <a:xfrm>
            <a:off x="3495675" y="2883456"/>
            <a:ext cx="10953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E"/>
                </a:solidFill>
                <a:latin typeface="Aptos"/>
                <a:ea typeface="Aptos"/>
                <a:cs typeface="Aptos"/>
              </a:rPr>
              <a:t>4.70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FB568-A4E6-4E8F-A0A1-8F43A9B776EB}"/>
              </a:ext>
            </a:extLst>
          </p:cNvPr>
          <p:cNvSpPr>
            <a:spLocks noGrp="1"/>
          </p:cNvSpPr>
          <p:nvPr/>
        </p:nvSpPr>
        <p:spPr>
          <a:xfrm>
            <a:off x="3419475" y="4457700"/>
            <a:ext cx="12477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hybrid-global</a:t>
            </a:r>
          </a:p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post=5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EC37E7-2935-4F0D-8B1B-E5D638D8E078}"/>
              </a:ext>
            </a:extLst>
          </p:cNvPr>
          <p:cNvSpPr>
            <a:spLocks noGrp="1"/>
          </p:cNvSpPr>
          <p:nvPr/>
        </p:nvSpPr>
        <p:spPr>
          <a:xfrm>
            <a:off x="1809750" y="4324350"/>
            <a:ext cx="27432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DECDF8-3237-4E77-A743-E7044188297F}"/>
              </a:ext>
            </a:extLst>
          </p:cNvPr>
          <p:cNvSpPr>
            <a:spLocks noGrp="1"/>
          </p:cNvSpPr>
          <p:nvPr/>
        </p:nvSpPr>
        <p:spPr>
          <a:xfrm>
            <a:off x="3848100" y="2628900"/>
            <a:ext cx="1200150" cy="400050"/>
          </a:xfrm>
          <a:prstGeom prst="rect">
            <a:avLst/>
          </a:prstGeom>
          <a:solidFill>
            <a:srgbClr val="1721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FD42A9-2D83-4B83-BFA3-453634098E52}"/>
              </a:ext>
            </a:extLst>
          </p:cNvPr>
          <p:cNvSpPr>
            <a:spLocks noGrp="1"/>
          </p:cNvSpPr>
          <p:nvPr/>
        </p:nvSpPr>
        <p:spPr>
          <a:xfrm>
            <a:off x="3981450" y="2724150"/>
            <a:ext cx="933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rPr>
              <a:t>+26.4%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CC99D4-6DFC-45FC-B55C-9AD8A90C5636}"/>
              </a:ext>
            </a:extLst>
          </p:cNvPr>
          <p:cNvSpPr>
            <a:spLocks noGrp="1"/>
          </p:cNvSpPr>
          <p:nvPr/>
        </p:nvSpPr>
        <p:spPr>
          <a:xfrm>
            <a:off x="6667500" y="2076450"/>
            <a:ext cx="3867150" cy="30861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55487D-0A89-4E79-B570-0DD1468048DA}"/>
              </a:ext>
            </a:extLst>
          </p:cNvPr>
          <p:cNvSpPr>
            <a:spLocks noGrp="1"/>
          </p:cNvSpPr>
          <p:nvPr/>
        </p:nvSpPr>
        <p:spPr>
          <a:xfrm>
            <a:off x="6972300" y="23241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the metric captures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530C05-A882-4261-8573-45BF017C2E53}"/>
              </a:ext>
            </a:extLst>
          </p:cNvPr>
          <p:cNvSpPr>
            <a:spLocks noGrp="1"/>
          </p:cNvSpPr>
          <p:nvPr/>
        </p:nvSpPr>
        <p:spPr>
          <a:xfrm>
            <a:off x="7048500" y="2781300"/>
            <a:ext cx="323850" cy="3238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6D0C9B-67B8-412F-B247-C7D9576CAB0E}"/>
              </a:ext>
            </a:extLst>
          </p:cNvPr>
          <p:cNvSpPr>
            <a:spLocks noGrp="1"/>
          </p:cNvSpPr>
          <p:nvPr/>
        </p:nvSpPr>
        <p:spPr>
          <a:xfrm>
            <a:off x="7048500" y="2857500"/>
            <a:ext cx="323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AD9802-4D42-45F8-909C-9CC868B6D021}"/>
              </a:ext>
            </a:extLst>
          </p:cNvPr>
          <p:cNvSpPr>
            <a:spLocks noGrp="1"/>
          </p:cNvSpPr>
          <p:nvPr/>
        </p:nvSpPr>
        <p:spPr>
          <a:xfrm>
            <a:off x="7543800" y="2762250"/>
            <a:ext cx="2647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 directed relation A → B is counted only for the course context where A expressed it.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5B11DA-135D-4A3E-AF52-AA8FFE25E032}"/>
              </a:ext>
            </a:extLst>
          </p:cNvPr>
          <p:cNvSpPr>
            <a:spLocks noGrp="1"/>
          </p:cNvSpPr>
          <p:nvPr/>
        </p:nvSpPr>
        <p:spPr>
          <a:xfrm>
            <a:off x="7048500" y="3505200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5914FE-6EA1-4E4B-97BA-F96F6B2543C5}"/>
              </a:ext>
            </a:extLst>
          </p:cNvPr>
          <p:cNvSpPr>
            <a:spLocks noGrp="1"/>
          </p:cNvSpPr>
          <p:nvPr/>
        </p:nvSpPr>
        <p:spPr>
          <a:xfrm>
            <a:off x="7048500" y="3581400"/>
            <a:ext cx="323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9C59BB-6170-464D-94D9-C7F76195E60D}"/>
              </a:ext>
            </a:extLst>
          </p:cNvPr>
          <p:cNvSpPr>
            <a:spLocks noGrp="1"/>
          </p:cNvSpPr>
          <p:nvPr/>
        </p:nvSpPr>
        <p:spPr>
          <a:xfrm>
            <a:off x="7543800" y="3486150"/>
            <a:ext cx="2647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An overlap occurs when A receives course c and B also receives c.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C88012-588C-4C2D-9414-ADF862618421}"/>
              </a:ext>
            </a:extLst>
          </p:cNvPr>
          <p:cNvSpPr>
            <a:spLocks noGrp="1"/>
          </p:cNvSpPr>
          <p:nvPr/>
        </p:nvSpPr>
        <p:spPr>
          <a:xfrm>
            <a:off x="7048500" y="4229100"/>
            <a:ext cx="323850" cy="3238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CDD138-2A61-4B4B-9343-E9E705A8652F}"/>
              </a:ext>
            </a:extLst>
          </p:cNvPr>
          <p:cNvSpPr>
            <a:spLocks noGrp="1"/>
          </p:cNvSpPr>
          <p:nvPr/>
        </p:nvSpPr>
        <p:spPr>
          <a:xfrm>
            <a:off x="7048500" y="4305300"/>
            <a:ext cx="323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35DE9F-1491-4D70-8C26-46C303ADDFB1}"/>
              </a:ext>
            </a:extLst>
          </p:cNvPr>
          <p:cNvSpPr>
            <a:spLocks noGrp="1"/>
          </p:cNvSpPr>
          <p:nvPr/>
        </p:nvSpPr>
        <p:spPr>
          <a:xfrm>
            <a:off x="7543800" y="4210050"/>
            <a:ext cx="2647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increase therefore reflects more socially aligned assignments, not just more filled seats.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DCC1C6-F13E-418E-9678-0F9AA6484F1C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EA11C1-DA4D-426D-B010-D18C410ED76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experiments.sqlite aggregate metrics, A_200x8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EE8797-A625-4CEB-9E97-4D437715CF6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11/14</a:t>
            </a:r>
          </a:p>
        </p:txBody>
      </p:sp>
    </p:spTree>
    <p:extLst>
      <p:ext uri="{BB962C8B-B14F-4D97-AF65-F5344CB8AC3E}">
        <p14:creationId xmlns:p14="http://schemas.microsoft.com/office/powerpoint/2010/main" val="71053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699C9D82-E091-4208-B310-EC2D09DC42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879193-0872-4D41-9DA3-096BB30246F1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5AD5B2-EC6C-425A-B79B-E608CBC1A93C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RESULT 3: TRADE-OFF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EF2274-FE3E-4D61-8E6D-40996F7F2A5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social gain is not free: rank satisfaction and inequality move in the opposite direction.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769F09-4176-4E65-BABD-ADC5D554F03C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2971800" cy="22479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2738AC-6848-47A0-B5C8-F266D61D75F6}"/>
              </a:ext>
            </a:extLst>
          </p:cNvPr>
          <p:cNvSpPr>
            <a:spLocks noGrp="1"/>
          </p:cNvSpPr>
          <p:nvPr/>
        </p:nvSpPr>
        <p:spPr>
          <a:xfrm>
            <a:off x="1009650" y="2438400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Average assigned position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15F91A-1B8D-4B85-98F6-FF5AC55C7BAC}"/>
              </a:ext>
            </a:extLst>
          </p:cNvPr>
          <p:cNvSpPr>
            <a:spLocks noGrp="1"/>
          </p:cNvSpPr>
          <p:nvPr/>
        </p:nvSpPr>
        <p:spPr>
          <a:xfrm>
            <a:off x="1009650" y="270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CF48FB-A544-4095-841D-67F6B7035AA0}"/>
              </a:ext>
            </a:extLst>
          </p:cNvPr>
          <p:cNvSpPr>
            <a:spLocks noGrp="1"/>
          </p:cNvSpPr>
          <p:nvPr/>
        </p:nvSpPr>
        <p:spPr>
          <a:xfrm>
            <a:off x="1104900" y="3219450"/>
            <a:ext cx="914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rPr>
              <a:t>2.186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B5CC4-0945-4A88-9861-CB7C4D6A400C}"/>
              </a:ext>
            </a:extLst>
          </p:cNvPr>
          <p:cNvSpPr>
            <a:spLocks noGrp="1"/>
          </p:cNvSpPr>
          <p:nvPr/>
        </p:nvSpPr>
        <p:spPr>
          <a:xfrm>
            <a:off x="1104900" y="36576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122680-DE6C-4A29-AE66-279C863613B3}"/>
              </a:ext>
            </a:extLst>
          </p:cNvPr>
          <p:cNvSpPr>
            <a:spLocks noGrp="1"/>
          </p:cNvSpPr>
          <p:nvPr/>
        </p:nvSpPr>
        <p:spPr>
          <a:xfrm>
            <a:off x="2114550" y="33147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8DF48-2AD3-4638-95DE-E1EE1AFF6DEB}"/>
              </a:ext>
            </a:extLst>
          </p:cNvPr>
          <p:cNvSpPr>
            <a:spLocks noGrp="1"/>
          </p:cNvSpPr>
          <p:nvPr/>
        </p:nvSpPr>
        <p:spPr>
          <a:xfrm>
            <a:off x="2533650" y="3219450"/>
            <a:ext cx="914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rPr>
              <a:t>2.434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9A474C-22A1-4791-9EB4-8DA3272440A6}"/>
              </a:ext>
            </a:extLst>
          </p:cNvPr>
          <p:cNvSpPr>
            <a:spLocks noGrp="1"/>
          </p:cNvSpPr>
          <p:nvPr/>
        </p:nvSpPr>
        <p:spPr>
          <a:xfrm>
            <a:off x="2476500" y="36576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hybrid-global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8DF14A-84FA-48EB-B84C-544CFDDBB610}"/>
              </a:ext>
            </a:extLst>
          </p:cNvPr>
          <p:cNvSpPr>
            <a:spLocks noGrp="1"/>
          </p:cNvSpPr>
          <p:nvPr/>
        </p:nvSpPr>
        <p:spPr>
          <a:xfrm>
            <a:off x="1085850" y="4019550"/>
            <a:ext cx="23622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F71A5-440A-405A-A84A-49591108FEFD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2324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worse rank quality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005525-7185-4B0E-B658-F7FDBB3DA04B}"/>
              </a:ext>
            </a:extLst>
          </p:cNvPr>
          <p:cNvSpPr>
            <a:spLocks noGrp="1"/>
          </p:cNvSpPr>
          <p:nvPr/>
        </p:nvSpPr>
        <p:spPr>
          <a:xfrm>
            <a:off x="4343400" y="2228850"/>
            <a:ext cx="2971800" cy="22479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F1F9AA-DEDA-4BD3-B363-6CC853A5DC53}"/>
              </a:ext>
            </a:extLst>
          </p:cNvPr>
          <p:cNvSpPr>
            <a:spLocks noGrp="1"/>
          </p:cNvSpPr>
          <p:nvPr/>
        </p:nvSpPr>
        <p:spPr>
          <a:xfrm>
            <a:off x="4572000" y="2438400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Share of top-3 assignments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4FFDEF-235D-4F00-BE6E-1D4416877A01}"/>
              </a:ext>
            </a:extLst>
          </p:cNvPr>
          <p:cNvSpPr>
            <a:spLocks noGrp="1"/>
          </p:cNvSpPr>
          <p:nvPr/>
        </p:nvSpPr>
        <p:spPr>
          <a:xfrm>
            <a:off x="4572000" y="270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higher is better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00E64F-2663-4A73-80B9-E982B558DE98}"/>
              </a:ext>
            </a:extLst>
          </p:cNvPr>
          <p:cNvSpPr>
            <a:spLocks noGrp="1"/>
          </p:cNvSpPr>
          <p:nvPr/>
        </p:nvSpPr>
        <p:spPr>
          <a:xfrm>
            <a:off x="4667250" y="3219450"/>
            <a:ext cx="914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87.2%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E6A99E-8467-4DF9-8B69-A8952E3777B1}"/>
              </a:ext>
            </a:extLst>
          </p:cNvPr>
          <p:cNvSpPr>
            <a:spLocks noGrp="1"/>
          </p:cNvSpPr>
          <p:nvPr/>
        </p:nvSpPr>
        <p:spPr>
          <a:xfrm>
            <a:off x="4667250" y="36576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F5333C-61C5-4112-AC1B-48868D066659}"/>
              </a:ext>
            </a:extLst>
          </p:cNvPr>
          <p:cNvSpPr>
            <a:spLocks noGrp="1"/>
          </p:cNvSpPr>
          <p:nvPr/>
        </p:nvSpPr>
        <p:spPr>
          <a:xfrm>
            <a:off x="5676900" y="33147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377E85-00FC-4807-A16E-7ADC800DEC5D}"/>
              </a:ext>
            </a:extLst>
          </p:cNvPr>
          <p:cNvSpPr>
            <a:spLocks noGrp="1"/>
          </p:cNvSpPr>
          <p:nvPr/>
        </p:nvSpPr>
        <p:spPr>
          <a:xfrm>
            <a:off x="6096000" y="3219450"/>
            <a:ext cx="914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rPr>
              <a:t>79.6%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05B568-268E-4209-9FB9-2E6501EDAD18}"/>
              </a:ext>
            </a:extLst>
          </p:cNvPr>
          <p:cNvSpPr>
            <a:spLocks noGrp="1"/>
          </p:cNvSpPr>
          <p:nvPr/>
        </p:nvSpPr>
        <p:spPr>
          <a:xfrm>
            <a:off x="6038850" y="36576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hybrid-global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4C25D1-9908-403E-94E7-108E41A611D9}"/>
              </a:ext>
            </a:extLst>
          </p:cNvPr>
          <p:cNvSpPr>
            <a:spLocks noGrp="1"/>
          </p:cNvSpPr>
          <p:nvPr/>
        </p:nvSpPr>
        <p:spPr>
          <a:xfrm>
            <a:off x="4648200" y="4019550"/>
            <a:ext cx="23622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4DFBFC-9136-4456-8024-FBE315CD388C}"/>
              </a:ext>
            </a:extLst>
          </p:cNvPr>
          <p:cNvSpPr>
            <a:spLocks noGrp="1"/>
          </p:cNvSpPr>
          <p:nvPr/>
        </p:nvSpPr>
        <p:spPr>
          <a:xfrm>
            <a:off x="4667250" y="4152900"/>
            <a:ext cx="2324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individual preference loss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A60B4D-3469-4E9D-9F2B-D9A6FF3AA72D}"/>
              </a:ext>
            </a:extLst>
          </p:cNvPr>
          <p:cNvSpPr>
            <a:spLocks noGrp="1"/>
          </p:cNvSpPr>
          <p:nvPr/>
        </p:nvSpPr>
        <p:spPr>
          <a:xfrm>
            <a:off x="7905750" y="2228850"/>
            <a:ext cx="2971800" cy="22479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399DB5-F067-4E44-9B8E-64848EC3828E}"/>
              </a:ext>
            </a:extLst>
          </p:cNvPr>
          <p:cNvSpPr>
            <a:spLocks noGrp="1"/>
          </p:cNvSpPr>
          <p:nvPr/>
        </p:nvSpPr>
        <p:spPr>
          <a:xfrm>
            <a:off x="8134350" y="2438400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Gini total norm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315149-A235-41EE-8A09-9F82818D6F67}"/>
              </a:ext>
            </a:extLst>
          </p:cNvPr>
          <p:cNvSpPr>
            <a:spLocks noGrp="1"/>
          </p:cNvSpPr>
          <p:nvPr/>
        </p:nvSpPr>
        <p:spPr>
          <a:xfrm>
            <a:off x="8134350" y="270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lower is more equal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083363-4D26-4BB5-8577-F92D5092B10E}"/>
              </a:ext>
            </a:extLst>
          </p:cNvPr>
          <p:cNvSpPr>
            <a:spLocks noGrp="1"/>
          </p:cNvSpPr>
          <p:nvPr/>
        </p:nvSpPr>
        <p:spPr>
          <a:xfrm>
            <a:off x="8229600" y="3219450"/>
            <a:ext cx="914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0.052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EB135A-00E1-44FA-8A73-09801BA45544}"/>
              </a:ext>
            </a:extLst>
          </p:cNvPr>
          <p:cNvSpPr>
            <a:spLocks noGrp="1"/>
          </p:cNvSpPr>
          <p:nvPr/>
        </p:nvSpPr>
        <p:spPr>
          <a:xfrm>
            <a:off x="8229600" y="36576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4A748B-85DF-473B-B7EB-E39140103CE9}"/>
              </a:ext>
            </a:extLst>
          </p:cNvPr>
          <p:cNvSpPr>
            <a:spLocks noGrp="1"/>
          </p:cNvSpPr>
          <p:nvPr/>
        </p:nvSpPr>
        <p:spPr>
          <a:xfrm>
            <a:off x="9239250" y="33147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FE27D-F5E1-47AF-87DB-E96FCDA303D9}"/>
              </a:ext>
            </a:extLst>
          </p:cNvPr>
          <p:cNvSpPr>
            <a:spLocks noGrp="1"/>
          </p:cNvSpPr>
          <p:nvPr/>
        </p:nvSpPr>
        <p:spPr>
          <a:xfrm>
            <a:off x="9658350" y="3219450"/>
            <a:ext cx="914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rPr>
              <a:t>0.056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787BC4-F2F8-4B5C-BE61-D7E379523ACA}"/>
              </a:ext>
            </a:extLst>
          </p:cNvPr>
          <p:cNvSpPr>
            <a:spLocks noGrp="1"/>
          </p:cNvSpPr>
          <p:nvPr/>
        </p:nvSpPr>
        <p:spPr>
          <a:xfrm>
            <a:off x="9601200" y="365760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hybrid-global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AB87A9-A845-41C1-A455-5ED4AAFDD364}"/>
              </a:ext>
            </a:extLst>
          </p:cNvPr>
          <p:cNvSpPr>
            <a:spLocks noGrp="1"/>
          </p:cNvSpPr>
          <p:nvPr/>
        </p:nvSpPr>
        <p:spPr>
          <a:xfrm>
            <a:off x="8210550" y="4019550"/>
            <a:ext cx="23622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4B260E-B145-43AD-8F2C-F3A55C6DD66C}"/>
              </a:ext>
            </a:extLst>
          </p:cNvPr>
          <p:cNvSpPr>
            <a:spLocks noGrp="1"/>
          </p:cNvSpPr>
          <p:nvPr/>
        </p:nvSpPr>
        <p:spPr>
          <a:xfrm>
            <a:off x="8229600" y="4152900"/>
            <a:ext cx="2324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slightly more unequal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0FFEE7-FDE9-476A-8DA1-D4B739014890}"/>
              </a:ext>
            </a:extLst>
          </p:cNvPr>
          <p:cNvSpPr>
            <a:spLocks noGrp="1"/>
          </p:cNvSpPr>
          <p:nvPr/>
        </p:nvSpPr>
        <p:spPr>
          <a:xfrm>
            <a:off x="1524000" y="5086350"/>
            <a:ext cx="9144000" cy="457200"/>
          </a:xfrm>
          <a:prstGeom prst="rect">
            <a:avLst/>
          </a:prstGeom>
          <a:solidFill>
            <a:srgbClr val="1721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D37146-4874-4E09-AA9F-08C647352B43}"/>
              </a:ext>
            </a:extLst>
          </p:cNvPr>
          <p:cNvSpPr>
            <a:spLocks noGrp="1"/>
          </p:cNvSpPr>
          <p:nvPr/>
        </p:nvSpPr>
        <p:spPr>
          <a:xfrm>
            <a:off x="1866900" y="5219700"/>
            <a:ext cx="845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Interpretation: the mechanism exposes a real design question, not just an algorithmic win. Social satisfaction, individual rank quality, and fairness must be reported together.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64ACA1-3767-4DD2-A6CC-5831B8CE8736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338C5A6-DE47-4489-A5E8-603FE1B3913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experiments.sqlite aggregate metrics, no-post vs hybrid-global post=5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F11D82-3A94-4D83-A4A4-EA85EE3A597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12/14</a:t>
            </a:r>
          </a:p>
        </p:txBody>
      </p:sp>
    </p:spTree>
    <p:extLst>
      <p:ext uri="{BB962C8B-B14F-4D97-AF65-F5344CB8AC3E}">
        <p14:creationId xmlns:p14="http://schemas.microsoft.com/office/powerpoint/2010/main" val="471949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5930129-C7A4-46D3-8238-53FDDA59ED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4409C9-95EB-411B-AB7D-E2862598D848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C2FB5B-A40A-495E-8299-5FFA282321DD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REPRODUCIBLE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EBEFF-F370-4E68-81F1-843066232D8B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57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system is designed as a reproducible mechanism experiment.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8DC9A-2553-4CA3-B4AF-413118CD7C12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1695450" cy="1314450"/>
          </a:xfrm>
          <a:prstGeom prst="rect">
            <a:avLst/>
          </a:prstGeom>
          <a:solidFill>
            <a:srgbClr val="FFFCF4"/>
          </a:solidFill>
          <a:ln w="9525">
            <a:solidFill>
              <a:srgbClr val="35507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8BC5F2-B815-400D-B0C1-C57FB959758C}"/>
              </a:ext>
            </a:extLst>
          </p:cNvPr>
          <p:cNvSpPr>
            <a:spLocks noGrp="1"/>
          </p:cNvSpPr>
          <p:nvPr/>
        </p:nvSpPr>
        <p:spPr>
          <a:xfrm>
            <a:off x="1047750" y="2552700"/>
            <a:ext cx="419100" cy="285750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FD472F-318A-474F-B99E-5B8620512D4D}"/>
              </a:ext>
            </a:extLst>
          </p:cNvPr>
          <p:cNvSpPr>
            <a:spLocks noGrp="1"/>
          </p:cNvSpPr>
          <p:nvPr/>
        </p:nvSpPr>
        <p:spPr>
          <a:xfrm>
            <a:off x="1562100" y="25908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CSV inputs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E7555-6996-4D2D-B11E-B48C43F912FB}"/>
              </a:ext>
            </a:extLst>
          </p:cNvPr>
          <p:cNvSpPr>
            <a:spLocks noGrp="1"/>
          </p:cNvSpPr>
          <p:nvPr/>
        </p:nvSpPr>
        <p:spPr>
          <a:xfrm>
            <a:off x="1085850" y="308610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schema validation</a:t>
            </a:r>
          </a:p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Table 1 / 2 /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F1E349-0DCC-4664-B12F-4741A75E3184}"/>
              </a:ext>
            </a:extLst>
          </p:cNvPr>
          <p:cNvSpPr>
            <a:spLocks noGrp="1"/>
          </p:cNvSpPr>
          <p:nvPr/>
        </p:nvSpPr>
        <p:spPr>
          <a:xfrm>
            <a:off x="2800350" y="2990850"/>
            <a:ext cx="5143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50A3E1-6922-43D6-A7A0-2A121CF78E08}"/>
              </a:ext>
            </a:extLst>
          </p:cNvPr>
          <p:cNvSpPr>
            <a:spLocks noGrp="1"/>
          </p:cNvSpPr>
          <p:nvPr/>
        </p:nvSpPr>
        <p:spPr>
          <a:xfrm>
            <a:off x="3295650" y="28575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B07C3-7607-4BCD-89D8-2E2E04FC88BF}"/>
              </a:ext>
            </a:extLst>
          </p:cNvPr>
          <p:cNvSpPr>
            <a:spLocks noGrp="1"/>
          </p:cNvSpPr>
          <p:nvPr/>
        </p:nvSpPr>
        <p:spPr>
          <a:xfrm>
            <a:off x="3676650" y="2343150"/>
            <a:ext cx="1695450" cy="1314450"/>
          </a:xfrm>
          <a:prstGeom prst="rect">
            <a:avLst/>
          </a:prstGeom>
          <a:solidFill>
            <a:srgbClr val="FFFCF4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B50431-9FC4-4835-81B2-7B371302EC66}"/>
              </a:ext>
            </a:extLst>
          </p:cNvPr>
          <p:cNvSpPr>
            <a:spLocks noGrp="1"/>
          </p:cNvSpPr>
          <p:nvPr/>
        </p:nvSpPr>
        <p:spPr>
          <a:xfrm>
            <a:off x="3886200" y="2552700"/>
            <a:ext cx="419100" cy="285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C67DF-8061-47A7-AB8A-AEE659AF1836}"/>
              </a:ext>
            </a:extLst>
          </p:cNvPr>
          <p:cNvSpPr>
            <a:spLocks noGrp="1"/>
          </p:cNvSpPr>
          <p:nvPr/>
        </p:nvSpPr>
        <p:spPr>
          <a:xfrm>
            <a:off x="4400550" y="25908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Config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447A04-E10F-416B-8C79-F6B46ADE6273}"/>
              </a:ext>
            </a:extLst>
          </p:cNvPr>
          <p:cNvSpPr>
            <a:spLocks noGrp="1"/>
          </p:cNvSpPr>
          <p:nvPr/>
        </p:nvSpPr>
        <p:spPr>
          <a:xfrm>
            <a:off x="3924300" y="308610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seed, capacity,</a:t>
            </a:r>
          </a:p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b, post mode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C760F9-365C-40CF-A2A3-FADB2D37168E}"/>
              </a:ext>
            </a:extLst>
          </p:cNvPr>
          <p:cNvSpPr>
            <a:spLocks noGrp="1"/>
          </p:cNvSpPr>
          <p:nvPr/>
        </p:nvSpPr>
        <p:spPr>
          <a:xfrm>
            <a:off x="5638800" y="2990850"/>
            <a:ext cx="514350" cy="190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162116-D41C-4D44-B5F8-0D1EC95C7B60}"/>
              </a:ext>
            </a:extLst>
          </p:cNvPr>
          <p:cNvSpPr>
            <a:spLocks noGrp="1"/>
          </p:cNvSpPr>
          <p:nvPr/>
        </p:nvSpPr>
        <p:spPr>
          <a:xfrm>
            <a:off x="6134100" y="28575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1112ED-6841-4EE4-8303-604F99631F1B}"/>
              </a:ext>
            </a:extLst>
          </p:cNvPr>
          <p:cNvSpPr>
            <a:spLocks noGrp="1"/>
          </p:cNvSpPr>
          <p:nvPr/>
        </p:nvSpPr>
        <p:spPr>
          <a:xfrm>
            <a:off x="6515100" y="2343150"/>
            <a:ext cx="1695450" cy="1314450"/>
          </a:xfrm>
          <a:prstGeom prst="rect">
            <a:avLst/>
          </a:prstGeom>
          <a:solidFill>
            <a:srgbClr val="FFFCF4"/>
          </a:solidFill>
          <a:ln w="9525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638C10-0265-462D-9E0C-9EE46C4CC2F0}"/>
              </a:ext>
            </a:extLst>
          </p:cNvPr>
          <p:cNvSpPr>
            <a:spLocks noGrp="1"/>
          </p:cNvSpPr>
          <p:nvPr/>
        </p:nvSpPr>
        <p:spPr>
          <a:xfrm>
            <a:off x="6724650" y="2552700"/>
            <a:ext cx="419100" cy="2857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2EA976-4E56-4C65-9C9E-CBDCE4D7BE46}"/>
              </a:ext>
            </a:extLst>
          </p:cNvPr>
          <p:cNvSpPr>
            <a:spLocks noGrp="1"/>
          </p:cNvSpPr>
          <p:nvPr/>
        </p:nvSpPr>
        <p:spPr>
          <a:xfrm>
            <a:off x="7239000" y="25908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Engine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CB727D-1583-4135-B3A8-26996859260B}"/>
              </a:ext>
            </a:extLst>
          </p:cNvPr>
          <p:cNvSpPr>
            <a:spLocks noGrp="1"/>
          </p:cNvSpPr>
          <p:nvPr/>
        </p:nvSpPr>
        <p:spPr>
          <a:xfrm>
            <a:off x="6762750" y="308610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draft + local search</a:t>
            </a:r>
          </a:p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full utility audit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5B6069-77E9-4875-B60C-844C2D185899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514350" cy="190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BF2B58-58CD-400F-B443-9751DD26CA6D}"/>
              </a:ext>
            </a:extLst>
          </p:cNvPr>
          <p:cNvSpPr>
            <a:spLocks noGrp="1"/>
          </p:cNvSpPr>
          <p:nvPr/>
        </p:nvSpPr>
        <p:spPr>
          <a:xfrm>
            <a:off x="8972550" y="28575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105644-FCD7-420C-A236-5D5EAE8A3DBC}"/>
              </a:ext>
            </a:extLst>
          </p:cNvPr>
          <p:cNvSpPr>
            <a:spLocks noGrp="1"/>
          </p:cNvSpPr>
          <p:nvPr/>
        </p:nvSpPr>
        <p:spPr>
          <a:xfrm>
            <a:off x="9353550" y="2343150"/>
            <a:ext cx="1695450" cy="1314450"/>
          </a:xfrm>
          <a:prstGeom prst="rect">
            <a:avLst/>
          </a:prstGeom>
          <a:solidFill>
            <a:srgbClr val="FFFCF4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9A4D68-B963-4B06-83F4-DCE464E4703A}"/>
              </a:ext>
            </a:extLst>
          </p:cNvPr>
          <p:cNvSpPr>
            <a:spLocks noGrp="1"/>
          </p:cNvSpPr>
          <p:nvPr/>
        </p:nvSpPr>
        <p:spPr>
          <a:xfrm>
            <a:off x="9563100" y="2552700"/>
            <a:ext cx="419100" cy="2857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1748FF-888B-4794-ACC8-67B44E51556A}"/>
              </a:ext>
            </a:extLst>
          </p:cNvPr>
          <p:cNvSpPr>
            <a:spLocks noGrp="1"/>
          </p:cNvSpPr>
          <p:nvPr/>
        </p:nvSpPr>
        <p:spPr>
          <a:xfrm>
            <a:off x="10077450" y="25908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Outputs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239F4C-3694-4106-9BC7-7ED9C590619D}"/>
              </a:ext>
            </a:extLst>
          </p:cNvPr>
          <p:cNvSpPr>
            <a:spLocks noGrp="1"/>
          </p:cNvSpPr>
          <p:nvPr/>
        </p:nvSpPr>
        <p:spPr>
          <a:xfrm>
            <a:off x="9601200" y="308610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allocation, post log,</a:t>
            </a:r>
          </a:p>
          <a:p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summary, metrics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2FC345-D1E9-46FE-83A3-96A023D843B0}"/>
              </a:ext>
            </a:extLst>
          </p:cNvPr>
          <p:cNvSpPr>
            <a:spLocks noGrp="1"/>
          </p:cNvSpPr>
          <p:nvPr/>
        </p:nvSpPr>
        <p:spPr>
          <a:xfrm>
            <a:off x="1466850" y="4457700"/>
            <a:ext cx="9258300" cy="685800"/>
          </a:xfrm>
          <a:prstGeom prst="rect">
            <a:avLst/>
          </a:prstGeom>
          <a:solidFill>
            <a:srgbClr val="FFFCF4"/>
          </a:solidFill>
          <a:ln w="9525">
            <a:solidFill>
              <a:srgbClr val="D7CDB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0554BF-9F15-4746-B2B7-A4B897E1573C}"/>
              </a:ext>
            </a:extLst>
          </p:cNvPr>
          <p:cNvSpPr>
            <a:spLocks noGrp="1"/>
          </p:cNvSpPr>
          <p:nvPr/>
        </p:nvSpPr>
        <p:spPr>
          <a:xfrm>
            <a:off x="1809750" y="4686300"/>
            <a:ext cx="38100" cy="361950"/>
          </a:xfrm>
          <a:prstGeom prst="rect">
            <a:avLst/>
          </a:prstGeom>
          <a:solidFill>
            <a:srgbClr val="355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EEF247-93C3-43BB-9DBC-7B09620C8A89}"/>
              </a:ext>
            </a:extLst>
          </p:cNvPr>
          <p:cNvSpPr>
            <a:spLocks noGrp="1"/>
          </p:cNvSpPr>
          <p:nvPr/>
        </p:nvSpPr>
        <p:spPr>
          <a:xfrm>
            <a:off x="1962150" y="46672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Seeded RNG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54C101-70C4-4A49-9C48-1450BB4AD064}"/>
              </a:ext>
            </a:extLst>
          </p:cNvPr>
          <p:cNvSpPr>
            <a:spLocks noGrp="1"/>
          </p:cNvSpPr>
          <p:nvPr/>
        </p:nvSpPr>
        <p:spPr>
          <a:xfrm>
            <a:off x="1962150" y="48577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same seed, same allocation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61C7C7-27DC-4415-8FBA-761B50527481}"/>
              </a:ext>
            </a:extLst>
          </p:cNvPr>
          <p:cNvSpPr>
            <a:spLocks noGrp="1"/>
          </p:cNvSpPr>
          <p:nvPr/>
        </p:nvSpPr>
        <p:spPr>
          <a:xfrm>
            <a:off x="4229100" y="4686300"/>
            <a:ext cx="38100" cy="3619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8DE3F1-AD0A-4B4E-9088-1FF78EDEEA71}"/>
              </a:ext>
            </a:extLst>
          </p:cNvPr>
          <p:cNvSpPr>
            <a:spLocks noGrp="1"/>
          </p:cNvSpPr>
          <p:nvPr/>
        </p:nvSpPr>
        <p:spPr>
          <a:xfrm>
            <a:off x="4381500" y="46672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No external deps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A41324-4D92-4AFB-8934-B40A6A28F92A}"/>
              </a:ext>
            </a:extLst>
          </p:cNvPr>
          <p:cNvSpPr>
            <a:spLocks noGrp="1"/>
          </p:cNvSpPr>
          <p:nvPr/>
        </p:nvSpPr>
        <p:spPr>
          <a:xfrm>
            <a:off x="4381500" y="48577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standard library only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C7EF25-5DE1-461A-8BFE-447AFB1C3F73}"/>
              </a:ext>
            </a:extLst>
          </p:cNvPr>
          <p:cNvSpPr>
            <a:spLocks noGrp="1"/>
          </p:cNvSpPr>
          <p:nvPr/>
        </p:nvSpPr>
        <p:spPr>
          <a:xfrm>
            <a:off x="6515100" y="4686300"/>
            <a:ext cx="38100" cy="361950"/>
          </a:xfrm>
          <a:prstGeom prst="rect">
            <a:avLst/>
          </a:prstGeom>
          <a:solidFill>
            <a:srgbClr val="9F12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4001FA-4BBF-4C69-A312-0A10C4C2975A}"/>
              </a:ext>
            </a:extLst>
          </p:cNvPr>
          <p:cNvSpPr>
            <a:spLocks noGrp="1"/>
          </p:cNvSpPr>
          <p:nvPr/>
        </p:nvSpPr>
        <p:spPr>
          <a:xfrm>
            <a:off x="6667500" y="46672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6338CB-7368-4CD6-A759-82BCAAE926F7}"/>
              </a:ext>
            </a:extLst>
          </p:cNvPr>
          <p:cNvSpPr>
            <a:spLocks noGrp="1"/>
          </p:cNvSpPr>
          <p:nvPr/>
        </p:nvSpPr>
        <p:spPr>
          <a:xfrm>
            <a:off x="6667500" y="48577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utility, tie-breaks, metrics, API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BA0059-BBE4-4F58-B864-A583CCE2C5B3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38100" cy="3619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360CEF-0D88-43B0-BB93-0988DE7E8485}"/>
              </a:ext>
            </a:extLst>
          </p:cNvPr>
          <p:cNvSpPr>
            <a:spLocks noGrp="1"/>
          </p:cNvSpPr>
          <p:nvPr/>
        </p:nvSpPr>
        <p:spPr>
          <a:xfrm>
            <a:off x="8915400" y="46672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8E223C-6CCB-4D59-8F70-A36D3078DD0B}"/>
              </a:ext>
            </a:extLst>
          </p:cNvPr>
          <p:cNvSpPr>
            <a:spLocks noGrp="1"/>
          </p:cNvSpPr>
          <p:nvPr/>
        </p:nvSpPr>
        <p:spPr>
          <a:xfrm>
            <a:off x="8915400" y="48577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every pick and post move logged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8A90A8-F927-4FC0-A67C-58200FFC1795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D7CD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DB2A413-DFCF-4C09-B669-A989B14ED85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features, output files, testing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D7DDF3-BDA4-4445-9DCD-27D271AC4E14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13/14</a:t>
            </a:r>
          </a:p>
        </p:txBody>
      </p:sp>
    </p:spTree>
    <p:extLst>
      <p:ext uri="{BB962C8B-B14F-4D97-AF65-F5344CB8AC3E}">
        <p14:creationId xmlns:p14="http://schemas.microsoft.com/office/powerpoint/2010/main" val="1404970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5E28B20-B76E-410E-A52B-1F685ADF90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EB31D0-28CB-490B-8686-2A8120947D41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57150" cy="209550"/>
          </a:xfrm>
          <a:prstGeom prst="rect">
            <a:avLst/>
          </a:prstGeom>
          <a:solidFill>
            <a:srgbClr val="F1D49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596518-2641-4442-AB0E-D3649915D7C5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D9E2E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E2EF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70EF79-4785-485B-BE0B-97B2299C93F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525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contribution is a testable bridge between mechanism design and social preference modeling.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61A965-6DAD-4912-A68D-623D8DD0A1C9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724150" cy="1676400"/>
          </a:xfrm>
          <a:prstGeom prst="rect">
            <a:avLst/>
          </a:prstGeom>
          <a:solidFill>
            <a:srgbClr val="223044"/>
          </a:solidFill>
          <a:ln w="9525">
            <a:solidFill>
              <a:srgbClr val="4151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0ECDC0-271B-446D-8716-E71238A8DDE8}"/>
              </a:ext>
            </a:extLst>
          </p:cNvPr>
          <p:cNvSpPr>
            <a:spLocks noGrp="1"/>
          </p:cNvSpPr>
          <p:nvPr/>
        </p:nvSpPr>
        <p:spPr>
          <a:xfrm>
            <a:off x="1104900" y="27051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FE3D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FE3DC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23E799-1D9A-4F53-B7E1-5949BDE90EA0}"/>
              </a:ext>
            </a:extLst>
          </p:cNvPr>
          <p:cNvSpPr>
            <a:spLocks noGrp="1"/>
          </p:cNvSpPr>
          <p:nvPr/>
        </p:nvSpPr>
        <p:spPr>
          <a:xfrm>
            <a:off x="1104900" y="3162300"/>
            <a:ext cx="2152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Directed friendship preferences enter utility through a student-specific social weight λ_s.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6AFA12-5DA9-4789-B898-957F2DDF09E0}"/>
              </a:ext>
            </a:extLst>
          </p:cNvPr>
          <p:cNvSpPr>
            <a:spLocks noGrp="1"/>
          </p:cNvSpPr>
          <p:nvPr/>
        </p:nvSpPr>
        <p:spPr>
          <a:xfrm>
            <a:off x="4343400" y="2476500"/>
            <a:ext cx="2724150" cy="1676400"/>
          </a:xfrm>
          <a:prstGeom prst="rect">
            <a:avLst/>
          </a:prstGeom>
          <a:solidFill>
            <a:srgbClr val="223044"/>
          </a:solidFill>
          <a:ln w="9525">
            <a:solidFill>
              <a:srgbClr val="4151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8E8476-F027-4BFA-9DDA-5C30CA075DE1}"/>
              </a:ext>
            </a:extLst>
          </p:cNvPr>
          <p:cNvSpPr>
            <a:spLocks noGrp="1"/>
          </p:cNvSpPr>
          <p:nvPr/>
        </p:nvSpPr>
        <p:spPr>
          <a:xfrm>
            <a:off x="4572000" y="27051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rPr>
              <a:t>Mechanism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C611A0-C1C4-4952-942A-A5EFC6452FDD}"/>
              </a:ext>
            </a:extLst>
          </p:cNvPr>
          <p:cNvSpPr>
            <a:spLocks noGrp="1"/>
          </p:cNvSpPr>
          <p:nvPr/>
        </p:nvSpPr>
        <p:spPr>
          <a:xfrm>
            <a:off x="4572000" y="3162300"/>
            <a:ext cx="2152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deterministic HBS-style snake draft remains feasible and reproducible while using reactive social utility.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7D74ED-C56C-4875-AA9D-09C9EBDA675B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724150" cy="1676400"/>
          </a:xfrm>
          <a:prstGeom prst="rect">
            <a:avLst/>
          </a:prstGeom>
          <a:solidFill>
            <a:srgbClr val="223044"/>
          </a:solidFill>
          <a:ln w="9525">
            <a:solidFill>
              <a:srgbClr val="4151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C4765-33AC-439D-B6D9-5304B432AB76}"/>
              </a:ext>
            </a:extLst>
          </p:cNvPr>
          <p:cNvSpPr>
            <a:spLocks noGrp="1"/>
          </p:cNvSpPr>
          <p:nvPr/>
        </p:nvSpPr>
        <p:spPr>
          <a:xfrm>
            <a:off x="8039100" y="27051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9B8C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9B8C6"/>
                </a:solidFill>
                <a:latin typeface="Aptos Display"/>
                <a:ea typeface="Aptos Display"/>
                <a:cs typeface="Aptos Display"/>
              </a:rPr>
              <a:t>Experiment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DD5385-7E17-4FA0-875C-6D1EE85423EE}"/>
              </a:ext>
            </a:extLst>
          </p:cNvPr>
          <p:cNvSpPr>
            <a:spLocks noGrp="1"/>
          </p:cNvSpPr>
          <p:nvPr/>
        </p:nvSpPr>
        <p:spPr>
          <a:xfrm>
            <a:off x="8039100" y="3162300"/>
            <a:ext cx="2152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Post-allocation local search reveals welfare, friendship-overlap, rank, and fairness trade-offs.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FF2FF1-A12C-4DBA-9B69-B8A42F240B86}"/>
              </a:ext>
            </a:extLst>
          </p:cNvPr>
          <p:cNvSpPr>
            <a:spLocks noGrp="1"/>
          </p:cNvSpPr>
          <p:nvPr/>
        </p:nvSpPr>
        <p:spPr>
          <a:xfrm>
            <a:off x="1352550" y="4953000"/>
            <a:ext cx="9486900" cy="9525"/>
          </a:xfrm>
          <a:prstGeom prst="rect">
            <a:avLst/>
          </a:prstGeom>
          <a:solidFill>
            <a:srgbClr val="415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6B3598-9EE4-4BBC-B026-16D897AA5B40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1D4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D49D"/>
                </a:solidFill>
                <a:latin typeface="Aptos"/>
                <a:ea typeface="Aptos"/>
                <a:cs typeface="Aptos"/>
              </a:rPr>
              <a:t>Next research questions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BC08C-45D1-4287-8A59-3F7D537718A3}"/>
              </a:ext>
            </a:extLst>
          </p:cNvPr>
          <p:cNvSpPr>
            <a:spLocks noGrp="1"/>
          </p:cNvSpPr>
          <p:nvPr/>
        </p:nvSpPr>
        <p:spPr>
          <a:xfrm>
            <a:off x="3676650" y="5200650"/>
            <a:ext cx="668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E2E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D9E2EF"/>
                </a:solidFill>
                <a:latin typeface="Aptos Display"/>
                <a:ea typeface="Aptos Display"/>
                <a:cs typeface="Aptos Display"/>
              </a:rPr>
              <a:t>strategic friendship reports  ·  real enrollment data  ·  welfare/fairness frontier  ·  theoretical properties of reactive social mechanisms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2A0663-6BEA-489A-B927-09786BADDAF8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1087100" cy="9525"/>
          </a:xfrm>
          <a:prstGeom prst="rect">
            <a:avLst/>
          </a:prstGeom>
          <a:solidFill>
            <a:srgbClr val="415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C44511-54A5-477B-9EE4-18067B2789D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9FB0C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FB0C5"/>
                </a:solidFill>
                <a:latin typeface="Aptos"/>
                <a:ea typeface="Aptos"/>
                <a:cs typeface="Aptos"/>
              </a:rPr>
              <a:t>Synthesis from local project sources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D051D3-81FD-4865-A8B7-9BA9E712A40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7D7EA"/>
                </a:solidFill>
                <a:latin typeface="Aptos"/>
                <a:ea typeface="Aptos"/>
                <a:cs typeface="Aptos"/>
              </a:rPr>
              <a:t>14/14</a:t>
            </a:r>
          </a:p>
        </p:txBody>
      </p:sp>
    </p:spTree>
    <p:extLst>
      <p:ext uri="{BB962C8B-B14F-4D97-AF65-F5344CB8AC3E}">
        <p14:creationId xmlns:p14="http://schemas.microsoft.com/office/powerpoint/2010/main" val="1386423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1656</Words>
  <Application>Microsoft Macintosh PowerPoint</Application>
  <DocSecurity>0</DocSecurity>
  <PresentationFormat>Widescreen</PresentationFormat>
  <Paragraphs>326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יוסף סוקולוב</cp:lastModifiedBy>
  <cp:revision>1</cp:revision>
  <dcterms:created xsi:type="dcterms:W3CDTF">2026-05-06T20:17:55Z</dcterms:created>
  <dcterms:modified xsi:type="dcterms:W3CDTF">2026-05-06T20:27:11Z</dcterms:modified>
</cp:coreProperties>
</file>