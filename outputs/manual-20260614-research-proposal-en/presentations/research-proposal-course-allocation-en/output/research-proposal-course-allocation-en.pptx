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3dd731a314e3a" /><Relationship Type="http://schemas.openxmlformats.org/officeDocument/2006/relationships/extended-properties" Target="/docProps/app.xml" Id="Rfc5bfe4c47184567" /><Relationship Type="http://schemas.openxmlformats.org/officeDocument/2006/relationships/officeDocument" Target="/ppt/presentation.xml" Id="Rb6821b8cbe104a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8f53d9d6684d08"/>
  </p:sldMasterIdLst>
  <p:notesMasterIdLst>
    <p:notesMasterId xmlns:r="http://schemas.openxmlformats.org/officeDocument/2006/relationships" r:id="Ra7df4b609b704975"/>
  </p:notesMasterIdLst>
  <p:sldIdLst>
    <p:sldId xmlns:r="http://schemas.openxmlformats.org/officeDocument/2006/relationships" id="256" r:id="R6dbc552845644aee"/>
    <p:sldId xmlns:r="http://schemas.openxmlformats.org/officeDocument/2006/relationships" id="257" r:id="Rb530fa23d2684e88"/>
    <p:sldId xmlns:r="http://schemas.openxmlformats.org/officeDocument/2006/relationships" id="258" r:id="R8480e2713e444854"/>
    <p:sldId xmlns:r="http://schemas.openxmlformats.org/officeDocument/2006/relationships" id="259" r:id="R5dd37bca8ff7476f"/>
    <p:sldId xmlns:r="http://schemas.openxmlformats.org/officeDocument/2006/relationships" id="260" r:id="R16781535cbaf4f26"/>
    <p:sldId xmlns:r="http://schemas.openxmlformats.org/officeDocument/2006/relationships" id="261" r:id="R5308cebe191e4bbe"/>
    <p:sldId xmlns:r="http://schemas.openxmlformats.org/officeDocument/2006/relationships" id="262" r:id="R2348ef4110344cb3"/>
    <p:sldId xmlns:r="http://schemas.openxmlformats.org/officeDocument/2006/relationships" id="263" r:id="Re0bbae58cbfb4c95"/>
    <p:sldId xmlns:r="http://schemas.openxmlformats.org/officeDocument/2006/relationships" id="264" r:id="Rc674b77dbbba496e"/>
    <p:sldId xmlns:r="http://schemas.openxmlformats.org/officeDocument/2006/relationships" id="265" r:id="Rc56b248601494b55"/>
    <p:sldId xmlns:r="http://schemas.openxmlformats.org/officeDocument/2006/relationships" id="266" r:id="Rb14ce4d0205d4855"/>
    <p:sldId xmlns:r="http://schemas.openxmlformats.org/officeDocument/2006/relationships" id="267" r:id="Rd3f27bed2aad40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1748fe082a4bc3" /><Relationship Type="http://schemas.openxmlformats.org/officeDocument/2006/relationships/slideMaster" Target="/ppt/slideMasters/slideMaster1.xml" Id="Ra78f53d9d6684d08" /><Relationship Type="http://schemas.openxmlformats.org/officeDocument/2006/relationships/notesMaster" Target="/ppt/notesMasters/notesMaster1.xml" Id="Ra7df4b609b704975" /><Relationship Type="http://schemas.openxmlformats.org/officeDocument/2006/relationships/presProps" Target="/ppt/presProps.xml" Id="R5efe75d207e54c4f" /><Relationship Type="http://schemas.openxmlformats.org/officeDocument/2006/relationships/viewProps" Target="/ppt/viewProps.xml" Id="R1b91aec1c90e466f" /><Relationship Type="http://schemas.openxmlformats.org/officeDocument/2006/relationships/tableStyles" Target="/ppt/tableStyles.xml" Id="Rf54ae2152c2b473d" /><Relationship Type="http://schemas.openxmlformats.org/officeDocument/2006/relationships/slide" Target="/ppt/slides/slide1.xml" Id="R6dbc552845644aee" /><Relationship Type="http://schemas.openxmlformats.org/officeDocument/2006/relationships/slide" Target="/ppt/slides/slide2.xml" Id="Rb530fa23d2684e88" /><Relationship Type="http://schemas.openxmlformats.org/officeDocument/2006/relationships/slide" Target="/ppt/slides/slide3.xml" Id="R8480e2713e444854" /><Relationship Type="http://schemas.openxmlformats.org/officeDocument/2006/relationships/slide" Target="/ppt/slides/slide4.xml" Id="R5dd37bca8ff7476f" /><Relationship Type="http://schemas.openxmlformats.org/officeDocument/2006/relationships/slide" Target="/ppt/slides/slide5.xml" Id="R16781535cbaf4f26" /><Relationship Type="http://schemas.openxmlformats.org/officeDocument/2006/relationships/slide" Target="/ppt/slides/slide6.xml" Id="R5308cebe191e4bbe" /><Relationship Type="http://schemas.openxmlformats.org/officeDocument/2006/relationships/slide" Target="/ppt/slides/slide7.xml" Id="R2348ef4110344cb3" /><Relationship Type="http://schemas.openxmlformats.org/officeDocument/2006/relationships/slide" Target="/ppt/slides/slide8.xml" Id="Re0bbae58cbfb4c95" /><Relationship Type="http://schemas.openxmlformats.org/officeDocument/2006/relationships/slide" Target="/ppt/slides/slide9.xml" Id="Rc674b77dbbba496e" /><Relationship Type="http://schemas.openxmlformats.org/officeDocument/2006/relationships/slide" Target="/ppt/slides/slide10.xml" Id="Rc56b248601494b55" /><Relationship Type="http://schemas.openxmlformats.org/officeDocument/2006/relationships/slide" Target="/ppt/slides/slide11.xml" Id="Rb14ce4d0205d4855" /><Relationship Type="http://schemas.openxmlformats.org/officeDocument/2006/relationships/slide" Target="/ppt/slides/slide12.xml" Id="Rd3f27bed2aad40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3dfb9540bb4d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88d4733ea4263" /><Relationship Type="http://schemas.openxmlformats.org/officeDocument/2006/relationships/notesMaster" Target="/ppt/notesMasters/notesMaster1.xml" Id="R3d2ce7328921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45213661de4d72" /><Relationship Type="http://schemas.openxmlformats.org/officeDocument/2006/relationships/notesMaster" Target="/ppt/notesMasters/notesMaster1.xml" Id="Raca41102a1e34f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b7fcf3b524d7a" /><Relationship Type="http://schemas.openxmlformats.org/officeDocument/2006/relationships/notesMaster" Target="/ppt/notesMasters/notesMaster1.xml" Id="Re2964eb14a254b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ede17327f4065" /><Relationship Type="http://schemas.openxmlformats.org/officeDocument/2006/relationships/notesMaster" Target="/ppt/notesMasters/notesMaster1.xml" Id="R09d93fabeeb94e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756b3d4e448b0" /><Relationship Type="http://schemas.openxmlformats.org/officeDocument/2006/relationships/notesMaster" Target="/ppt/notesMasters/notesMaster1.xml" Id="R45a701a55cba4f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4cb3d5b7c4e38" /><Relationship Type="http://schemas.openxmlformats.org/officeDocument/2006/relationships/notesMaster" Target="/ppt/notesMasters/notesMaster1.xml" Id="R5a27b62220b746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9915bd275c4a43" /><Relationship Type="http://schemas.openxmlformats.org/officeDocument/2006/relationships/notesMaster" Target="/ppt/notesMasters/notesMaster1.xml" Id="R328685be60b8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d4c0696f344cf7" /><Relationship Type="http://schemas.openxmlformats.org/officeDocument/2006/relationships/notesMaster" Target="/ppt/notesMasters/notesMaster1.xml" Id="R66d5510b75ad43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65d4fe812c4f96" /><Relationship Type="http://schemas.openxmlformats.org/officeDocument/2006/relationships/notesMaster" Target="/ppt/notesMasters/notesMaster1.xml" Id="Ra420c74011174c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968607540b4439" /><Relationship Type="http://schemas.openxmlformats.org/officeDocument/2006/relationships/notesMaster" Target="/ppt/notesMasters/notesMaster1.xml" Id="Raf7e724e2756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153ad17c9241b0" /><Relationship Type="http://schemas.openxmlformats.org/officeDocument/2006/relationships/notesMaster" Target="/ppt/notesMasters/notesMaster1.xml" Id="R34550386bd4540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ae8ca58d8248f4" /><Relationship Type="http://schemas.openxmlformats.org/officeDocument/2006/relationships/notesMaster" Target="/ppt/notesMasters/notesMaster1.xml" Id="R7d957e645a6447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0dcadf106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5287ddb1b4400a" /><Relationship Type="http://schemas.openxmlformats.org/officeDocument/2006/relationships/slideLayout" Target="/ppt/slideLayouts/slideLayout1.xml" Id="R5168b6cee2eb4d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8b6cee2eb4d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ef4f78ebf43bd" /><Relationship Type="http://schemas.openxmlformats.org/officeDocument/2006/relationships/notesSlide" Target="/ppt/notesSlides/notesSlide1.xml" Id="Rd1ccdbe25cfb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6307c51e46f3" /><Relationship Type="http://schemas.openxmlformats.org/officeDocument/2006/relationships/notesSlide" Target="/ppt/notesSlides/notesSlide2.xml" Id="Rb61cceec904d41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e45a05134e3b" /><Relationship Type="http://schemas.openxmlformats.org/officeDocument/2006/relationships/notesSlide" Target="/ppt/notesSlides/notesSlide3.xml" Id="Re927c34ac76c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94adf558a47da" /><Relationship Type="http://schemas.openxmlformats.org/officeDocument/2006/relationships/notesSlide" Target="/ppt/notesSlides/notesSlide4.xml" Id="R415f79a3dbd045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7867418c34dce" /><Relationship Type="http://schemas.openxmlformats.org/officeDocument/2006/relationships/notesSlide" Target="/ppt/notesSlides/notesSlide5.xml" Id="Rf61dae9f3f6b49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547f8fcee4096" /><Relationship Type="http://schemas.openxmlformats.org/officeDocument/2006/relationships/notesSlide" Target="/ppt/notesSlides/notesSlide6.xml" Id="R5359f3a8e13c4c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4256d53914bac" /><Relationship Type="http://schemas.openxmlformats.org/officeDocument/2006/relationships/notesSlide" Target="/ppt/notesSlides/notesSlide7.xml" Id="R4688c661d88443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feffbd0134e9b" /><Relationship Type="http://schemas.openxmlformats.org/officeDocument/2006/relationships/notesSlide" Target="/ppt/notesSlides/notesSlide8.xml" Id="R46a1becb5945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9f8f3c584bda" /><Relationship Type="http://schemas.openxmlformats.org/officeDocument/2006/relationships/notesSlide" Target="/ppt/notesSlides/notesSlide9.xml" Id="Race419287500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0f19361c945f9" /><Relationship Type="http://schemas.openxmlformats.org/officeDocument/2006/relationships/notesSlide" Target="/ppt/notesSlides/notesSlide10.xml" Id="R2eb33288af784e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4fd4974af4997" /><Relationship Type="http://schemas.openxmlformats.org/officeDocument/2006/relationships/notesSlide" Target="/ppt/notesSlides/notesSlide11.xml" Id="Rb5f0bc18faa443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1ba1ed0df45ea" /><Relationship Type="http://schemas.openxmlformats.org/officeDocument/2006/relationships/notesSlide" Target="/ppt/notesSlides/notesSlide12.xml" Id="R0506b282db1c48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94D16-50EA-4325-8558-D6BDEB53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D7C47-1E8D-40CA-958B-43B54D5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DC1C-3BD2-40AF-A536-0C24F355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Deliverable 2 | Research Proposal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E0949-331D-44E4-A9D6-C1C29A4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28700"/>
            <a:ext cx="7334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Friendship-Aware Course Allocation: An Empirical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D307E-AA55-4449-B7C8-DBC8B160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704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An HBS-style snake draft mechanism that incorporates directed friendship preferences, reactive social utility, and post-allocation local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7A5A3-669D-4B31-A237-9B1C7F1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8575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7A141-DFD7-4A97-B8C9-411E36E6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00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D7EA"/>
                </a:solidFill>
                <a:latin typeface="Arial"/>
                <a:ea typeface="Arial"/>
                <a:cs typeface="Arial"/>
              </a:rPr>
              <a:t>Research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3716-9BF7-402B-9FB7-F3EB22A5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students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 who they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 with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9DC64-0D8B-43F0-9D49-FF7AE5AE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The project tests how friendship relations inside an allocation mechanism change welfare, social satisfaction, ranking outcomes, and fairness.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ECC6C-955A-4907-9A84-3B09E87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FDF04-BC0C-47C2-AD28-D691D11D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computational empirical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6CD78-8612-45F9-AB42-6660E6BB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B4DCC-FC7E-4DFA-B15E-8319F84E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5436E-D3A3-432A-B355-4BF7EA4C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7A694-2851-46B6-8599-E29DA908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deterministic snake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2E4E1-9ACC-4DD8-9B33-E6D641B9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6FD36-71E0-43F1-8660-6F35516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05AAB-3D04-472E-A0D7-C135C342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Social variable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9EE29-90BD-41FF-A49C-77FEE18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student-level LambdaFriend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B59C9-4B68-4036-8CBA-32EA671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957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3F221-83B8-4245-B268-51B78A64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64351-6A9E-4473-9EED-C79C089D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57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CB1F1-94FF-475D-A359-C6CEDE8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welfare, fairness, overlaps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0946B-8FBA-42FF-9AE7-0FEE10FF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57800"/>
            <a:ext cx="7000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A4A82-F977-4095-BB1B-4C1C9CB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29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Research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DA370-D08C-42E3-BAB8-B2DD2DC6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Adding social preferences may increase system welfare and social satisfaction, but it can also create costs in ranking satisfaction and fairness.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FCA17-2EA1-4A4A-8C95-87B0C37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5E0FB4-1962-411C-AE7D-3DD6B559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README.md; project_presentation_materials.txt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983C2-BF5D-4C6D-8757-50837D7E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3151588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A4B32-80AA-4BF8-AADE-A0A29DE0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596B1-0F37-4443-A23B-1B658604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656CC-25E5-4D07-9877-A667CA02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Introduction and theoretical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13E31-2929-4AC7-B18C-8A9DCEED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gap: course allocation mechanisms often assume independent student preferences.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E023-D439-4276-86AB-A51EBFA4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In practice, a student may value a course not only for content, instructor, or schedule, but also for the peers who will be there.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CA8D9-A45D-4747-B3A6-3089BF7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D532A-840B-437A-9D96-EB54159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Research phenomenon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195B-5E6E-4504-A2D7-72C5099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33700"/>
            <a:ext cx="2609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Course allocation is a one-sided assignment problem: students receive bundles of indivisible seats under course-capacity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28F13-D0EC-49CF-8108-99EC787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0866-8789-446C-8CD4-E12AA38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Knowledge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06548-B3EA-4B87-9E20-F836D420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2609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literature emphasizes fairness, efficiency, strategy, and capacity. Friendship relations rarely enter the allocation model itself.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F5F4D-D0D9-4F56-85B6-310B49A5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295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7A370-5AE4-4CAB-AF60-D919455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Research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4BB97-35E5-4DCE-9FD3-C04E36FA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2609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0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Add a directed, course-specific social utility layer and evaluate its effect on welfare, friend overlaps, rank satisfaction, and inequality.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BB136-1E1A-41E7-8E1C-4F938BB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05375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43EB6-8335-4460-A3FB-A21994CD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Gap statement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9FAF-DEBE-470A-9012-250668F1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study asks what happens when preferences are socially interdependent and depend on other students' allocation outcomes.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57497-683B-4D6D-B555-26F85A2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E2975-0378-4F79-9E0C-BC15C498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local project materials; Budish &amp; Cantillon 2012; Budish 2011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D8845-7F5E-4BBF-9036-4CB667C7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5564798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AD1A4-521B-4776-B347-57F16E0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6BFA-72BD-4E05-A61C-8C438442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81B7C-4BBD-404A-A8B7-C2F6ABE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Focused literature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61461-5324-4DF9-94D2-5D7A2DDF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literature explains fair and efficient allocation, but not the social coupling between student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549EC-C31A-4EAF-A0DA-2396B74A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3A00-D790-4CF3-BFE3-E732697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Course allocation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3847-F431-4412-8648-17568D0D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847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Multi-unit assignment, capacity, course bundles, HBS draft.</a:t>
            </a:r>
          </a:p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Anchor: Budish &amp; Cantillon.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1524F-8BB1-46F0-8E05-11ACAC2F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8FFC1-5133-45E6-B039-F34EF190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Allocation mechanisms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16FD2-2920-4235-B193-B37CD71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1847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RSD, draft, A-CEEI, fair division, strategyproofness.</a:t>
            </a:r>
          </a:p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Anchors: Budish; Abdulkadiroglu &amp; Sonmez.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E25C3-528F-4AC2-8701-C0EF2907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4DC54-CF5F-4912-B745-574962B1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Social preferences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482E4-C1E9-460E-AF1A-60C78F99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1847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Utility is not purely individual: fairness, reciprocity, social welfare.</a:t>
            </a:r>
          </a:p>
          <a:p xmlns:a="http://schemas.openxmlformats.org/drawingml/2006/main">
            <a:pPr algn="l">
              <a:defRPr sz="92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Anchors: Fehr &amp; Schmidt; Charness &amp; Rabin.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95337-504F-437C-93BA-C671135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47900"/>
            <a:ext cx="2190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C5910-DD24-42E9-B392-32ABC11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Proposed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878E2-B8B8-4455-BACD-975EF84B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1847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No operational layer for directed, course-specific, reactive friendship preferences inside course choice.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CA870-ADDE-4818-A0F6-F154B8A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Integrated theoretical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CEC7B-2AA7-4E9B-91FE-AF937F9F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959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Mechanism design provides the allocation language; social-preference theory explains why students may value others' outcomes.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A40F4-7A1D-4577-B7E6-CB6040F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F9A10-AECE-420B-A537-0D0A50CD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Literature anchors: course allocation, fair division, school choice, social preferences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462FD-A3B5-42A0-A21C-967350C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785026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7AB93-3941-4793-8794-88AF96AD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A008C-EE61-4FE1-BA0E-D2FF827D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DD9F0-FBA1-48C4-983F-01E5FC7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Research questions and hypotheses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0ADE4-336D-49DB-8B64-DAB5F25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hypotheses focus on welfare, social mediation, individual cost, and market-condition moderation.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71C89-B567-4C0E-B323-46E998E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526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24FA2-3404-481C-8A08-D0DCDBB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02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5AD25-AC7A-4C6C-A943-76B32D51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526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How does incorporating friendship preferences affect total allocation utility?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D41A6-0112-4B63-99B5-D80CD7DC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526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F010C-2BE1-42C3-8DB5-3D34830A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02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0D514-BBEF-4E8C-9920-3F5D4CD3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Social utility will increase total utility relative to a no-post draft, especially when social-network density is sufficient.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234AF-0D70-44C4-8982-B745256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A9B40-4F34-478A-8A73-AED6AE3C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85554-8FD4-4219-8EA4-2BBFE204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146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C33DB-4C4A-415B-97CA-E6A0FAB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Do friend overlaps mediate the mechanism's effect on welfare?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14A98-9A60-4F0F-AF69-C4B5954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F5A9B-FC2A-4889-A8F5-DCAEBB83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146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9E2A4-76A5-4B61-95E8-3FA0EC6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effect of hybrid-global on welfare will be partially mediated by increased same-course friend overlaps.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92F56-0EB6-4DD4-9070-6910DE67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E5246-D729-47EC-8416-5E9577FA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FC847-7CF5-4C99-85B8-CDE9475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29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A296A-361F-49A9-ACC4-9CF1D4EF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Does the social gain trade off against rank satisfaction and fairness?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9E8D0-F409-4ED0-86E4-BE8CFDD3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814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E1FE8-B4D4-4BE3-A5AC-93E8F7F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290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2A371-665B-428D-96DB-E5909BC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Higher social utility will be associated with worse average rank and a moderate increase in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510BF-7B55-46DF-A258-5B034B5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65B6E-2514-4275-96AF-44277D3D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D3F5B-C975-4625-BF12-56B6027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434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2BC09-DAD7-4309-B838-894C73C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958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When is the mechanism more or less effective?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90B38-A604-4053-84DF-3461A8B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958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EE702-6404-4F38-887F-F177DFF1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434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258AF-DD7B-4E4D-B773-F7F3FFF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mechanism effect will be moderated by LambdaFriend, friendship density, and capacity pressure.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B544C8-41B0-411F-97B9-7A06696D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85AE3B-4BDB-448D-9C35-2760A6D3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6BC7C1-97F3-4A49-BCB3-3CC42C2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Research questions and hypotheses synthesized from model + preliminary computational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E9592-5FAB-43A6-A8AB-03F3CB8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055526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356BE-50E5-4885-BD9E-F1264FD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AE323-BB87-494E-B647-6CDF4A1C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CBECA-F476-4B72-A3A8-20F5E03E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Research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5935-D989-45FD-BE96-B0F61817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model links individual preferences, friendship preferences, and multi-dimensional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85215-A91F-4A0D-8779-84845B2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31652-5B16-421F-8637-F7ECADF8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Input 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BF0CC-B8ED-444C-9F0C-D06E14A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Individual course rankings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Directed course-specific friendships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Student-level LambdaFriend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F8E6F-3560-4ED5-B667-2C7F360A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981FD-9A0A-4F21-962B-D9756D6F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18D1E-BF56-44FF-ABDC-6713628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HBS-style snake draft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+ reactive friend bonus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+ deterministic tie-breaking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261A7-32EB-4A7F-8643-7864DA5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B912E-E6B6-4F66-BEE7-10CAD05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Post-allocation improvement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CA7F4-9901-4F69-8D6F-C038056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swap / drop-add / hybrid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objective scope:</a:t>
            </a:r>
          </a:p>
          <a:p xmlns:a="http://schemas.openxmlformats.org/drawingml/2006/main">
            <a:pPr algn="l">
              <a:defRPr sz="975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global or personal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24924-AFAA-4177-9741-AAE7ABC3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612E5-5997-4D8B-8E72-9FA53C90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C27BA-DBB7-4B52-AA44-BCD215D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40D94-13C4-4C24-97C4-098A8BD2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0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Mediation: realized friend overlaps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1B27D-645C-4BED-921C-056275BC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Does welfare improvement operate through more friends sharing the same course?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0A7F9-0919-4473-979B-87AFB026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FEAD5-070B-4712-96AA-79C2BD88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49D01-240F-4532-876E-C87F54B1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673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total utility</a:t>
            </a:r>
          </a:p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social utility</a:t>
            </a:r>
          </a:p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average rank / Top-3</a:t>
            </a:r>
          </a:p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Gini, Jain, Theil, Atkinson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57998-4F15-4A03-956B-4628104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29200"/>
            <a:ext cx="3009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C6AB6-8BCE-494A-AE53-4F6479C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816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Moderators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C934E-4022-460B-98F4-037CE4D1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673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friendship-network density</a:t>
            </a:r>
          </a:p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capacity pressure</a:t>
            </a:r>
          </a:p>
          <a:p xmlns:a="http://schemas.openxmlformats.org/drawingml/2006/main">
            <a:pPr algn="l">
              <a:defRPr sz="863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LambdaFriend values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58C09-919E-444B-9A4E-BC3E473B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95AB6-5781-43D6-B188-BB4E8EC6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 utility model; local experiment 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99DE6-54C2-453D-8440-60D3B158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4979792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89FD4-67AB-43C0-90E4-32A2524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F0E6B-CF90-4A50-B167-C0807815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1D04F-7366-4688-8A29-F09E342A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Research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AF842-AB6B-4C5A-989A-3C1DA83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study is a comparative computational experiment with repeated seeds and controlled parameters.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73E42-2965-4A64-B76A-2996E7C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86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172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07484-82AF-4ED1-BF8E-6FE0BCA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DE416-3209-432A-A137-68C078A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3467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Levels / manipulation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BC417-56D7-49C0-87C7-4A5D345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E9DAB-96FD-4E1A-B25E-99CFC4C9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CBA57-4E45-4DEC-A443-2CFB43F8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Improvement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1E03C-CBB6-4A77-BB19-7101342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none, swap, drop-add, hybrid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4ECB-8EA6-4762-8F27-C308CEB7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Test whether local search improves the base 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B54F3-6434-4249-B73F-2276C2C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4F03F-67FB-4E06-AD64-CA9D8F7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Objective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27F4F-9CD8-4E6C-8E0A-1574657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global vs. personal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194D0-3A72-45ED-84D3-94799151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Separate system welfare from individual gains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18EEA-DB26-432E-87A3-F049546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E2A73-AFAE-4DA9-BB76-EFCE8D1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Social weight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84951-6077-4573-B7DB-D719CA4F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5760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LambdaFriend: 0 to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E85F2-3CB8-4AB7-939F-DAC534A1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Test the strength of social preference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D6B4F-951B-4B40-A6EA-FAE77160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56F05-8599-400D-8D5C-84A8A5C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Market scenario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93B2A-1C68-4E03-A442-B26A6E5F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courses, capacities, friendship density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C88D3-62A8-4CF1-97B7-44AD51C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3676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Assess sensitivity and external validity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F7E2C-B679-4698-8020-2E2830E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410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50728-042A-4231-A24F-4E603BEB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435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DB475-9413-4C63-A7E2-289DA2FE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One algorithm run is defined by scenario, seed, improvement mode, post-iteration count, and LambdaFriend; outcomes are computed at the run level and compared across conditions.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434FF-FF57-4D74-ACAB-36B8AE7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5FE8F-65EB-4095-BA3C-3A08F95D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generate/generate_tables.py; HBS/hbs_experiments.py; results/experiments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DE731-54E3-47EE-8B74-05E3E33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049830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244C8-676F-4517-9E8B-39BA4DC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4C424-D36D-45F3-ADEC-9DA391A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C4F1B-2110-4069-93CA-DB3534B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Measurement, reliability, and validity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F7563-26C4-4A26-B438-CA1A753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Robust measurement separates allocation quality, social satisfaction, rank satisfaction, and fairness.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609C4-E1B7-4F0A-945B-0DAF167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D9492-B19F-4429-A2A3-B12EBDA0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Welfare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D54F6-A83C-4DF0-8214-57BBF1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total_utility, avg_utility_per_student, total_base_utility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8EA8-FEFC-42B4-B5ED-F3663655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Decomposes baseline value and social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388F6-726A-4FD7-839E-A670831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B005D-9D2E-4C7C-9A0F-7C95DCD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Social satisfaction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D3823-3233-48E8-BEDA-99C6C7E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avg_friend_overlaps_per_student, share_any_overlap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32C59-0C96-4B83-9EC8-B08A6A6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Construct validity: realized friendship preferences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0776E-DB62-48D3-94D0-6B835D6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DFC09-5875-4CDA-B5CF-E8F4E4C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Individual satisfaction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45E4A-5582-4545-A425-87056E2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avg_position, median_position, share_top1, share_top3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E79D9-2894-45BB-B3EC-0732D1DB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Captures the individual cost of social utility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5D4EB-1D50-436B-BDB1-8E5D1210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62400"/>
            <a:ext cx="4686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4641E-E977-4C60-A7FE-5324257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Fairness / inequality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BAAB9-06CA-4DDB-9B10-0D690A8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212E"/>
                </a:solidFill>
                <a:latin typeface="Aptos Mono"/>
                <a:ea typeface="Aptos Mono"/>
                <a:cs typeface="Aptos Mono"/>
              </a:rPr>
              <a:t>Gini, Jain, Theil, Atkinson, percentiles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40B1F-38C2-4A52-B339-8895887E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Sensitive to distribution, not just the 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EA1E9-A9D6-4BF8-8F6C-24FAC815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38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F3442-A66E-4E83-821D-5D026991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Fixed seed, deterministic tie-breaking, and 44 automated tests that passed in the local project materials.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33A8A-21E7-48F5-8FC4-EAF849FF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1F1375-9574-4131-924A-12C30D4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Sources: README metrics; tests/run_all_tests.py; project 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969F04-207D-4F30-AB17-A3498A5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7176651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41158-0B47-47F1-85CC-EB83A8B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323E-344F-47A9-93D0-349A7A3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164DF-5FF6-42BF-B87E-90DD82A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Data analysis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210EC-09F7-46D5-A620-A30999AC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analysis combines condition comparisons, regression models, mediation/moderation, and robustness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B425B-7F8C-4446-8DE4-A27AA49C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84EF6-FCA2-4619-BC19-D5CF1A6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32EC7-2E6B-4F66-B3BD-B7B7AE9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907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Describe and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6D912-7B31-42B5-A3ED-C48FB790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907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Baseline statistics, distributions, capacity and feasibility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4C099-9DCB-424E-8849-9F98E85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16068-A31F-4E4B-A982-F5B0676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24102-6275-4EBC-AFAB-5A14BA06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16817-2F58-4E94-B280-E00B8B3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717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Test hypotheses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6AEAC-5A07-4D6A-B196-AA7365C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7177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Compare none vs. improvement modes, and global vs. personal objectives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3D980-2425-4CA3-BDE1-696B41F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7660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444D3-2F80-4265-B66F-72E73D76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052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D3340-263A-49EB-AF1E-EF5DC53D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AC392-89D8-403E-B7BD-C5F081E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528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Model effects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151EC-DB40-4E85-B7F6-E1503A0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Regression / mixed effects with seed and scenario as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E1C05-2E75-4864-87DB-7A67C64D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576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54EE1-C564-45CF-8A58-3FFDF118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3FD73-AACF-4A0F-9608-A4F8B950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DFE4E-953A-4651-BFCF-35D3FE9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338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Check robustness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A7ADA-AB3F-4258-98AC-4D5DDFE9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33875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Sensitivity to LambdaFriend, friendship density, capacity pressure, and iterations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329B4-90F3-4AFD-A547-2D14745B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581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62D7B-DC77-4DEF-B454-ACB0427C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241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Methodological principle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B5CFA-B263-464F-926E-94B26D66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81300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mean is not enough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CEF44-A6E4-4866-8BAD-332EC8B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38550"/>
            <a:ext cx="1123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The study must report the welfare-social-rank-fairness trade-off frontier.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60DEA-EA28-4BDE-BBF8-AA6EE16B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9D242-10C4-4A1E-BAEC-2C33CC1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Analysis plan: repeated computational experiment; multi-metric outcome framework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B2BA66-4930-4DB6-B27E-6F4D4EF7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7599567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1BDEA-6BD9-43D2-B830-47DD2C33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BCADC-23A2-4FBA-B1B5-BA6BFAB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AA5E-4288-4C4F-B4D9-24652C30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Preliminary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CBC2C-BB6D-46AA-BB11-35284018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In the 200x8 scenario, hybrid-global captures most welfare improvement within five iterations.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51615-AE33-4366-866E-011C973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Mean total-utility change vs. no-post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9CCE6-0383-4452-99F5-83F9EA1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hybrid-global, post=5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F5147-8143-412D-9DC1-CB76815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523FA-A01F-4783-B267-584BD37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A64F5-0FBA-45F0-BCD9-F2838A36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627757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3319A-4311-401D-98A7-690A58C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+3.63%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E3C8D-9E56-4582-A0B2-3AE99B1F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swap-global, post=20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9FEC9-FD1F-44BE-96DF-0630936D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8B71D-BD2F-48E6-AC8B-57B7EA8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0B877-FE75-42BD-A0C0-C28E950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159981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DC07D-E32B-42E9-8184-BDB8749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+2.21%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DF475-B6DE-417D-846B-8EAF82FA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drop-add-global, post=20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DEC7F-C688-410F-A7B9-80038BA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9E7A0-27C7-461C-8320-96679BC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4335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B5101-3C95-4512-A17E-F54C1F79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18821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5E91A-5371-4492-9F0F-5FE80A0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+0.26%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1EDA8-9B8E-41D4-8A71-B10DA5A5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hybrid-personal, post=20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63066-C4AC-4438-856A-484FABD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4820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360BA-2F03-45D8-A9FD-E7BBEBF1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B347B-B382-4095-960C-28B24435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229" y="4610100"/>
            <a:ext cx="282321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FB57B-5836-4025-8E88-3C0C14D7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01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-0.39%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FE00E-ED25-428E-B866-F38E897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2343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02C86-1904-4374-BF5A-A6B37AAA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292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3DBE6-6D0F-4307-A121-934608B1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371.310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5ECCF2-FB49-448D-A3F7-C7DA1CFA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6260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hybrid-global post=5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13B0C-1510-49AB-9EAD-D4E57681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384.805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3C9282-006C-4FC7-A006-7BD9C5E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67350"/>
            <a:ext cx="571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Careful interpretation: these are preliminary computational results from a synthetic artifact set; they show direction and feasibility, not final evidence on real students.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6DCF9-FA36-4EF9-A256-A02028F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C8ACB-AD03-4DE2-81A2-F6C169D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Source: results/experiments/A_200x8_mode_post_agg_partial.csv; seeds 11-20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CD40B-57E5-4A09-987C-80AF009E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30092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121BC-8B13-4BD3-8FDB-D09DF44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6D06-17B4-429B-9156-ED54220A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C98F5-14FF-4933-A88A-38B9711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Cost and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A05C5-F1D5-454B-A785-06346757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social gain creates a measurable trade-off with rank satisfaction and inequality.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1226B-C678-4D7F-A57B-03CC6D6D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6A964-9CBE-4B0E-A0E2-8868F025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Friend overlaps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7F899-BD79-4C88-BB6D-3093BDC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98C83-E9D8-4EFF-A8DC-BB06E6EA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95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3.7145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CF48D-3021-4369-A73D-994AD57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F63E3-F4E4-4DC0-8531-BC3F1107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4.6965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49A5A-E585-4C85-B66E-29E68F1E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80F06-726C-4B81-A038-5FCF732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3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7DC4A-E2AC-406A-8B17-F6E75B11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+26.44%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51616-36C3-4A54-9DA8-0725943D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E9913-3F60-4672-B6B6-072083C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Average assigned rank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88322-682F-4A1F-99BE-79C7A89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446D6-FD8F-47EF-84B4-49A14844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91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2.186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CAB5D-05A5-47A8-A39C-E8DC3A6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1C577-0ECB-4044-8DF9-EC5AD1C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2.434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25443-010D-46E6-9A19-73FE6B0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72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8C2B6-D63D-40B2-B86F-D59FAD24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14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4101B3-286A-40B2-BBD4-FE1093E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62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higher 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17658-52AC-4B6A-9C69-F0DCDDF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EA38D-EE09-46D2-9E19-9713614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Top-3 share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CF4D5-8A6A-4272-83AE-D55EDA6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8BF14-DCDD-4D39-B5F1-8E0F20D4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87.2%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42AE2-46D4-4EDF-ABCD-0918EE3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051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8C589-053C-4D4E-90D7-DA123E2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95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79.6%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F6163-165C-4AF6-BEBD-E29764B3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0A8A5-7EB6-446B-B75C-A609C35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83EE2D-537C-402B-85F9-01A79991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670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-7.6 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B13AE-C225-4DB6-898D-CABC27D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724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42DA0-9529-4E90-AC21-E15619B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Normalized Gini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85E522-DB7C-429E-90F7-685E49A0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0903F-6CD5-4E09-AB0A-191B99B1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0.05238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CE7B9-B04C-4C65-8B54-4AED531D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005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7DB57D-3324-4029-9A3B-018BCEE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91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0.05576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3A1BF0-3168-4352-8607-B9E9D728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61C85D-6F6E-4FDE-9AF7-34E9742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14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8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598A2C-3C7B-4F1B-8D38-26780D3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62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slight rise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DF087-E9DE-4667-B17F-8D9C815E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29250"/>
            <a:ext cx="430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9525">
            <a:solidFill>
              <a:srgbClr val="1721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00DE81-27B8-4889-9F07-D87AB88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816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Hypothesis implication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35F279-5FB0-4855-BD15-E0A97E7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H2 is directionally supported; H3 defines the cost that the full study must quantify.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36A6BC-A7D5-49FD-9651-EFFD6B4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81CDF9-E803-4875-9898-EF99413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Source: local A_200x8 preliminary metrics from project_presentation_materials.txt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41EE1F-6284-466C-BE73-E2D10938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3460614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CEB30-6539-424C-B340-FE6DA38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46C23-F05F-4341-83F4-1F7BD4C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4BB30-6227-4DB1-BFEA-BB2F42B1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Expected research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758DB-0106-4573-B53F-939C6E5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contribution is a measurable model of social preferences inside an allocation mechanism.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1CFCF-7F31-4718-9E0F-BB52A441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D5FB-74AE-47F9-AE40-2072303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Theoretical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68281-5698-4214-ADE9-81D6F86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25146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Extends course allocation from independent preferences to a socially coupled assignment model where one student's value can depend on others' allocations.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EDD82-1137-4ED9-8D29-85E8BFA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595AF-5AF0-407D-9382-E1FBB3EE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50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55070"/>
                </a:solidFill>
                <a:latin typeface="Arial"/>
                <a:ea typeface="Arial"/>
                <a:cs typeface="Arial"/>
              </a:rPr>
              <a:t>Methodological contribution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4B086-94FA-432B-9E5D-EE4BEE2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5146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Provides an experimental framework that separates mechanism, objective scope, social weight, welfare metrics, and fairness metrics.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1F194-5643-4BBE-95A3-B9C4DAD6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8575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4"/>
          </a:solidFill>
          <a:ln xmlns:a="http://schemas.openxmlformats.org/drawingml/2006/main" w="9525">
            <a:solidFill>
              <a:srgbClr val="D7CD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72A87-855A-41BF-BBFA-E117370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Future research implications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5CBA6-C4DC-4024-BDC9-C030D28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5146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E"/>
                </a:solidFill>
                <a:latin typeface="Arial"/>
                <a:ea typeface="Arial"/>
                <a:cs typeface="Arial"/>
              </a:rPr>
              <a:t>Enables studies using real preference data, survey-based friendship measures, timetable constraints, privacy, and strategic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F825C-2E58-40FA-BDCF-8B98882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123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Not only an algorithmic improvement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11224-3D74-4EE9-9483-AA8543A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E"/>
                </a:solidFill>
                <a:latin typeface="Arial"/>
                <a:ea typeface="Arial"/>
                <a:cs typeface="Arial"/>
              </a:rPr>
              <a:t>The proposal offers an empirical language for measuring the cost and value of social ties in institutional allocation systems.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47B45-EB10-4346-B138-F45406A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259DA-B634-45CE-B30C-B90C1766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A6E60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7A6E60"/>
                </a:solidFill>
                <a:latin typeface="Arial"/>
                <a:ea typeface="Arial"/>
                <a:cs typeface="Arial"/>
              </a:rPr>
              <a:t>Contribution synthesized from proposal structure and local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151AA-6D8C-42D0-BAAD-B7A71F9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2856931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809CE-E734-4C36-8357-8F45D68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4754F-60B4-4CB8-97B3-2B8004F6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4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A4FE6-7B50-4B10-9092-C3596B6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7D7EA"/>
                </a:solidFill>
                <a:latin typeface="Arial"/>
                <a:ea typeface="Arial"/>
                <a:cs typeface="Arial"/>
              </a:rPr>
              <a:t>Robustness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EA7E9-ADAE-497C-B960-B11C2F3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next step is moving from feasibility evidence to a full research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19D31-E702-46F6-9F5F-F1314E7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2FC03-6795-4225-8B8F-24F6930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8C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B8C6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7EC29-8AF0-4E2A-BB5B-5159DF8E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Current data are synthetic, so they do not establish external validity for a real student population.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396FF-BC3F-45EC-9ADD-453401C2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38CE2-9FFC-4C58-ADC7-D058A12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FFECC-96CF-48A4-936A-4B5EC2C7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The experiment should expand scenarios: friendship density, capacities, Lambda values, seeds, and iteration counts.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85312-3CD5-4DDE-A987-58B954A8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6E43B-3926-4026-8F5A-5079935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Validity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7D6D-E72D-4400-8863-049A697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Future work should combine real preference data or surveys with tests of whether reported friendships behave like the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3E1D9-3AE3-4633-AE61-4C315F2E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9525">
            <a:solidFill>
              <a:srgbClr val="41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280AC-8D3D-47AD-B627-653413B4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Ethics and privacy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4574A-899F-4503-8A9B-83C18984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2E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9E2EF"/>
                </a:solidFill>
                <a:latin typeface="Arial"/>
                <a:ea typeface="Arial"/>
                <a:cs typeface="Arial"/>
              </a:rPr>
              <a:t>Friendship preferences are sensitive data; future research requires anonymization, consent, and careful data governance.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0C3CD-41DE-477B-ABAB-53BFD913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1D4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1D49D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98425-EB89-4926-9E66-2FD5DE3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proposal centers on a measurable trade-off: more social satisfaction and system welfare, with possible costs in rank satisfaction and fairness.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2750E-4B0E-4DCA-90C0-0908A8A5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D5659-D094-4D35-9545-7D416907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Final slide: limitations, robustness plan, and next research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8B31F-F863-43FD-95C3-E21907BA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960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975092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2026-06-14T20:11:30.9650000Z</dcterms:created>
  <dcterms:modified xsi:type="dcterms:W3CDTF">2026-06-14T20:11:30.9650000Z</dcterms:modified>
</coreProperties>
</file>