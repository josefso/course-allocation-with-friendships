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0c68df7b124cae" /><Relationship Type="http://schemas.openxmlformats.org/officeDocument/2006/relationships/extended-properties" Target="/docProps/app.xml" Id="R7cea43ec8b974522" /><Relationship Type="http://schemas.openxmlformats.org/officeDocument/2006/relationships/officeDocument" Target="/ppt/presentation.xml" Id="R66e27a16ad4140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c7a4ac549c449c"/>
  </p:sldMasterIdLst>
  <p:notesMasterIdLst>
    <p:notesMasterId xmlns:r="http://schemas.openxmlformats.org/officeDocument/2006/relationships" r:id="Rdd8399d45e3042d2"/>
  </p:notesMasterIdLst>
  <p:sldIdLst>
    <p:sldId xmlns:r="http://schemas.openxmlformats.org/officeDocument/2006/relationships" id="256" r:id="Rd80219b9b8a544de"/>
    <p:sldId xmlns:r="http://schemas.openxmlformats.org/officeDocument/2006/relationships" id="257" r:id="R45c809f1f575483d"/>
    <p:sldId xmlns:r="http://schemas.openxmlformats.org/officeDocument/2006/relationships" id="258" r:id="Rfb544169bf2540a2"/>
    <p:sldId xmlns:r="http://schemas.openxmlformats.org/officeDocument/2006/relationships" id="259" r:id="Rf71b6ee4cb274a7b"/>
    <p:sldId xmlns:r="http://schemas.openxmlformats.org/officeDocument/2006/relationships" id="260" r:id="R38d4b569b7a74afa"/>
    <p:sldId xmlns:r="http://schemas.openxmlformats.org/officeDocument/2006/relationships" id="261" r:id="Rddf74c57cac04017"/>
    <p:sldId xmlns:r="http://schemas.openxmlformats.org/officeDocument/2006/relationships" id="262" r:id="Rff5389b6772842bf"/>
    <p:sldId xmlns:r="http://schemas.openxmlformats.org/officeDocument/2006/relationships" id="263" r:id="Rfcbc17d2d0ad43b0"/>
    <p:sldId xmlns:r="http://schemas.openxmlformats.org/officeDocument/2006/relationships" id="264" r:id="Raf7e941873a24682"/>
    <p:sldId xmlns:r="http://schemas.openxmlformats.org/officeDocument/2006/relationships" id="265" r:id="R195980d021ee45d0"/>
    <p:sldId xmlns:r="http://schemas.openxmlformats.org/officeDocument/2006/relationships" id="266" r:id="R593c063145ec493a"/>
    <p:sldId xmlns:r="http://schemas.openxmlformats.org/officeDocument/2006/relationships" id="267" r:id="R4d1e71db151842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b64d3823d44f0a" /><Relationship Type="http://schemas.openxmlformats.org/officeDocument/2006/relationships/slideMaster" Target="/ppt/slideMasters/slideMaster1.xml" Id="R1fc7a4ac549c449c" /><Relationship Type="http://schemas.openxmlformats.org/officeDocument/2006/relationships/notesMaster" Target="/ppt/notesMasters/notesMaster1.xml" Id="Rdd8399d45e3042d2" /><Relationship Type="http://schemas.openxmlformats.org/officeDocument/2006/relationships/presProps" Target="/ppt/presProps.xml" Id="R28cecc864ed34c18" /><Relationship Type="http://schemas.openxmlformats.org/officeDocument/2006/relationships/viewProps" Target="/ppt/viewProps.xml" Id="Rfd66748733bd4ae5" /><Relationship Type="http://schemas.openxmlformats.org/officeDocument/2006/relationships/tableStyles" Target="/ppt/tableStyles.xml" Id="Ra879cdb7f4464379" /><Relationship Type="http://schemas.openxmlformats.org/officeDocument/2006/relationships/slide" Target="/ppt/slides/slide1.xml" Id="Rd80219b9b8a544de" /><Relationship Type="http://schemas.openxmlformats.org/officeDocument/2006/relationships/slide" Target="/ppt/slides/slide2.xml" Id="R45c809f1f575483d" /><Relationship Type="http://schemas.openxmlformats.org/officeDocument/2006/relationships/slide" Target="/ppt/slides/slide3.xml" Id="Rfb544169bf2540a2" /><Relationship Type="http://schemas.openxmlformats.org/officeDocument/2006/relationships/slide" Target="/ppt/slides/slide4.xml" Id="Rf71b6ee4cb274a7b" /><Relationship Type="http://schemas.openxmlformats.org/officeDocument/2006/relationships/slide" Target="/ppt/slides/slide5.xml" Id="R38d4b569b7a74afa" /><Relationship Type="http://schemas.openxmlformats.org/officeDocument/2006/relationships/slide" Target="/ppt/slides/slide6.xml" Id="Rddf74c57cac04017" /><Relationship Type="http://schemas.openxmlformats.org/officeDocument/2006/relationships/slide" Target="/ppt/slides/slide7.xml" Id="Rff5389b6772842bf" /><Relationship Type="http://schemas.openxmlformats.org/officeDocument/2006/relationships/slide" Target="/ppt/slides/slide8.xml" Id="Rfcbc17d2d0ad43b0" /><Relationship Type="http://schemas.openxmlformats.org/officeDocument/2006/relationships/slide" Target="/ppt/slides/slide9.xml" Id="Raf7e941873a24682" /><Relationship Type="http://schemas.openxmlformats.org/officeDocument/2006/relationships/slide" Target="/ppt/slides/slide10.xml" Id="R195980d021ee45d0" /><Relationship Type="http://schemas.openxmlformats.org/officeDocument/2006/relationships/slide" Target="/ppt/slides/slide11.xml" Id="R593c063145ec493a" /><Relationship Type="http://schemas.openxmlformats.org/officeDocument/2006/relationships/slide" Target="/ppt/slides/slide12.xml" Id="R4d1e71db151842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93e2d1e77d40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c7797da2b74e49" /><Relationship Type="http://schemas.openxmlformats.org/officeDocument/2006/relationships/notesMaster" Target="/ppt/notesMasters/notesMaster1.xml" Id="R4424bb8c8d6a4d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afb6d4951c46d0" /><Relationship Type="http://schemas.openxmlformats.org/officeDocument/2006/relationships/notesMaster" Target="/ppt/notesMasters/notesMaster1.xml" Id="R1375ba8d928a4f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f737713a504f4b" /><Relationship Type="http://schemas.openxmlformats.org/officeDocument/2006/relationships/notesMaster" Target="/ppt/notesMasters/notesMaster1.xml" Id="Ra75c458ab33443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645e282cc64f06" /><Relationship Type="http://schemas.openxmlformats.org/officeDocument/2006/relationships/notesMaster" Target="/ppt/notesMasters/notesMaster1.xml" Id="Reccf963f4cb54c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da5c5e84254cd0" /><Relationship Type="http://schemas.openxmlformats.org/officeDocument/2006/relationships/notesMaster" Target="/ppt/notesMasters/notesMaster1.xml" Id="R5ee25acdf6a249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4e984204624c10" /><Relationship Type="http://schemas.openxmlformats.org/officeDocument/2006/relationships/notesMaster" Target="/ppt/notesMasters/notesMaster1.xml" Id="R2ecb2237429c41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cd6f43ec324ecf" /><Relationship Type="http://schemas.openxmlformats.org/officeDocument/2006/relationships/notesMaster" Target="/ppt/notesMasters/notesMaster1.xml" Id="R792bdf8edd0040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3425abe1644805" /><Relationship Type="http://schemas.openxmlformats.org/officeDocument/2006/relationships/notesMaster" Target="/ppt/notesMasters/notesMaster1.xml" Id="Ra53545becb004f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177f423ffa44ad" /><Relationship Type="http://schemas.openxmlformats.org/officeDocument/2006/relationships/notesMaster" Target="/ppt/notesMasters/notesMaster1.xml" Id="R6e5abad0b6304e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6e0cf607304cc6" /><Relationship Type="http://schemas.openxmlformats.org/officeDocument/2006/relationships/notesMaster" Target="/ppt/notesMasters/notesMaster1.xml" Id="R5bdbfc82083f4c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d9b7fe797642b8" /><Relationship Type="http://schemas.openxmlformats.org/officeDocument/2006/relationships/notesMaster" Target="/ppt/notesMasters/notesMaster1.xml" Id="Rcf0d95eccfe448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94f11017544a65" /><Relationship Type="http://schemas.openxmlformats.org/officeDocument/2006/relationships/notesMaster" Target="/ppt/notesMasters/notesMaster1.xml" Id="Rb955dc669d5c44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7c668122134d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f51db84128442d" /><Relationship Type="http://schemas.openxmlformats.org/officeDocument/2006/relationships/slideLayout" Target="/ppt/slideLayouts/slideLayout1.xml" Id="R7e2ae388d59746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2ae388d59746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2d12e8b5d487c" /><Relationship Type="http://schemas.openxmlformats.org/officeDocument/2006/relationships/notesSlide" Target="/ppt/notesSlides/notesSlide1.xml" Id="R54a822427e3942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492d1d274450b" /><Relationship Type="http://schemas.openxmlformats.org/officeDocument/2006/relationships/notesSlide" Target="/ppt/notesSlides/notesSlide2.xml" Id="R320501ce81f941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5b59b95d94bc6" /><Relationship Type="http://schemas.openxmlformats.org/officeDocument/2006/relationships/notesSlide" Target="/ppt/notesSlides/notesSlide3.xml" Id="R1aafc857c8ff4f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51c1e04c94770" /><Relationship Type="http://schemas.openxmlformats.org/officeDocument/2006/relationships/notesSlide" Target="/ppt/notesSlides/notesSlide4.xml" Id="R9c7536efc6a84a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230755a4140c0" /><Relationship Type="http://schemas.openxmlformats.org/officeDocument/2006/relationships/notesSlide" Target="/ppt/notesSlides/notesSlide5.xml" Id="Ra51f799a61d048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74ed781b84df2" /><Relationship Type="http://schemas.openxmlformats.org/officeDocument/2006/relationships/notesSlide" Target="/ppt/notesSlides/notesSlide6.xml" Id="Raed873218c9d4a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17ce429774464" /><Relationship Type="http://schemas.openxmlformats.org/officeDocument/2006/relationships/notesSlide" Target="/ppt/notesSlides/notesSlide7.xml" Id="Rde383dbefe5040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c337d357e405a" /><Relationship Type="http://schemas.openxmlformats.org/officeDocument/2006/relationships/notesSlide" Target="/ppt/notesSlides/notesSlide8.xml" Id="Rd74a8c07047f47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8d889d9204302" /><Relationship Type="http://schemas.openxmlformats.org/officeDocument/2006/relationships/notesSlide" Target="/ppt/notesSlides/notesSlide9.xml" Id="R86a0a834573641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779fde2694f91" /><Relationship Type="http://schemas.openxmlformats.org/officeDocument/2006/relationships/notesSlide" Target="/ppt/notesSlides/notesSlide10.xml" Id="R7ca753b9fe8a4c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622a3fb824481" /><Relationship Type="http://schemas.openxmlformats.org/officeDocument/2006/relationships/notesSlide" Target="/ppt/notesSlides/notesSlide11.xml" Id="R7ea50c1a056c47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17d7d3e5f4264" /><Relationship Type="http://schemas.openxmlformats.org/officeDocument/2006/relationships/notesSlide" Target="/ppt/notesSlides/notesSlide12.xml" Id="R5f00a6ed8866478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6F1B32-0603-4BC2-AB6C-79A69C45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736DD-37D4-4B98-9797-08F9E51B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5720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E1232-0467-465A-9196-73C00717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"/>
            <a:ext cx="510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תוצר 2 | Research Proposal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A350C-3A84-4CE1-9C1A-2E6DB623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066800"/>
            <a:ext cx="742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הקצאת קורסים מודעת חברות: הצעת מחקר אמפירית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8D594-5B38-486C-8953-C477AE80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700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מנגנון HBS-style snake draft המשלב העדפות חברות מכוונות, תועלת חברתית ריאקטיבית וחיפוש מקומי לאחר ההקצאה.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60B8C-559A-421D-8104-567FE4B3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285750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A3EF9-C1C6-4C24-95D0-F94DE748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001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D7E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D7EA"/>
                </a:solidFill>
                <a:latin typeface="Arial"/>
                <a:ea typeface="Arial"/>
                <a:cs typeface="Arial"/>
              </a:rPr>
              <a:t>ליבת המחקר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9A341-1C95-4585-85B9-81EE51BC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8115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כאשר סטודנטים</a:t>
            </a:r>
          </a:p>
          <a:p xmlns:a="http://schemas.openxmlformats.org/drawingml/2006/main">
            <a:pPr algn="r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בוחרים גם עם מי</a:t>
            </a:r>
          </a:p>
          <a:p xmlns:a="http://schemas.openxmlformats.org/drawingml/2006/main">
            <a:pPr algn="r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ללמוד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F4049-5AF7-494D-85E8-0FF74021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2152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9E2E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E2EF"/>
                </a:solidFill>
                <a:latin typeface="Arial"/>
                <a:ea typeface="Arial"/>
                <a:cs typeface="Arial"/>
              </a:rPr>
              <a:t>הפרויקט בודק כיצד הכנסת קשרי חברות למנגנון הקצאה משנה רווחה, שביעות רצון חברתית, דירוגים והוגנות.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FDBD3-1CA5-4625-97A9-17CFD337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4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3768F-C2A6-4565-A9A3-ED88DF4A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19575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אמפירי-חישובי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DC92C-8D1F-4BA1-B9ED-05AEA6B3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5760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3975D-E786-4DBF-818C-79C8E25E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766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C220E-9647-4174-8C56-6373959B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195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מנגנון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E08AD-7D1B-4219-A2E6-2F727A33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910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snake draft דטרמיניסטי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0A530B-552E-47F8-B02B-2E416A41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5760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182C6C-7852-4923-9282-A9E302DB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AFE435-A380-41F8-952A-16F10EBC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195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משתנה חברתי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68B6C9-C38E-4BED-BF9E-29A4D652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LambdaFriend אישי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C35C39-6221-429E-A952-85261A66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5760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A2B0A7-50DC-4EC9-93CE-BAE7C1F8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766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E3639E-0D23-4892-A09B-9D4C9E60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195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ניתוח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F1E178-E390-4B6C-BD91-4A7A153E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910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רווחה, הוגנות וחפיפות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E0B4F8-24C4-4871-9892-A8FD7D9E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257800"/>
            <a:ext cx="7000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5C9194-CDC6-40AC-976B-51C43576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4292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טענת המחקר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134354-BFF8-42F8-B18E-B485F88D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41020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התחשבות בהעדפות חברתיות יכולה להגדיל תועלת כוללת וחוויה חברתית, אך עשויה ליצור מחיר במדדי דירוג והוגנות.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144296-4792-478E-8B96-CE0D05DD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F550EA-77DE-4DDA-A8C5-B566C9A2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A6E60"/>
                </a:solidFill>
                <a:latin typeface="Arial"/>
                <a:ea typeface="Arial"/>
                <a:cs typeface="Arial"/>
              </a:rPr>
              <a:t>Sources: README.md; project_presentation_materials.txt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EDF911-FA51-44DD-88C0-0BAB153C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16530518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7C5CDD-B630-4E9A-80E2-118A4F47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6D645-4DF7-4B17-AA1A-0A1F67BD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5720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E0537-F582-4EA5-9D08-F44A52A5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"/>
            <a:ext cx="510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מבוא ורקע תאורטי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A62A3-D014-428C-9071-323F2AEF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00100"/>
            <a:ext cx="868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הפער: מנגנוני הקצאת קורסים מניחים לרוב העדפות בלתי תלויות.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3A369-15A0-4238-B43A-760E5C37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38300"/>
            <a:ext cx="7067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בפועל, סטודנט עשוי להעדיף קורס לא רק בגלל תוכן, מרצה או שעה, אלא גם בגלל חברים שילמדו איתו.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4C1CD-1656-4634-A5BA-CB0AA9CB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95550"/>
            <a:ext cx="2952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06661-F02C-4D7B-B298-5A45CF21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550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55070"/>
                </a:solidFill>
                <a:latin typeface="Arial"/>
                <a:ea typeface="Arial"/>
                <a:cs typeface="Arial"/>
              </a:rPr>
              <a:t>התופעה המחקרית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3F8EE-DD70-46D4-86CC-B067338A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24175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הקצאת מקומות מוגבלים בקורסים היא בעיית assignment חד-צדדית: סטודנטים מקבלים חבילות קורסים תחת מגבלות קיבולת.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113D6-A03C-4387-BC7A-62DA1848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95550"/>
            <a:ext cx="2952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34138-5095-4217-A28C-4678AA3E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4795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123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פער ידע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DE476-6D12-4861-8C94-967AAFB8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24175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הספרות מתמקדת בהוגנות, יעילות, אסטרטגיה וקיבולת. רכיב הקשרים החברתיים בין סטודנטים כמעט אינו מופיע במודל ההקצאה עצמו.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A254F-341F-428A-9DE5-5ED57A4C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2952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72BA7-5CDA-46A5-B7DA-97307BB5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4795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הצעת המחקר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1E758-80FC-4965-B6A9-BDED1756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24175"/>
            <a:ext cx="26098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להוסיף שכבת social utility מכוונת ותלוית-קורס, ולבדוק את ההשפעה על רווחה, חפיפות חברים, דירוגים ואי-שוויון.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FB362-E8B7-48A8-98DF-979436F6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05375"/>
            <a:ext cx="935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52CC0-6F14-4F83-9E09-6AEA33DC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1625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ניסוח הפער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95E6DF-8476-4017-BC2B-3471009E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24450"/>
            <a:ext cx="7181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המחקר אינו שואל רק איזה מנגנון מקצה טוב יותר, אלא מה קורה כאשר ההעדפה עצמה היא חברתית ותלויה בתוצאת ההקצאה של אחרים.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B702D-5C69-4F69-8668-0FC2DB05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09BA6F-F2CE-45A4-A9CA-9FE9FD4D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A6E60"/>
                </a:solidFill>
                <a:latin typeface="Arial"/>
                <a:ea typeface="Arial"/>
                <a:cs typeface="Arial"/>
              </a:rPr>
              <a:t>Sources: local project materials; Budish &amp; Cantillon 2012; Budish 2011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6219E0-E899-44E9-A9A8-E5683AFD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1116496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0EA37B-BC7E-488B-A68F-9009F1E5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ECA20-311D-492E-AFE8-55B6CF6E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5720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A24AB-F1CF-4AF2-B42F-86D2DD99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"/>
            <a:ext cx="510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סקירת ספרות ממוקדת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8774EA-10CB-4B57-99CA-3AFF1F83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00100"/>
            <a:ext cx="868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הספרות מסבירה הקצאה הוגנת ויעילה, אך לא את התלות החברתית בין בחירות סטודנטים.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9B6B5-25B5-437B-890F-5DFB71EE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47900"/>
            <a:ext cx="2190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C28F0-7452-43E1-A5BC-C55AC186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5745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550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5070"/>
                </a:solidFill>
                <a:latin typeface="Arial"/>
                <a:ea typeface="Arial"/>
                <a:cs typeface="Arial"/>
              </a:rPr>
              <a:t>הקצאת קורסים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C6E08-BB3A-4875-915F-33131485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14650"/>
            <a:ext cx="1847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2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multi-unit assignment, קיבולת, חבילות קורסים, HBS draft.</a:t>
            </a:r>
          </a:p>
          <a:p xmlns:a="http://schemas.openxmlformats.org/drawingml/2006/main">
            <a:pPr algn="r">
              <a:defRPr sz="92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עוגן: Budish &amp; Cantillon.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E78CB-4029-41C6-94FC-A2408F21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2190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16E53-8CA5-42F0-BDBB-8E0320C6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5745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מנגנוני הקצאה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CBFF4-164A-4344-A8C6-3AB57496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14650"/>
            <a:ext cx="1847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2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RSD, draft, A-CEEI, fair division, strategyproofness.</a:t>
            </a:r>
          </a:p>
          <a:p xmlns:a="http://schemas.openxmlformats.org/drawingml/2006/main">
            <a:pPr algn="r">
              <a:defRPr sz="92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עוגן: Budish; Abdulkadiroglu &amp; Sonmez.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221A1-9F5B-4B82-88EB-F48165B9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47900"/>
            <a:ext cx="2190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BFEB5F-8CC5-458C-A881-EE2C996F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5745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העדפות חברתיות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C3F72-98E2-4594-905E-274D2645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14650"/>
            <a:ext cx="1847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2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תועלת אינה רק אישית: fairness, reciprocity, social welfare.</a:t>
            </a:r>
          </a:p>
          <a:p xmlns:a="http://schemas.openxmlformats.org/drawingml/2006/main">
            <a:pPr algn="r">
              <a:defRPr sz="92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עוגן: Fehr &amp; Schmidt; Charness &amp; Rabin.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4EC2A-21FE-4035-9170-0FC42E16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190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9525">
            <a:solidFill>
              <a:srgbClr val="1721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93C77-9F3A-45A1-ADD5-5F0AD58D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1D49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1D49D"/>
                </a:solidFill>
                <a:latin typeface="Arial"/>
                <a:ea typeface="Arial"/>
                <a:cs typeface="Arial"/>
              </a:rPr>
              <a:t>הפער המוצע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81D4C-949A-4D2B-9C08-6AB8FA93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1847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23" b="0">
                <a:solidFill>
                  <a:srgbClr val="D9E2E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D9E2EF"/>
                </a:solidFill>
                <a:latin typeface="Arial"/>
                <a:ea typeface="Arial"/>
                <a:cs typeface="Arial"/>
              </a:rPr>
              <a:t>אין שכבה מפורשת של חברות מכוונת, תלוית-קורס וריאקטיבית בתוך מנגנון בחירת הקורסים.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5CF48-576F-4A49-A10A-8940B440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3340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מסגרת תאורטית משולבת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CBD268-5C72-4D88-BC2E-F96D3FFD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95900"/>
            <a:ext cx="657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63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Mechanism design מספק את שפת ההקצאה; social preferences מספקות את ההצדקה לכך שהסטודנט מחשיב גם תוצאות של אחרים.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91F43D-08A1-41DC-8695-36B4CD17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40477-3786-4C6A-8686-8BBB5E39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A6E60"/>
                </a:solidFill>
                <a:latin typeface="Arial"/>
                <a:ea typeface="Arial"/>
                <a:cs typeface="Arial"/>
              </a:rPr>
              <a:t>Literature anchors: course allocation, fair division, school choice, social preferences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7797B7-20C4-4AC8-9933-A9265965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8712196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5CEDD2-DF6D-498E-B5C4-95677AF5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1BCDB-EF01-444E-8F9A-D09E80AF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5720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C951E-81E5-4452-89FC-88362152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"/>
            <a:ext cx="510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שאלות והשערות מחקר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298BF-E426-4D5E-A8A9-C7F4BEC8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00100"/>
            <a:ext cx="868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ההשערות מתמקדות ברווחה, תיווך חברתי, מחיר אישי ומיתון לפי תנאי שוק.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C9517-BD26-4D1A-9466-3150673B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526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2FC38-B733-4546-9C75-BF5F4D38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002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RQ1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1F2BA-ECBE-4E6E-B947-BB4D4D92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52600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53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כיצד שילוב העדפות חברות במנגנון ההקצאה משפיע על תועלת כוללת?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B2922-7ECC-47A4-85B0-1FC96B3D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526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35BD9-EA9E-4AE3-988D-0AE3492C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8002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6D32E-8C6C-4BE4-9258-BCFBA575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52600"/>
            <a:ext cx="400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1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שילוב social utility יעלה את התועלת הכוללת לעומת draft ללא שיפור, בעיקר כאשר קיימת צפיפות חברתית מספקת.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D4692-DAFC-42CB-B3D8-57AED45D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76500"/>
            <a:ext cx="935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0D75E-C49C-432B-9E75-F04FF0D9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670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56120-D121-403D-816A-8D2CEB5C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146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RQ2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479EA-4D1C-4264-BB7B-62869EF2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53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האם חפיפות חברים מתווכות את השפעת המנגנון על רווחה?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472B5-8F1E-4A93-A840-D03D576E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670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930744-E990-41A4-BD5F-DB9E1CED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146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717652-3F50-4ABD-9941-7A2C874A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0"/>
            <a:ext cx="400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1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ההשפעה של hybrid-global על רווחה תתווך חלקית דרך עלייה בחפיפות חברים בקורסים.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93B329-5476-476C-9A1E-F485ED78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935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64A9F-B765-4854-948C-8F2BB254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814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835A7-7F39-4099-B240-6693346C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290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RQ3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AD8610-0B84-4F9E-8198-87DD9A22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81400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53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האם הרווח החברתי בא על חשבון דירוג אישי והוגנות?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D4106E-A02E-48A0-AF55-359860A9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814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2AE1FA-6AD7-4087-8E0A-8F3CC830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6290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CACF97-8AF5-46E6-8BF8-D92DB3AA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81400"/>
            <a:ext cx="400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1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עלייה ברכיב החברתי תלווה בהחמרת דירוג ממוצע ובעלייה מתונה באי-שוויון.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9FB3C3-81BA-4F11-B0DC-9B2B2F81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05300"/>
            <a:ext cx="935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6C46C1-8A5E-4F42-9E1A-730FA7B1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958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39DD24-11A6-4821-87A8-4EBB7309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434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RQ4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B9A70E-65A7-4650-84D4-3CC06DF3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53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מתי המנגנון יעיל יותר או פחות?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EB6282-4A62-4049-BF9E-FDCEBFD7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4958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9ECAFA-AE9B-4EDD-930D-4C466A81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5434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C826B7-6982-4124-8C9D-7016C65F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95800"/>
            <a:ext cx="400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1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השפעת המנגנון תמותן על ידי LambdaFriend, צפיפות רשת החברות ורמת לחץ הקיבולת.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F0C119-81E8-4835-8C46-3B35659C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19700"/>
            <a:ext cx="935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D023A1-40CB-43E1-A4F7-756B0DF8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171392-E349-4790-9E79-DF504638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A6E60"/>
                </a:solidFill>
                <a:latin typeface="Arial"/>
                <a:ea typeface="Arial"/>
                <a:cs typeface="Arial"/>
              </a:rPr>
              <a:t>Research questions and hypotheses synthesized from model + preliminary computational evidence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736FF5-15FA-4093-891E-301AA141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3349054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E6CBE7-E580-43A9-8331-40F6233F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DE818-7505-4747-9339-1F638F3A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5720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E2FFE-07F9-49B3-8DB3-A09C536B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"/>
            <a:ext cx="510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מודל מחקר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94B88-9A25-4E16-BE11-9A45E44E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00100"/>
            <a:ext cx="868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המודל מחבר בין העדפות אישיות, העדפות חברות ומדדי תוצאה מרובי-ממד.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94E8A-D796-460C-A1EB-6ECA47D6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71700"/>
            <a:ext cx="2724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745A3-3290-40F8-86BB-F39A9FA6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24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550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55070"/>
                </a:solidFill>
                <a:latin typeface="Arial"/>
                <a:ea typeface="Arial"/>
                <a:cs typeface="Arial"/>
              </a:rPr>
              <a:t>משתני קלט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37C6B-4352-4D45-86DE-C8C6B052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00325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דירוגי קורסים אישיים</a:t>
            </a:r>
          </a:p>
          <a:p xmlns:a="http://schemas.openxmlformats.org/drawingml/2006/main">
            <a:pPr algn="r">
              <a:defRPr sz="97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קשרי חברות מכוונים לפי קורס</a:t>
            </a:r>
          </a:p>
          <a:p xmlns:a="http://schemas.openxmlformats.org/drawingml/2006/main">
            <a:pPr algn="r">
              <a:defRPr sz="97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LambdaFriend אישי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47784-AFDE-4746-8B42-5F0459E8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71700"/>
            <a:ext cx="2724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A3012-FEA7-4668-ADCE-199195EF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24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מנגנון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0D2D3-E2A5-4F71-9763-F1AD55D8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0325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HBS-style snake draft</a:t>
            </a:r>
          </a:p>
          <a:p xmlns:a="http://schemas.openxmlformats.org/drawingml/2006/main">
            <a:pPr algn="r">
              <a:defRPr sz="97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+ תועלת חברתית ריאקטיבית</a:t>
            </a:r>
          </a:p>
          <a:p xmlns:a="http://schemas.openxmlformats.org/drawingml/2006/main">
            <a:pPr algn="r">
              <a:defRPr sz="97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+ tie-breaking דטרמיניסטי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C8892-BD73-49FB-A286-7CF97D92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71700"/>
            <a:ext cx="2724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1D76D-D87E-40B9-B949-0D887376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24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שיפור לאחר הקצאה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55358-C26E-48AB-9666-8D3C55DA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00325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swap / drop-add / hybrid</a:t>
            </a:r>
          </a:p>
          <a:p xmlns:a="http://schemas.openxmlformats.org/drawingml/2006/main">
            <a:pPr algn="r">
              <a:defRPr sz="97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objective scope:</a:t>
            </a:r>
          </a:p>
          <a:p xmlns:a="http://schemas.openxmlformats.org/drawingml/2006/main">
            <a:pPr algn="r">
              <a:defRPr sz="97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global או personal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A17C6-BB4A-49E5-AD4B-8A44A902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336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36D27-31C2-4403-8739-4F27772F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336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3889A-CC7C-4D6F-931D-B206EF55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00500"/>
            <a:ext cx="457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9525">
            <a:solidFill>
              <a:srgbClr val="1721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304D09-49C3-41FC-954A-14916082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100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1D49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1D49D"/>
                </a:solidFill>
                <a:latin typeface="Arial"/>
                <a:ea typeface="Arial"/>
                <a:cs typeface="Arial"/>
              </a:rPr>
              <a:t>תיווך: חפיפות חברים בפועל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76AB3-AD43-470C-A8C3-8DF76A12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438650"/>
            <a:ext cx="3790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D9E2E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D9E2EF"/>
                </a:solidFill>
                <a:latin typeface="Arial"/>
                <a:ea typeface="Arial"/>
                <a:cs typeface="Arial"/>
              </a:rPr>
              <a:t>האם השיפור ברווחה עובר דרך יותר חברים באותו קורס?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B980B4-B72C-43E7-B694-97999A48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29200"/>
            <a:ext cx="3009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AF2197-FBB4-49D1-81A2-90E3B8B7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1816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תוצאות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5D36CE-1864-4383-A02E-1CB4B662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457825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תועלת כוללת</a:t>
            </a:r>
          </a:p>
          <a:p xmlns:a="http://schemas.openxmlformats.org/drawingml/2006/main">
            <a:pPr algn="r">
              <a:defRPr sz="86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תועלת חברתית</a:t>
            </a:r>
          </a:p>
          <a:p xmlns:a="http://schemas.openxmlformats.org/drawingml/2006/main">
            <a:pPr algn="r">
              <a:defRPr sz="86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דירוג ממוצע / Top-3</a:t>
            </a:r>
          </a:p>
          <a:p xmlns:a="http://schemas.openxmlformats.org/drawingml/2006/main">
            <a:pPr algn="r">
              <a:defRPr sz="86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Gini, Jain, Theil, Atkinson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FBE372-89AB-4856-8FAA-4FBDB987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29200"/>
            <a:ext cx="3009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348CC3-6DB2-4F6B-B096-9A6BFF82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816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123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מיתון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76DB30-59F8-4EB3-92D8-501B62A2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57825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צפיפות רשת חברות</a:t>
            </a:r>
          </a:p>
          <a:p xmlns:a="http://schemas.openxmlformats.org/drawingml/2006/main">
            <a:pPr algn="r">
              <a:defRPr sz="86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לחץ קיבולת</a:t>
            </a:r>
          </a:p>
          <a:p xmlns:a="http://schemas.openxmlformats.org/drawingml/2006/main">
            <a:pPr algn="r">
              <a:defRPr sz="86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ערכי LambdaFriend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7C9E7D-98C1-480C-A9C9-CECD7E2D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29A371-4097-49D8-AFD2-EAD5123E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A6E60"/>
                </a:solidFill>
                <a:latin typeface="Arial"/>
                <a:ea typeface="Arial"/>
                <a:cs typeface="Arial"/>
              </a:rPr>
              <a:t>Sources: README utility model; local experiment design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EF1013-594B-4195-9F77-D43FF3D9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5708334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7CFD54-B94B-4F2D-A96D-372542AE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7FBAE-2471-4BAE-A1BB-4A5FB1DB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5720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25170-EA15-4910-895B-5D1A015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"/>
            <a:ext cx="510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שיטת מחקר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284D1-62FD-4042-840C-382705A2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00100"/>
            <a:ext cx="868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מערך המחקר הוא ניסוי חישובי השוואתי עם חזרות לפי seed ופרמטרים מבוקרים.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26273-729E-4BE7-A5B8-3502194B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9867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0">
            <a:solidFill>
              <a:srgbClr val="1721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6C7E9-A9FE-4F99-A973-1E78150B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גורם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D331B-88DD-4723-9449-101C1762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52650"/>
            <a:ext cx="3543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רמות / מניפולציה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C8217-1AE3-4C6F-BB7B-E16DA74E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38350"/>
            <a:ext cx="952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732AA-73D4-4047-9AE0-0D1E521B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52650"/>
            <a:ext cx="386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מטרת ההשוואה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2C3193-359F-4C00-B22E-64EBC2AD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38350"/>
            <a:ext cx="952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D9906-2AF9-465B-86FF-243E09B2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8400"/>
            <a:ext cx="986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83D5D3-FBEA-401C-A015-38242875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52700"/>
            <a:ext cx="1771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מנגנון שיפור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7278EE-7F73-4D8A-85FE-646FA295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52700"/>
            <a:ext cx="3543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none, swap, drop-add, hybrid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AD52F-0145-4520-B9E1-5CAA2751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52700"/>
            <a:ext cx="3867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האם חיפוש מקומי משפר את draft הבסיסי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FD6AB-5DC6-41A2-BDB1-82BFA1E3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986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ED6E4F-A973-49BE-A1EB-16E420EA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05150"/>
            <a:ext cx="1771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יעד אופטימיזציה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DDFFDC-B1D7-4D4A-B0C7-C7A22D93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05150"/>
            <a:ext cx="3543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global מול personal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153416-58C8-4B5D-AEA7-67D278D9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05150"/>
            <a:ext cx="3867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הבחנה בין רווחה מערכתית לרווח אישי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5DF5DE-360E-4456-A684-A6B2F1A0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986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C6003-4225-4DB9-A686-08C99698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57600"/>
            <a:ext cx="1771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חוזק חברתי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6AAD7-7FA3-44BF-AF0E-81CDDC5B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57600"/>
            <a:ext cx="3543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LambdaFriend: 0 עד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EF3697-63C1-44DB-A888-F6D66252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57600"/>
            <a:ext cx="3867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בדיקת משקל ההעדפה החברתית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14E836-5BF2-4EBA-9645-BD6F7EBC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986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36CB14-221A-43B9-9367-3394F61D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10050"/>
            <a:ext cx="1771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תרחיש שוק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536715-FE72-444C-AA4E-89219B39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10050"/>
            <a:ext cx="3543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מספר קורסים, קיבולות, צפיפות חברים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811ED3-2085-4B1B-8E96-76767C10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10050"/>
            <a:ext cx="3867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בדיקת רגישות ותוקף חיצוני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3691D0-D5FF-421A-BA6C-F6EFFC53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410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8D446B-AC70-4A96-A4F5-38856E62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5435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יחידת ניתוח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688AC8-A30B-488B-BB35-85DA1BB4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24500"/>
            <a:ext cx="7734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13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ריצה אחת של אלגוריתם מוגדרת על ידי תרחיש, seed, מצב שיפור, מספר איטרציות וערך LambdaFriend; המדדים מחושבים ברמת הריצה ומושווים בין תנאים.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5455BD-0052-4F89-92CA-332C8166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A47BFB-CCA5-4B58-AFD6-E870C385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A6E60"/>
                </a:solidFill>
                <a:latin typeface="Arial"/>
                <a:ea typeface="Arial"/>
                <a:cs typeface="Arial"/>
              </a:rPr>
              <a:t>Sources: generate/generate_tables.py; HBS/hbs_experiments.py; results/experiments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372BE6-B279-4A69-ACDD-6B93E325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3284480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739BC2-20C4-49F7-8108-39702CCE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33DC4-E088-4A38-9076-E120F24C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5720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219FF-F6B1-424D-ACFB-D3DE0E72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"/>
            <a:ext cx="510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כלי מדידה, מהימנות ותוקף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22E38-06EC-45F3-B466-A8D5BE9C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00100"/>
            <a:ext cx="868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מדידה חזקה דורשת להפריד בין איכות הקצאה, תועלת חברתית והוגנות.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19DD0-5433-438F-940A-7FFCEF7E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4686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BC72D-1A29-4CC3-8896-B2724F1B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431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רווחה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35F59-1C9A-4B90-83A2-168481F5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670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17212E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17212E"/>
                </a:solidFill>
                <a:latin typeface="Aptos Mono"/>
                <a:ea typeface="Aptos Mono"/>
                <a:cs typeface="Aptos Mono"/>
              </a:rPr>
              <a:t>total_utility, avg_utility_per_student, total_base_utility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2149A-DB9C-4795-A177-0F3A4A5D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51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פירוק לתועלת בסיס ותועלת חברים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04AAC-F4A6-4739-99D0-AFE82A5B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62400"/>
            <a:ext cx="4686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7C847-FDD1-476F-BBBA-1A8CF23D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5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550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5070"/>
                </a:solidFill>
                <a:latin typeface="Arial"/>
                <a:ea typeface="Arial"/>
                <a:cs typeface="Arial"/>
              </a:rPr>
              <a:t>שביעות רצון חברתית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C90D4-F64A-425D-9EDE-D900BAA7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767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17212E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17212E"/>
                </a:solidFill>
                <a:latin typeface="Aptos Mono"/>
                <a:ea typeface="Aptos Mono"/>
                <a:cs typeface="Aptos Mono"/>
              </a:rPr>
              <a:t>avg_friend_overlaps_per_student, share_any_overlap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DEAF7-5640-457D-9CAC-CA7B580D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14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תוקף מבנה: מודד את מימוש קשרי החברות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44515C-20F0-491A-BE0B-27F25D68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4686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B1A80-2021-4BA1-B8D5-00EDD3B9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431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שביעות רצון אישית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12D0B5-907F-4B56-BCC4-41124A06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670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17212E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17212E"/>
                </a:solidFill>
                <a:latin typeface="Aptos Mono"/>
                <a:ea typeface="Aptos Mono"/>
                <a:cs typeface="Aptos Mono"/>
              </a:rPr>
              <a:t>avg_position, median_position, share_top1, share_top3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69F99D-E05B-4558-B015-0D46BE1C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בדיקת מחיר אישי של הרכיב החברתי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2284B-5AC6-42DF-9730-199CA7AC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62400"/>
            <a:ext cx="4686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34478-F3BE-435F-80B8-91B81B77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5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F123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הוגנות ואי-שוויון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5F1C4F-584C-48D1-A4B7-18E9FEFA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17212E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17212E"/>
                </a:solidFill>
                <a:latin typeface="Aptos Mono"/>
                <a:ea typeface="Aptos Mono"/>
                <a:cs typeface="Aptos Mono"/>
              </a:rPr>
              <a:t>Gini, Jain, Theil, Atkinson, percentiles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C2F867-1758-40C3-BCE3-5B1CD667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14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רגישות להתפלגות ולא רק לממוצע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33CF3D-05F2-4E23-A7CB-49BD8FAA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6388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מהימנות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68066B-4779-4476-A45C-CB5C0B2A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600700"/>
            <a:ext cx="651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88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seed קבוע, tie-breaking דטרמיניסטי ו-44 בדיקות אוטומטיות שעברו בהצלחה.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34A6B0-9F10-4081-9F6B-F4E6E053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34ED37-2799-4309-8DD2-B2169E49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A6E60"/>
                </a:solidFill>
                <a:latin typeface="Arial"/>
                <a:ea typeface="Arial"/>
                <a:cs typeface="Arial"/>
              </a:rPr>
              <a:t>Sources: README metrics; tests/run_all_tests.py; project materials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6D1F52-BD89-414B-8C6C-910B6F24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5614466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C796B5-30FA-4C24-A6EE-B0B302BC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8934D-7B82-4754-AC97-EB10AD78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5720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57082-2CFC-4590-9755-FAE36F8D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"/>
            <a:ext cx="510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תוכנית ניתוח נתונים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75F54-FF13-4F05-AC23-647DB830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00100"/>
            <a:ext cx="868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הניתוח ישלב השוואות תנאים, מודלי רגרסיה, תיווך/מיתון ובדיקות איתנות.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A9EBE-5B14-4CDC-841A-1526160B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431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76295-AE38-4100-BEF4-9E320321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764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33454-9C4D-4A97-B93D-B367A16D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9072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תיאור ואימות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F7A3B-8CBC-4099-AF01-492AF8D3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90725"/>
            <a:ext cx="4591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סטטיסטיקות בסיס, התפלגויות, בדיקות קיבולת והיתכנות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F5A09-7F2D-4DC2-9C03-5CE1EADA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9555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59360-FA3A-415C-A31D-BE6E57C8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241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89451-06FD-44FE-A9BE-37A046C2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575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F9E96-D880-4407-8E5D-A1C5C0FC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7177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בדיקת השערות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FDCBB-A5EE-482A-BCD6-FF8C5B0C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71775"/>
            <a:ext cx="4591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השוואת תנאים: none מול מצבי שיפור, global מול personal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E6364-C529-4376-A61E-0BFFE4BF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7660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B7FAB-E44B-4830-85BB-09E99ECB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052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DA73A-1BAA-465A-961B-EB4DE7BD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385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078A5E-E4F3-48F9-9E89-B8DEFD36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5282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מודלים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3B356D-9893-4F6B-BB27-D708A97D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52825"/>
            <a:ext cx="4591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רגרסיה / mixed effects עם seed ותרחיש כגורמי בקרה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236213-3604-4CAB-AF71-A3C333E4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5765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959881-B349-4BB0-BF88-5C2AFF4E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86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23FEDD-FED1-4DE7-BF6E-46E1EAEC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196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CF78D0-AD47-4E32-AE74-13178E05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3387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איתנות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30A5F8-78A4-41FE-AD96-066A6C4B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33875"/>
            <a:ext cx="4591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רגישות ל-LambdaFriend, צפיפות חברים, לחץ קיבולת ומספר איטרציות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C06ADF-2AA6-4933-8438-E02F9F91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15811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9525">
            <a:solidFill>
              <a:srgbClr val="17212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82037B-E9A4-455B-A606-205D15D1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241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1D4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1D49D"/>
                </a:solidFill>
                <a:latin typeface="Arial"/>
                <a:ea typeface="Arial"/>
                <a:cs typeface="Arial"/>
              </a:rPr>
              <a:t>עיקרון מתודולוגי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9136ED-859A-4079-8F42-38E870DC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1123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לא מסתפקים בממוצע אחד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9F84D9-3226-46BF-BD51-2E848BC4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43300"/>
            <a:ext cx="1123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2E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9E2EF"/>
                </a:solidFill>
                <a:latin typeface="Arial"/>
                <a:ea typeface="Arial"/>
                <a:cs typeface="Arial"/>
              </a:rPr>
              <a:t>נדרש להראות חזית טרייד-אוף בין רווחה, חברות, דירוג והוגנות.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A467AB-EAE3-4EF7-95F3-06A96F06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C4E2E8-5325-4FCA-9A50-ADBE0351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A6E60"/>
                </a:solidFill>
                <a:latin typeface="Arial"/>
                <a:ea typeface="Arial"/>
                <a:cs typeface="Arial"/>
              </a:rPr>
              <a:t>Analysis plan: repeated computational experiment; multi-metric outcome framework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809F60-FE70-4EAA-AAA4-99D22DB9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40966382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75EF48-E3E8-432C-807A-C25FC3F2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40270-0F2D-422B-AD21-5375A417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5720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5CE8C-C2A6-4A21-9BA0-DE1F1299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"/>
            <a:ext cx="510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ראיות ראשוניות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373A6-32CC-4E4E-96AD-F7491CD0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00100"/>
            <a:ext cx="868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בתרחיש 200x8, hybrid-global תופס את רוב שיפור הרווחה בתוך חמש איטרציות.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AA147-703E-455B-953C-28A724E2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81200"/>
            <a:ext cx="422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שינוי ממוצע ב-total utility מול baseline ללא post-allocation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9A38E-6CF5-4DD9-BC1E-BDD2857F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19350"/>
            <a:ext cx="403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hybrid-global, post=5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A0DCE-A595-46D7-A8A9-DFB25663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62250"/>
            <a:ext cx="3524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2E73B-3D33-468A-981F-CBB595F2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86050"/>
            <a:ext cx="95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1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4C0A7-4B7B-4254-88B5-6C2D7CA6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24150"/>
            <a:ext cx="2627757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ADE33-EAFD-41C5-B330-90E118B4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+3.63%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AC769-649C-4D6A-8DB6-9620CB27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48000"/>
            <a:ext cx="403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swap-global, post=20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E1A21C-88C3-4FA1-8D88-4C0C85A4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90900"/>
            <a:ext cx="3524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AE1DD5-8C0A-4499-A020-DFEE3A71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14700"/>
            <a:ext cx="95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1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47125-19F8-4FE3-8FD2-7CC7CFD5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52800"/>
            <a:ext cx="1599819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FC7250-E5CA-42F5-9C99-4E42B7CF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528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550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5070"/>
                </a:solidFill>
                <a:latin typeface="Arial"/>
                <a:ea typeface="Arial"/>
                <a:cs typeface="Arial"/>
              </a:rPr>
              <a:t>+2.21%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5DA30-F522-448D-941A-58F1B2A5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76650"/>
            <a:ext cx="403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drop-add-global, post=20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DDF6D-42A4-4C6B-BA24-6E81FAAE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3524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E3AC82-C045-405B-BB89-60B1127C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43350"/>
            <a:ext cx="95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1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782E49-6E7F-4EFB-B557-66E2C11C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81450"/>
            <a:ext cx="18821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F0E8A0-3E25-4461-9AFF-D82E95FD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+0.26%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67765D-1B65-4623-96C9-0DBED6BC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05300"/>
            <a:ext cx="403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hybrid-personal, post=20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A3686F-B259-461A-9066-4961D0DB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48200"/>
            <a:ext cx="3524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61B543-F4B5-4DFA-8C31-7C6BAFB8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72000"/>
            <a:ext cx="95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1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B31AAB-F9F9-49C7-84FF-F4F5EA44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229" y="4610100"/>
            <a:ext cx="282321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41F315-7D2A-49A0-802E-6223E07A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101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F123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-0.39%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2F2194-A624-4584-8432-2B9ABB01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76800"/>
            <a:ext cx="2343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C66632-7907-488C-B595-258C56FB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292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4B0A79-5818-490B-848E-80F7E264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0065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371.310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C3B3D2-64E9-4B8A-BDC1-3051A26E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56260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hybrid-global post=5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DC216D-5269-4066-A955-225A3B88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75310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384.805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26BF22-300E-446A-AF20-E21129B7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67350"/>
            <a:ext cx="571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13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פירוש זהיר: אלה ראיות חישוביות ראשוניות ממערך סינתטי, שמראות כיוון ואפקטיביות של המנגנון אך אינן מחליפות בדיקה על נתוני אמת.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B9A338-944E-4D94-B0DB-9ACFA11F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554E10-A671-4F01-8BE4-B35D58C2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A6E60"/>
                </a:solidFill>
                <a:latin typeface="Arial"/>
                <a:ea typeface="Arial"/>
                <a:cs typeface="Arial"/>
              </a:rPr>
              <a:t>Source: results/experiments/A_200x8_mode_post_agg_partial.csv; seeds 11-20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0C7898-AAC4-43B2-9AB6-3E84926C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9582653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A57B86-65CC-4536-ABD2-BDE31DDE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46EF8-145D-4396-9BBA-EE623249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5720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78E15-9399-498D-88F0-9ED496D2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"/>
            <a:ext cx="510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מחיר ותמורה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FEDFA-3BC7-4B6F-A18B-FECC68F1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00100"/>
            <a:ext cx="868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הרווח החברתי מלווה בטרייד-אוף מול דירוג אישי ואי-שוויון.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42FB9-5517-4E89-8507-973A13B3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52650"/>
            <a:ext cx="4724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B1E4F-4064-4865-ABFB-961E8123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חפיפות חברים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81224-1F99-4E05-B5A9-93F4DB20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0510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לפני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B7180-2E05-4A06-9D6E-1F381C9D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956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3.7145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ADF39-9E22-48AB-80CE-74DACAFC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0510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אחרי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C1163-6501-4334-A1F7-3461A426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956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4.6965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9A808-E5DA-4A03-A969-DC6D1677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765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F0691-8C4C-4C30-B0C2-134C1A58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194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2F19C-591A-44BE-85D0-5091247F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6707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+26.44%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9FA92-8AED-42E5-82C7-6130C653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48100"/>
            <a:ext cx="4724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90AB0-D040-4964-803A-9845E42A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195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F123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דירוג ממוצע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09E826-12F3-4580-8AEB-67305D1E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40055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לפני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CBF056-A9FB-4F0D-A559-9848604A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2.186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F323B-0946-4D4A-9C3B-420DEE41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0055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אחרי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A3044B-ABF0-4CBF-9F73-22692169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910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9F123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2.434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EE58EE-F8D6-4C0B-8010-304A1FF5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720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05A4DA-FD29-4F8E-A69C-9BFE24AA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14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8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A04582-5E40-4765-A3BD-241A1939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625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F123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גבוה יותר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342439-6285-4250-A1C1-E2F43C5A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52650"/>
            <a:ext cx="4724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E1242A-3DD1-4377-93D5-D5C58E50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F123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שיעור Top-3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081437-DE63-442D-930F-E2417493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0510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לפני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362EEB-3937-45AA-82DF-CDBF02CE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956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87.2%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08812D-9001-4D0D-8B27-B0DF51EC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0510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אחרי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C892EA-D3EB-4DA2-B255-2A78CC58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956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9F123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79.6%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1FB23C-A9EE-4E74-8600-961EE3F0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765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E5993B-3692-490E-9828-03F10CCE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194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8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75774E-4D40-4315-8F60-3CAB33F8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6707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F123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-7.6 נק'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5EA4F-82DA-42F4-BFA6-8C7ADDD0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48100"/>
            <a:ext cx="4724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C2529E-9283-4026-A01E-BFD369BC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Gini מנורמל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AB3330-5EC3-4D6E-94EA-EB57C659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0055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לפני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4DDD40-6C5F-42E2-B2BC-1D4BA8F0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5910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0.05238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31D4DF-315C-4937-BB5E-AB998027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0055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אחרי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12C4F7-CAAC-4AFE-A329-4F1E6358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910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0.05576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B6B849-3F42-479A-BFF4-78568770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720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DC95F9-439E-49EC-B049-44FDF21B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14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8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6D640D-04D8-40E7-B5B0-73E8E1FF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9625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F123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עלייה קלה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322D66-9D15-4DED-AEA6-EB7A076B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29250"/>
            <a:ext cx="4305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9525">
            <a:solidFill>
              <a:srgbClr val="17212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CC7045-C3C1-41C6-9AC9-026FDE17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816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1D4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1D49D"/>
                </a:solidFill>
                <a:latin typeface="Arial"/>
                <a:ea typeface="Arial"/>
                <a:cs typeface="Arial"/>
              </a:rPr>
              <a:t>המשמעות להשערות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121CDD-F6C3-42D4-AC3A-00450FA2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5626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H2 נתמכת ככיוון ראשוני; H3 מגדירה את מחיר הרווח החברתי שיש למדוד ולאזן.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C7F39B-FAA6-4786-AC88-087357FF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90D91D-C230-41C6-9400-A001FF10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A6E60"/>
                </a:solidFill>
                <a:latin typeface="Arial"/>
                <a:ea typeface="Arial"/>
                <a:cs typeface="Arial"/>
              </a:rPr>
              <a:t>Source: local A_200x8 preliminary metrics from project_presentation_materials.txt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4BF947-4B44-4C40-B3B6-2C12540B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27568214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2F1C6C-6A2B-4F60-BF33-5C7E5597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8874D-96DB-48C6-BC63-5D5179CA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5720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32D96-0A26-40ED-95EF-34847EA9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"/>
            <a:ext cx="510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תרומה מחקרית צפויה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2EE64-4D1D-4461-9E4F-369F4C19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00100"/>
            <a:ext cx="868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התרומה היא מודל מדיד להעדפות חברתיות בתוך מנגנון הקצאה.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49561-C985-4340-AB37-8B580FE5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47900"/>
            <a:ext cx="2857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042FF-74C7-4DBC-9A42-C6FFAFE7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תרומה תאורטית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51D24-7961-40D4-8228-AC664D82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76525"/>
            <a:ext cx="25146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הרחבת בעיית course allocation ממודל של העדפות בלתי תלויות למודל assignment חברתי עם תלות בין תוצאות סטודנטים.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5F37A-6625-4F81-B4D3-D4B79F55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2857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50519-AC98-449E-A0BA-B1E28D13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0030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550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55070"/>
                </a:solidFill>
                <a:latin typeface="Arial"/>
                <a:ea typeface="Arial"/>
                <a:cs typeface="Arial"/>
              </a:rPr>
              <a:t>תרומה מתודולוגית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48855-5876-44D5-84C2-7915FDCF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6525"/>
            <a:ext cx="25146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מסגרת ניסויית שמפרידה בין מנגנון, יעד אופטימיזציה, משקל חברתי, מדדי רווחה ומדדי הוגנות.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431D3-AAF3-42D6-9C24-DADE17D6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47900"/>
            <a:ext cx="2857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9DAADB-E055-4767-9066-A136FC11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0030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השלכות למחקר עתידי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1D817-56EA-421D-84D7-4EC89589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76525"/>
            <a:ext cx="25146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בדיקה עם נתוני אמת, סקרי העדפות, אילוצי מערכת שעות, פרטיות, וניתוח אסטרטגי של דיווח העדפות חברתיות.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EE86F-CC1F-407D-A6A1-85D33B88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2197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123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לא רק שיפור אלגוריתמי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34D66-2175-4EDE-96FB-0D65C680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81600"/>
            <a:ext cx="6553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המחקר מציע שפה אמפירית למדידת המחיר והתועלת של הכנסת קשרים חברתיים למנגנוני הקצאה מוסדיים.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6F6430-D4A5-4E25-A8D5-048DBA5E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967604-1032-42FA-943A-4E876840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A6E60"/>
                </a:solidFill>
                <a:latin typeface="Arial"/>
                <a:ea typeface="Arial"/>
                <a:cs typeface="Arial"/>
              </a:rPr>
              <a:t>Contribution synthesized from proposal structure and local prototype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A7EB2-D764-4181-B754-A29CB2DF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102535837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1D8385-5507-4960-BAF4-89F653A0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4DAC1-E91C-4DCC-B774-2142A99B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5720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4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FE445-32A5-4CE7-B379-E97E078D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"/>
            <a:ext cx="510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C7D7E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7D7EA"/>
                </a:solidFill>
                <a:latin typeface="Arial"/>
                <a:ea typeface="Arial"/>
                <a:cs typeface="Arial"/>
              </a:rPr>
              <a:t>איתנות והגבלות המחקר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846F7-B2DB-44FE-9A9E-EDF9E14B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00100"/>
            <a:ext cx="868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השלב הבא הוא להעביר את המודל מהוכחת היתכנות לניסוי מחקרי מלא.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4470F-3E2B-44FD-91BA-73B31491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9525">
            <a:solidFill>
              <a:srgbClr val="4151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30455-6536-45BD-A68E-7C0D1BC7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9B8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9B8C6"/>
                </a:solidFill>
                <a:latin typeface="Arial"/>
                <a:ea typeface="Arial"/>
                <a:cs typeface="Arial"/>
              </a:rPr>
              <a:t>הגבלה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F048A-7CCE-49EE-B7F7-96A3CA3F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28900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9E2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9E2EF"/>
                </a:solidFill>
                <a:latin typeface="Arial"/>
                <a:ea typeface="Arial"/>
                <a:cs typeface="Arial"/>
              </a:rPr>
              <a:t>הנתונים הנוכחיים סינתטיים ולכן אינם מוכיחים תוקף חיצוני על אוכלוסיית סטודנטים אמיתית.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24C34-CD6B-4C09-B7CF-B8B10280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4810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9525">
            <a:solidFill>
              <a:srgbClr val="4151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7B58C-2119-4356-B824-3EF51CDC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576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D4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D49D"/>
                </a:solidFill>
                <a:latin typeface="Arial"/>
                <a:ea typeface="Arial"/>
                <a:cs typeface="Arial"/>
              </a:rPr>
              <a:t>איתנות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D93A7-90AE-40F1-B742-0147EC99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9E2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9E2EF"/>
                </a:solidFill>
                <a:latin typeface="Arial"/>
                <a:ea typeface="Arial"/>
                <a:cs typeface="Arial"/>
              </a:rPr>
              <a:t>יש להריץ מטריצת תרחישים רחבה: צפיפות חברים, קיבולות, ערכי Lambda, מספר seeds ומספר איטרציות.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031A7-4B90-41AC-B7B2-E51F8D35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9525">
            <a:solidFill>
              <a:srgbClr val="4151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E7CFE-B168-4FCF-9A1D-DF1A6B42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05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D4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D49D"/>
                </a:solidFill>
                <a:latin typeface="Arial"/>
                <a:ea typeface="Arial"/>
                <a:cs typeface="Arial"/>
              </a:rPr>
              <a:t>תוקף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29D6E-7419-4952-8716-485F3690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9E2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9E2EF"/>
                </a:solidFill>
                <a:latin typeface="Arial"/>
                <a:ea typeface="Arial"/>
                <a:cs typeface="Arial"/>
              </a:rPr>
              <a:t>נדרש לשלב סקר או נתוני העדפות אמיתיים ולבחון האם קשרי חברות מדווחים מתנהגים כמו המודל.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6A5BB-5A6E-4800-80A7-6BCE12BD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4810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9525">
            <a:solidFill>
              <a:srgbClr val="4151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DB60C-F8B3-411E-9C4F-E4521C08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576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D4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D49D"/>
                </a:solidFill>
                <a:latin typeface="Arial"/>
                <a:ea typeface="Arial"/>
                <a:cs typeface="Arial"/>
              </a:rPr>
              <a:t>אתיקה ופרטיות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DC22A-E932-4FFF-A5F1-FF8AB096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81500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9E2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9E2EF"/>
                </a:solidFill>
                <a:latin typeface="Arial"/>
                <a:ea typeface="Arial"/>
                <a:cs typeface="Arial"/>
              </a:rPr>
              <a:t>העדפות חברות הן מידע רגיש; מחקר המשך ידרוש אנונימיזציה, הסכמה ושמירה על מידע אישי.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4B402C-8132-48EF-A287-E309F980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6578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1D4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1D49D"/>
                </a:solidFill>
                <a:latin typeface="Arial"/>
                <a:ea typeface="Arial"/>
                <a:cs typeface="Arial"/>
              </a:rPr>
              <a:t>סיום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A1FA9D-57A9-43F8-9894-84CD6E7B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19750"/>
            <a:ext cx="704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הצעת המחקר עומדת על טרייד-אוף מדיד: יותר חוויה חברתית ורווחה מערכתית, מול עלות אפשרית בדירוג אישי ובהוגנות.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9C5503-8D2B-401E-A0AE-3273FB85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05668F-A4D2-4F5E-940A-760C2997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Final slide: limitations, robustness plan, and next research steps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7A3EAC-D53F-4356-B47E-3C2169F4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C7D7E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C7D7EA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1307750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2026-06-14T19:54:09.5380000Z</dcterms:created>
  <dcterms:modified xsi:type="dcterms:W3CDTF">2026-06-14T19:54:09.5380000Z</dcterms:modified>
</coreProperties>
</file>